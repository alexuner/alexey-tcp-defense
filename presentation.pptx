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871ce43b3e4b45" /><Relationship Type="http://schemas.openxmlformats.org/officeDocument/2006/relationships/extended-properties" Target="/docProps/app.xml" Id="R05d3cd9cc7d34dcc" /><Relationship Type="http://schemas.openxmlformats.org/officeDocument/2006/relationships/officeDocument" Target="/ppt/presentation.xml" Id="R0dffeb8dce084f1c" /></Relationships>
</file>

<file path=ppt/presentation.xml><?xml version="1.0" encoding="utf-8"?>
<p:presentation xmlns:p="http://schemas.openxmlformats.org/presentationml/2006/main">
  <p:sldMasterIdLst>
    <p:sldMasterId xmlns:r="http://schemas.openxmlformats.org/officeDocument/2006/relationships" id="2147483648" r:id="Rca01993d673e4cee"/>
  </p:sldMasterIdLst>
  <p:notesMasterIdLst>
    <p:notesMasterId xmlns:r="http://schemas.openxmlformats.org/officeDocument/2006/relationships" r:id="R192584d000014201"/>
  </p:notesMasterIdLst>
  <p:sldIdLst>
    <p:sldId xmlns:r="http://schemas.openxmlformats.org/officeDocument/2006/relationships" id="256" r:id="Rb62a4fe7f80742aa"/>
    <p:sldId xmlns:r="http://schemas.openxmlformats.org/officeDocument/2006/relationships" id="257" r:id="R1db709a9f04d4bf8"/>
    <p:sldId xmlns:r="http://schemas.openxmlformats.org/officeDocument/2006/relationships" id="258" r:id="R0d7e50f7fa594513"/>
    <p:sldId xmlns:r="http://schemas.openxmlformats.org/officeDocument/2006/relationships" id="259" r:id="Rbeb53ae656fe4131"/>
    <p:sldId xmlns:r="http://schemas.openxmlformats.org/officeDocument/2006/relationships" id="260" r:id="R068fcba345204cb6"/>
    <p:sldId xmlns:r="http://schemas.openxmlformats.org/officeDocument/2006/relationships" id="261" r:id="R15e5762759214b67"/>
    <p:sldId xmlns:r="http://schemas.openxmlformats.org/officeDocument/2006/relationships" id="262" r:id="R76bbb22c7f024988"/>
    <p:sldId xmlns:r="http://schemas.openxmlformats.org/officeDocument/2006/relationships" id="263" r:id="R665021c1d8a04925"/>
    <p:sldId xmlns:r="http://schemas.openxmlformats.org/officeDocument/2006/relationships" id="264" r:id="R8b999cc9ea864d56"/>
    <p:sldId xmlns:r="http://schemas.openxmlformats.org/officeDocument/2006/relationships" id="265" r:id="R9a1aefb3aa5d4431"/>
    <p:sldId xmlns:r="http://schemas.openxmlformats.org/officeDocument/2006/relationships" id="266" r:id="Rd90ef6878afa452f"/>
    <p:sldId xmlns:r="http://schemas.openxmlformats.org/officeDocument/2006/relationships" id="267" r:id="Rf2f6df0cd51c4a7c"/>
    <p:sldId xmlns:r="http://schemas.openxmlformats.org/officeDocument/2006/relationships" id="268" r:id="R51d9ae27ba544cee"/>
    <p:sldId xmlns:r="http://schemas.openxmlformats.org/officeDocument/2006/relationships" id="269" r:id="R345287ba1f964334"/>
    <p:sldId xmlns:r="http://schemas.openxmlformats.org/officeDocument/2006/relationships" id="270" r:id="R0ce7cd60a45241d6"/>
    <p:sldId xmlns:r="http://schemas.openxmlformats.org/officeDocument/2006/relationships" id="271" r:id="R3bbbf3dc0bbf4b04"/>
    <p:sldId xmlns:r="http://schemas.openxmlformats.org/officeDocument/2006/relationships" id="272" r:id="R1c2b21fd228a417c"/>
    <p:sldId xmlns:r="http://schemas.openxmlformats.org/officeDocument/2006/relationships" id="273" r:id="R97abba42e0f6444d"/>
    <p:sldId xmlns:r="http://schemas.openxmlformats.org/officeDocument/2006/relationships" id="274" r:id="R1ee4f35462d94d5a"/>
    <p:sldId xmlns:r="http://schemas.openxmlformats.org/officeDocument/2006/relationships" id="275" r:id="R20814ac815544902"/>
    <p:sldId xmlns:r="http://schemas.openxmlformats.org/officeDocument/2006/relationships" id="276" r:id="R026d0affdb744bda"/>
    <p:sldId xmlns:r="http://schemas.openxmlformats.org/officeDocument/2006/relationships" id="277" r:id="Rea4aee98fa7f46c4"/>
    <p:sldId xmlns:r="http://schemas.openxmlformats.org/officeDocument/2006/relationships" id="278" r:id="R4c13188ff36f4dc8"/>
    <p:sldId xmlns:r="http://schemas.openxmlformats.org/officeDocument/2006/relationships" id="279" r:id="R9da5b716e45e44bb"/>
    <p:sldId xmlns:r="http://schemas.openxmlformats.org/officeDocument/2006/relationships" id="280" r:id="R2fc6e64caa4f4b0b"/>
    <p:sldId xmlns:r="http://schemas.openxmlformats.org/officeDocument/2006/relationships" id="281" r:id="R9e08dd480628469b"/>
    <p:sldId xmlns:r="http://schemas.openxmlformats.org/officeDocument/2006/relationships" id="282" r:id="R989c4abf1e194fd1"/>
    <p:sldId xmlns:r="http://schemas.openxmlformats.org/officeDocument/2006/relationships" id="283" r:id="R83637659a65d4f64"/>
    <p:sldId xmlns:r="http://schemas.openxmlformats.org/officeDocument/2006/relationships" id="284" r:id="Ra56932edae20439a"/>
    <p:sldId xmlns:r="http://schemas.openxmlformats.org/officeDocument/2006/relationships" id="285" r:id="R87669dd916d443cf"/>
    <p:sldId xmlns:r="http://schemas.openxmlformats.org/officeDocument/2006/relationships" id="286" r:id="R75c441f720384cba"/>
    <p:sldId xmlns:r="http://schemas.openxmlformats.org/officeDocument/2006/relationships" id="287" r:id="Rfbdc44f1330149f2"/>
    <p:sldId xmlns:r="http://schemas.openxmlformats.org/officeDocument/2006/relationships" id="288" r:id="R724c5484e59f4dcb"/>
    <p:sldId xmlns:r="http://schemas.openxmlformats.org/officeDocument/2006/relationships" id="289" r:id="R795591073bf24ba1"/>
    <p:sldId xmlns:r="http://schemas.openxmlformats.org/officeDocument/2006/relationships" id="290" r:id="R53a3982b2e814bc0"/>
    <p:sldId xmlns:r="http://schemas.openxmlformats.org/officeDocument/2006/relationships" id="291" r:id="R814ec6b7102f4aa5"/>
    <p:sldId xmlns:r="http://schemas.openxmlformats.org/officeDocument/2006/relationships" id="292" r:id="R4e7a5a2b479f4f16"/>
    <p:sldId xmlns:r="http://schemas.openxmlformats.org/officeDocument/2006/relationships" id="293" r:id="Ra44a012d01c8472a"/>
    <p:sldId xmlns:r="http://schemas.openxmlformats.org/officeDocument/2006/relationships" id="294" r:id="R508965d42bcf43d2"/>
    <p:sldId xmlns:r="http://schemas.openxmlformats.org/officeDocument/2006/relationships" id="295" r:id="Re8e9b0e136bc48de"/>
    <p:sldId xmlns:r="http://schemas.openxmlformats.org/officeDocument/2006/relationships" id="296" r:id="R2ad29f1491d74f48"/>
    <p:sldId xmlns:r="http://schemas.openxmlformats.org/officeDocument/2006/relationships" id="297" r:id="Rc475c7d0764c490b"/>
    <p:sldId xmlns:r="http://schemas.openxmlformats.org/officeDocument/2006/relationships" id="298" r:id="Rfd6c5189d21140e8"/>
    <p:sldId xmlns:r="http://schemas.openxmlformats.org/officeDocument/2006/relationships" id="299" r:id="Rd95c311c8cf44559"/>
    <p:sldId xmlns:r="http://schemas.openxmlformats.org/officeDocument/2006/relationships" id="300" r:id="R24cf6d26873045e3"/>
    <p:sldId xmlns:r="http://schemas.openxmlformats.org/officeDocument/2006/relationships" id="301" r:id="Rd6d28835b45f4523"/>
    <p:sldId xmlns:r="http://schemas.openxmlformats.org/officeDocument/2006/relationships" id="302" r:id="Rf584ac4ec17b4850"/>
    <p:sldId xmlns:r="http://schemas.openxmlformats.org/officeDocument/2006/relationships" id="303" r:id="R1db20b45b52d4389"/>
    <p:sldId xmlns:r="http://schemas.openxmlformats.org/officeDocument/2006/relationships" id="304" r:id="R00a1526cde2347b9"/>
    <p:sldId xmlns:r="http://schemas.openxmlformats.org/officeDocument/2006/relationships" id="305" r:id="R90c96020d5fa4c99"/>
    <p:sldId xmlns:r="http://schemas.openxmlformats.org/officeDocument/2006/relationships" id="306" r:id="R56ad31310ff24eba"/>
    <p:sldId xmlns:r="http://schemas.openxmlformats.org/officeDocument/2006/relationships" id="307" r:id="R8fe908f808864ebf"/>
    <p:sldId xmlns:r="http://schemas.openxmlformats.org/officeDocument/2006/relationships" id="308" r:id="R59e9e0c8728f445e"/>
    <p:sldId xmlns:r="http://schemas.openxmlformats.org/officeDocument/2006/relationships" id="309" r:id="Rcc1369de9dd0411c"/>
    <p:sldId xmlns:r="http://schemas.openxmlformats.org/officeDocument/2006/relationships" id="310" r:id="R291c088b045d44d9"/>
    <p:sldId xmlns:r="http://schemas.openxmlformats.org/officeDocument/2006/relationships" id="311" r:id="Rce33f0d68ae54ed6"/>
    <p:sldId xmlns:r="http://schemas.openxmlformats.org/officeDocument/2006/relationships" id="312" r:id="R1ce40d0cf68e4eb9"/>
    <p:sldId xmlns:r="http://schemas.openxmlformats.org/officeDocument/2006/relationships" id="313" r:id="R121c680d41dc434f"/>
    <p:sldId xmlns:r="http://schemas.openxmlformats.org/officeDocument/2006/relationships" id="314" r:id="R5316849aeee647de"/>
    <p:sldId xmlns:r="http://schemas.openxmlformats.org/officeDocument/2006/relationships" id="315" r:id="Rbd227887225142f2"/>
    <p:sldId xmlns:r="http://schemas.openxmlformats.org/officeDocument/2006/relationships" id="316" r:id="Ra290cd0528674a2f"/>
    <p:sldId xmlns:r="http://schemas.openxmlformats.org/officeDocument/2006/relationships" id="317" r:id="Re9dbca8b59104ce5"/>
    <p:sldId xmlns:r="http://schemas.openxmlformats.org/officeDocument/2006/relationships" id="318" r:id="Re3f14d80755243e2"/>
    <p:sldId xmlns:r="http://schemas.openxmlformats.org/officeDocument/2006/relationships" id="319" r:id="Re9c11965c90146e3"/>
    <p:sldId xmlns:r="http://schemas.openxmlformats.org/officeDocument/2006/relationships" id="320" r:id="Rbc78ca7dd4b54871"/>
    <p:sldId xmlns:r="http://schemas.openxmlformats.org/officeDocument/2006/relationships" id="321" r:id="R761b6111977d43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3f4a57e6374db2" /><Relationship Type="http://schemas.openxmlformats.org/officeDocument/2006/relationships/slideMaster" Target="/ppt/slideMasters/slideMaster1.xml" Id="Rca01993d673e4cee" /><Relationship Type="http://schemas.openxmlformats.org/officeDocument/2006/relationships/notesMaster" Target="/ppt/notesMasters/notesMaster1.xml" Id="R192584d000014201" /><Relationship Type="http://schemas.openxmlformats.org/officeDocument/2006/relationships/presProps" Target="/ppt/presProps.xml" Id="R73f124b14f0740ec" /><Relationship Type="http://schemas.openxmlformats.org/officeDocument/2006/relationships/tableStyles" Target="/ppt/tableStyles.xml" Id="Rcd81df92d27f410e" /><Relationship Type="http://schemas.openxmlformats.org/officeDocument/2006/relationships/slide" Target="/ppt/slides/slide1.xml" Id="Rb62a4fe7f80742aa" /><Relationship Type="http://schemas.openxmlformats.org/officeDocument/2006/relationships/slide" Target="/ppt/slides/slide2.xml" Id="R1db709a9f04d4bf8" /><Relationship Type="http://schemas.openxmlformats.org/officeDocument/2006/relationships/slide" Target="/ppt/slides/slide3.xml" Id="R0d7e50f7fa594513" /><Relationship Type="http://schemas.openxmlformats.org/officeDocument/2006/relationships/slide" Target="/ppt/slides/slide4.xml" Id="Rbeb53ae656fe4131" /><Relationship Type="http://schemas.openxmlformats.org/officeDocument/2006/relationships/slide" Target="/ppt/slides/slide5.xml" Id="R068fcba345204cb6" /><Relationship Type="http://schemas.openxmlformats.org/officeDocument/2006/relationships/slide" Target="/ppt/slides/slide6.xml" Id="R15e5762759214b67" /><Relationship Type="http://schemas.openxmlformats.org/officeDocument/2006/relationships/slide" Target="/ppt/slides/slide7.xml" Id="R76bbb22c7f024988" /><Relationship Type="http://schemas.openxmlformats.org/officeDocument/2006/relationships/slide" Target="/ppt/slides/slide8.xml" Id="R665021c1d8a04925" /><Relationship Type="http://schemas.openxmlformats.org/officeDocument/2006/relationships/slide" Target="/ppt/slides/slide9.xml" Id="R8b999cc9ea864d56" /><Relationship Type="http://schemas.openxmlformats.org/officeDocument/2006/relationships/slide" Target="/ppt/slides/slide10.xml" Id="R9a1aefb3aa5d4431" /><Relationship Type="http://schemas.openxmlformats.org/officeDocument/2006/relationships/slide" Target="/ppt/slides/slide11.xml" Id="Rd90ef6878afa452f" /><Relationship Type="http://schemas.openxmlformats.org/officeDocument/2006/relationships/slide" Target="/ppt/slides/slide12.xml" Id="Rf2f6df0cd51c4a7c" /><Relationship Type="http://schemas.openxmlformats.org/officeDocument/2006/relationships/slide" Target="/ppt/slides/slide13.xml" Id="R51d9ae27ba544cee" /><Relationship Type="http://schemas.openxmlformats.org/officeDocument/2006/relationships/slide" Target="/ppt/slides/slide14.xml" Id="R345287ba1f964334" /><Relationship Type="http://schemas.openxmlformats.org/officeDocument/2006/relationships/slide" Target="/ppt/slides/slide15.xml" Id="R0ce7cd60a45241d6" /><Relationship Type="http://schemas.openxmlformats.org/officeDocument/2006/relationships/slide" Target="/ppt/slides/slide16.xml" Id="R3bbbf3dc0bbf4b04" /><Relationship Type="http://schemas.openxmlformats.org/officeDocument/2006/relationships/slide" Target="/ppt/slides/slide17.xml" Id="R1c2b21fd228a417c" /><Relationship Type="http://schemas.openxmlformats.org/officeDocument/2006/relationships/slide" Target="/ppt/slides/slide18.xml" Id="R97abba42e0f6444d" /><Relationship Type="http://schemas.openxmlformats.org/officeDocument/2006/relationships/slide" Target="/ppt/slides/slide19.xml" Id="R1ee4f35462d94d5a" /><Relationship Type="http://schemas.openxmlformats.org/officeDocument/2006/relationships/slide" Target="/ppt/slides/slide20.xml" Id="R20814ac815544902" /><Relationship Type="http://schemas.openxmlformats.org/officeDocument/2006/relationships/slide" Target="/ppt/slides/slide21.xml" Id="R026d0affdb744bda" /><Relationship Type="http://schemas.openxmlformats.org/officeDocument/2006/relationships/slide" Target="/ppt/slides/slide22.xml" Id="Rea4aee98fa7f46c4" /><Relationship Type="http://schemas.openxmlformats.org/officeDocument/2006/relationships/slide" Target="/ppt/slides/slide23.xml" Id="R4c13188ff36f4dc8" /><Relationship Type="http://schemas.openxmlformats.org/officeDocument/2006/relationships/slide" Target="/ppt/slides/slide24.xml" Id="R9da5b716e45e44bb" /><Relationship Type="http://schemas.openxmlformats.org/officeDocument/2006/relationships/slide" Target="/ppt/slides/slide25.xml" Id="R2fc6e64caa4f4b0b" /><Relationship Type="http://schemas.openxmlformats.org/officeDocument/2006/relationships/slide" Target="/ppt/slides/slide26.xml" Id="R9e08dd480628469b" /><Relationship Type="http://schemas.openxmlformats.org/officeDocument/2006/relationships/slide" Target="/ppt/slides/slide27.xml" Id="R989c4abf1e194fd1" /><Relationship Type="http://schemas.openxmlformats.org/officeDocument/2006/relationships/slide" Target="/ppt/slides/slide28.xml" Id="R83637659a65d4f64" /><Relationship Type="http://schemas.openxmlformats.org/officeDocument/2006/relationships/slide" Target="/ppt/slides/slide29.xml" Id="Ra56932edae20439a" /><Relationship Type="http://schemas.openxmlformats.org/officeDocument/2006/relationships/slide" Target="/ppt/slides/slide30.xml" Id="R87669dd916d443cf" /><Relationship Type="http://schemas.openxmlformats.org/officeDocument/2006/relationships/slide" Target="/ppt/slides/slide31.xml" Id="R75c441f720384cba" /><Relationship Type="http://schemas.openxmlformats.org/officeDocument/2006/relationships/slide" Target="/ppt/slides/slide32.xml" Id="Rfbdc44f1330149f2" /><Relationship Type="http://schemas.openxmlformats.org/officeDocument/2006/relationships/slide" Target="/ppt/slides/slide33.xml" Id="R724c5484e59f4dcb" /><Relationship Type="http://schemas.openxmlformats.org/officeDocument/2006/relationships/slide" Target="/ppt/slides/slide34.xml" Id="R795591073bf24ba1" /><Relationship Type="http://schemas.openxmlformats.org/officeDocument/2006/relationships/slide" Target="/ppt/slides/slide35.xml" Id="R53a3982b2e814bc0" /><Relationship Type="http://schemas.openxmlformats.org/officeDocument/2006/relationships/slide" Target="/ppt/slides/slide36.xml" Id="R814ec6b7102f4aa5" /><Relationship Type="http://schemas.openxmlformats.org/officeDocument/2006/relationships/slide" Target="/ppt/slides/slide37.xml" Id="R4e7a5a2b479f4f16" /><Relationship Type="http://schemas.openxmlformats.org/officeDocument/2006/relationships/slide" Target="/ppt/slides/slide38.xml" Id="Ra44a012d01c8472a" /><Relationship Type="http://schemas.openxmlformats.org/officeDocument/2006/relationships/slide" Target="/ppt/slides/slide39.xml" Id="R508965d42bcf43d2" /><Relationship Type="http://schemas.openxmlformats.org/officeDocument/2006/relationships/slide" Target="/ppt/slides/slide40.xml" Id="Re8e9b0e136bc48de" /><Relationship Type="http://schemas.openxmlformats.org/officeDocument/2006/relationships/slide" Target="/ppt/slides/slide41.xml" Id="R2ad29f1491d74f48" /><Relationship Type="http://schemas.openxmlformats.org/officeDocument/2006/relationships/slide" Target="/ppt/slides/slide42.xml" Id="Rc475c7d0764c490b" /><Relationship Type="http://schemas.openxmlformats.org/officeDocument/2006/relationships/slide" Target="/ppt/slides/slide43.xml" Id="Rfd6c5189d21140e8" /><Relationship Type="http://schemas.openxmlformats.org/officeDocument/2006/relationships/slide" Target="/ppt/slides/slide44.xml" Id="Rd95c311c8cf44559" /><Relationship Type="http://schemas.openxmlformats.org/officeDocument/2006/relationships/slide" Target="/ppt/slides/slide45.xml" Id="R24cf6d26873045e3" /><Relationship Type="http://schemas.openxmlformats.org/officeDocument/2006/relationships/slide" Target="/ppt/slides/slide46.xml" Id="Rd6d28835b45f4523" /><Relationship Type="http://schemas.openxmlformats.org/officeDocument/2006/relationships/slide" Target="/ppt/slides/slide47.xml" Id="Rf584ac4ec17b4850" /><Relationship Type="http://schemas.openxmlformats.org/officeDocument/2006/relationships/slide" Target="/ppt/slides/slide48.xml" Id="R1db20b45b52d4389" /><Relationship Type="http://schemas.openxmlformats.org/officeDocument/2006/relationships/slide" Target="/ppt/slides/slide49.xml" Id="R00a1526cde2347b9" /><Relationship Type="http://schemas.openxmlformats.org/officeDocument/2006/relationships/slide" Target="/ppt/slides/slide50.xml" Id="R90c96020d5fa4c99" /><Relationship Type="http://schemas.openxmlformats.org/officeDocument/2006/relationships/slide" Target="/ppt/slides/slide51.xml" Id="R56ad31310ff24eba" /><Relationship Type="http://schemas.openxmlformats.org/officeDocument/2006/relationships/slide" Target="/ppt/slides/slide52.xml" Id="R8fe908f808864ebf" /><Relationship Type="http://schemas.openxmlformats.org/officeDocument/2006/relationships/slide" Target="/ppt/slides/slide53.xml" Id="R59e9e0c8728f445e" /><Relationship Type="http://schemas.openxmlformats.org/officeDocument/2006/relationships/slide" Target="/ppt/slides/slide54.xml" Id="Rcc1369de9dd0411c" /><Relationship Type="http://schemas.openxmlformats.org/officeDocument/2006/relationships/slide" Target="/ppt/slides/slide55.xml" Id="R291c088b045d44d9" /><Relationship Type="http://schemas.openxmlformats.org/officeDocument/2006/relationships/slide" Target="/ppt/slides/slide56.xml" Id="Rce33f0d68ae54ed6" /><Relationship Type="http://schemas.openxmlformats.org/officeDocument/2006/relationships/slide" Target="/ppt/slides/slide57.xml" Id="R1ce40d0cf68e4eb9" /><Relationship Type="http://schemas.openxmlformats.org/officeDocument/2006/relationships/slide" Target="/ppt/slides/slide58.xml" Id="R121c680d41dc434f" /><Relationship Type="http://schemas.openxmlformats.org/officeDocument/2006/relationships/slide" Target="/ppt/slides/slide59.xml" Id="R5316849aeee647de" /><Relationship Type="http://schemas.openxmlformats.org/officeDocument/2006/relationships/slide" Target="/ppt/slides/slide60.xml" Id="Rbd227887225142f2" /><Relationship Type="http://schemas.openxmlformats.org/officeDocument/2006/relationships/slide" Target="/ppt/slides/slide61.xml" Id="Ra290cd0528674a2f" /><Relationship Type="http://schemas.openxmlformats.org/officeDocument/2006/relationships/slide" Target="/ppt/slides/slide62.xml" Id="Re9dbca8b59104ce5" /><Relationship Type="http://schemas.openxmlformats.org/officeDocument/2006/relationships/slide" Target="/ppt/slides/slide63.xml" Id="Re3f14d80755243e2" /><Relationship Type="http://schemas.openxmlformats.org/officeDocument/2006/relationships/slide" Target="/ppt/slides/slide64.xml" Id="Re9c11965c90146e3" /><Relationship Type="http://schemas.openxmlformats.org/officeDocument/2006/relationships/slide" Target="/ppt/slides/slide65.xml" Id="Rbc78ca7dd4b54871" /><Relationship Type="http://schemas.openxmlformats.org/officeDocument/2006/relationships/slide" Target="/ppt/slides/slide66.xml" Id="R761b6111977d43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cbf300d4ee47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086dbffcb2a47df" /><Relationship Type="http://schemas.openxmlformats.org/officeDocument/2006/relationships/notesMaster" Target="/ppt/notesMasters/notesMaster1.xml" Id="Rd6655cb034894d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267827cc4e4382" /><Relationship Type="http://schemas.openxmlformats.org/officeDocument/2006/relationships/notesMaster" Target="/ppt/notesMasters/notesMaster1.xml" Id="Ra1584893a6374d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1cecba55924170" /><Relationship Type="http://schemas.openxmlformats.org/officeDocument/2006/relationships/notesMaster" Target="/ppt/notesMasters/notesMaster1.xml" Id="Ra348a42b523742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9467ea6fc84290" /><Relationship Type="http://schemas.openxmlformats.org/officeDocument/2006/relationships/notesMaster" Target="/ppt/notesMasters/notesMaster1.xml" Id="R10b40d42cb444998"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706ad0e619424a" /><Relationship Type="http://schemas.openxmlformats.org/officeDocument/2006/relationships/notesMaster" Target="/ppt/notesMasters/notesMaster1.xml" Id="R1f6751a63e79405c" /></Relationships>
</file>

<file path=ppt/notesSlides/_rels/notesSlide6.xml.rels>&#65279;<?xml version="1.0" encoding="utf-8"?><Relationships xmlns="http://schemas.openxmlformats.org/package/2006/relationships"><Relationship Type="http://schemas.openxmlformats.org/officeDocument/2006/relationships/slide" Target="/ppt/slides/slide6.xml" Id="Rb6b9a64c42604b07" /><Relationship Type="http://schemas.openxmlformats.org/officeDocument/2006/relationships/notesMaster" Target="/ppt/notesMasters/notesMaster1.xml" Id="R3f415a138980458d"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05fa6c5c0c4b60" /><Relationship Type="http://schemas.openxmlformats.org/officeDocument/2006/relationships/notesMaster" Target="/ppt/notesMasters/notesMaster1.xml" Id="R85ae68ff1d8644a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2c891aec94b4730" /><Relationship Type="http://schemas.openxmlformats.org/officeDocument/2006/relationships/notesMaster" Target="/ppt/notesMasters/notesMaster1.xml" Id="R02be31f0acaa434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b66e60612f84c33" /><Relationship Type="http://schemas.openxmlformats.org/officeDocument/2006/relationships/notesMaster" Target="/ppt/notesMasters/notesMaster1.xml" Id="R6bb93e8ede9043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a8f34e069f4551" /><Relationship Type="http://schemas.openxmlformats.org/officeDocument/2006/relationships/notesMaster" Target="/ppt/notesMasters/notesMaster1.xml" Id="R0ad802fe4066462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aa3c73c254c47bc" /><Relationship Type="http://schemas.openxmlformats.org/officeDocument/2006/relationships/notesMaster" Target="/ppt/notesMasters/notesMaster1.xml" Id="R459f1bffd1d14db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83d7dc3b82b4549" /><Relationship Type="http://schemas.openxmlformats.org/officeDocument/2006/relationships/notesMaster" Target="/ppt/notesMasters/notesMaster1.xml" Id="R221eeaca0f084cd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a558fe933114085" /><Relationship Type="http://schemas.openxmlformats.org/officeDocument/2006/relationships/notesMaster" Target="/ppt/notesMasters/notesMaster1.xml" Id="Rd65ea6fbffcc4b2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43974222d704868" /><Relationship Type="http://schemas.openxmlformats.org/officeDocument/2006/relationships/notesMaster" Target="/ppt/notesMasters/notesMaster1.xml" Id="R1ee47bc6de4d4fc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e8e90e6981541a5" /><Relationship Type="http://schemas.openxmlformats.org/officeDocument/2006/relationships/notesMaster" Target="/ppt/notesMasters/notesMaster1.xml" Id="Rc74004d9d5534b9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47b4168c17e449e" /><Relationship Type="http://schemas.openxmlformats.org/officeDocument/2006/relationships/notesMaster" Target="/ppt/notesMasters/notesMaster1.xml" Id="R625328633d85410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879ea7c99e34fd0" /><Relationship Type="http://schemas.openxmlformats.org/officeDocument/2006/relationships/notesMaster" Target="/ppt/notesMasters/notesMaster1.xml" Id="Rcfcda17cc44f4d8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6d4eb1e4fa04931" /><Relationship Type="http://schemas.openxmlformats.org/officeDocument/2006/relationships/notesMaster" Target="/ppt/notesMasters/notesMaster1.xml" Id="R25e6a7771b88498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789f357415e447b" /><Relationship Type="http://schemas.openxmlformats.org/officeDocument/2006/relationships/notesMaster" Target="/ppt/notesMasters/notesMaster1.xml" Id="R59d68c417c0340b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67b3ff258304956" /><Relationship Type="http://schemas.openxmlformats.org/officeDocument/2006/relationships/notesMaster" Target="/ppt/notesMasters/notesMaster1.xml" Id="Rfe1945b1940a489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d4cdace17a54408" /><Relationship Type="http://schemas.openxmlformats.org/officeDocument/2006/relationships/notesMaster" Target="/ppt/notesMasters/notesMaster1.xml" Id="R8d575154e8834e2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18cb2cc18ec4586" /><Relationship Type="http://schemas.openxmlformats.org/officeDocument/2006/relationships/notesMaster" Target="/ppt/notesMasters/notesMaster1.xml" Id="R0fc2d85d0442453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7f2ba31c1b74452" /><Relationship Type="http://schemas.openxmlformats.org/officeDocument/2006/relationships/notesMaster" Target="/ppt/notesMasters/notesMaster1.xml" Id="R0d5d712fd9b048c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af54c54b3304c44" /><Relationship Type="http://schemas.openxmlformats.org/officeDocument/2006/relationships/notesMaster" Target="/ppt/notesMasters/notesMaster1.xml" Id="R65a7a293cf4648d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24f9557dc6945bc" /><Relationship Type="http://schemas.openxmlformats.org/officeDocument/2006/relationships/notesMaster" Target="/ppt/notesMasters/notesMaster1.xml" Id="Re8964225619847e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31944ccb6744d64" /><Relationship Type="http://schemas.openxmlformats.org/officeDocument/2006/relationships/notesMaster" Target="/ppt/notesMasters/notesMaster1.xml" Id="R7f2857a223424ed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c051565cd1e486b" /><Relationship Type="http://schemas.openxmlformats.org/officeDocument/2006/relationships/notesMaster" Target="/ppt/notesMasters/notesMaster1.xml" Id="Rfec7be93d3584b5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0557136142e435e" /><Relationship Type="http://schemas.openxmlformats.org/officeDocument/2006/relationships/notesMaster" Target="/ppt/notesMasters/notesMaster1.xml" Id="R8f8ab7855d49463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242b255aba14088" /><Relationship Type="http://schemas.openxmlformats.org/officeDocument/2006/relationships/notesMaster" Target="/ppt/notesMasters/notesMaster1.xml" Id="R5ed37cdf42c946c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7f4b8dd16ee4829" /><Relationship Type="http://schemas.openxmlformats.org/officeDocument/2006/relationships/notesMaster" Target="/ppt/notesMasters/notesMaster1.xml" Id="R2b1465bb21964dc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18146aa16064950" /><Relationship Type="http://schemas.openxmlformats.org/officeDocument/2006/relationships/notesMaster" Target="/ppt/notesMasters/notesMaster1.xml" Id="R00d41e017aa54f6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901b14792a64385" /><Relationship Type="http://schemas.openxmlformats.org/officeDocument/2006/relationships/notesMaster" Target="/ppt/notesMasters/notesMaster1.xml" Id="Rc345fb7ec2dd4db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168d4818e1642fb" /><Relationship Type="http://schemas.openxmlformats.org/officeDocument/2006/relationships/notesMaster" Target="/ppt/notesMasters/notesMaster1.xml" Id="Rae47ac3abe94407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5863e674c90472a" /><Relationship Type="http://schemas.openxmlformats.org/officeDocument/2006/relationships/notesMaster" Target="/ppt/notesMasters/notesMaster1.xml" Id="R76b98342082c46f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efcfb36b30346ab" /><Relationship Type="http://schemas.openxmlformats.org/officeDocument/2006/relationships/notesMaster" Target="/ppt/notesMasters/notesMaster1.xml" Id="R43710001e037482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df87397f2254994" /><Relationship Type="http://schemas.openxmlformats.org/officeDocument/2006/relationships/notesMaster" Target="/ppt/notesMasters/notesMaster1.xml" Id="R1d6d3d4be9864a2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d528f89603249c4" /><Relationship Type="http://schemas.openxmlformats.org/officeDocument/2006/relationships/notesMaster" Target="/ppt/notesMasters/notesMaster1.xml" Id="R603fc1cecd38464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ecd64a8d1724732" /><Relationship Type="http://schemas.openxmlformats.org/officeDocument/2006/relationships/notesMaster" Target="/ppt/notesMasters/notesMaster1.xml" Id="R20c0b70b3ae24f2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a34a0700cd4425e" /><Relationship Type="http://schemas.openxmlformats.org/officeDocument/2006/relationships/notesMaster" Target="/ppt/notesMasters/notesMaster1.xml" Id="Re767de21683e424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9455e955de74627" /><Relationship Type="http://schemas.openxmlformats.org/officeDocument/2006/relationships/notesMaster" Target="/ppt/notesMasters/notesMaster1.xml" Id="R4b0adfc1ada54d3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8c834662139486a" /><Relationship Type="http://schemas.openxmlformats.org/officeDocument/2006/relationships/notesMaster" Target="/ppt/notesMasters/notesMaster1.xml" Id="Ra42e2a4d0100428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dbfee8827154eda" /><Relationship Type="http://schemas.openxmlformats.org/officeDocument/2006/relationships/notesMaster" Target="/ppt/notesMasters/notesMaster1.xml" Id="Rf2143061b3c249c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78f8a958ad84823" /><Relationship Type="http://schemas.openxmlformats.org/officeDocument/2006/relationships/notesMaster" Target="/ppt/notesMasters/notesMaster1.xml" Id="R44a5f7f9d380433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e150c4ccf8b464d" /><Relationship Type="http://schemas.openxmlformats.org/officeDocument/2006/relationships/notesMaster" Target="/ppt/notesMasters/notesMaster1.xml" Id="Recccde5c9a854f8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e8776fa2944432b" /><Relationship Type="http://schemas.openxmlformats.org/officeDocument/2006/relationships/notesMaster" Target="/ppt/notesMasters/notesMaster1.xml" Id="R601c44d20af44c8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99daff122ad84bee" /><Relationship Type="http://schemas.openxmlformats.org/officeDocument/2006/relationships/notesMaster" Target="/ppt/notesMasters/notesMaster1.xml" Id="Rd4226d64072f4b5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663728278c504f08" /><Relationship Type="http://schemas.openxmlformats.org/officeDocument/2006/relationships/notesMaster" Target="/ppt/notesMasters/notesMaster1.xml" Id="Recc76c80a0b7453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90cf79e2bfc4199" /><Relationship Type="http://schemas.openxmlformats.org/officeDocument/2006/relationships/notesMaster" Target="/ppt/notesMasters/notesMaster1.xml" Id="R7fe487d9bcbb483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ada4e3f8e13409d" /><Relationship Type="http://schemas.openxmlformats.org/officeDocument/2006/relationships/notesMaster" Target="/ppt/notesMasters/notesMaster1.xml" Id="R1ac4e6ed1cfb4cf1"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73e8390afb4247b0" /><Relationship Type="http://schemas.openxmlformats.org/officeDocument/2006/relationships/notesMaster" Target="/ppt/notesMasters/notesMaster1.xml" Id="Rcbc5dd20b1814b3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d2caa9ee7f2e4eb7" /><Relationship Type="http://schemas.openxmlformats.org/officeDocument/2006/relationships/notesMaster" Target="/ppt/notesMasters/notesMaster1.xml" Id="R1a34f9843803415f"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79fc1d136014741" /><Relationship Type="http://schemas.openxmlformats.org/officeDocument/2006/relationships/notesMaster" Target="/ppt/notesMasters/notesMaster1.xml" Id="R5017fb22b6ab44a2"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2016fad0dd774237" /><Relationship Type="http://schemas.openxmlformats.org/officeDocument/2006/relationships/notesMaster" Target="/ppt/notesMasters/notesMaster1.xml" Id="Rf278c46a36ec4db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c4f9a4fa68934dd8" /><Relationship Type="http://schemas.openxmlformats.org/officeDocument/2006/relationships/notesMaster" Target="/ppt/notesMasters/notesMaster1.xml" Id="R8f537c48bb934c40"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d97ac7f89e6c410b" /><Relationship Type="http://schemas.openxmlformats.org/officeDocument/2006/relationships/notesMaster" Target="/ppt/notesMasters/notesMaster1.xml" Id="Rfdc9c558fcca4e33"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b4f86be64aa4d82" /><Relationship Type="http://schemas.openxmlformats.org/officeDocument/2006/relationships/notesMaster" Target="/ppt/notesMasters/notesMaster1.xml" Id="R97935204fc8545d6"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5aa6781afac8438a" /><Relationship Type="http://schemas.openxmlformats.org/officeDocument/2006/relationships/notesMaster" Target="/ppt/notesMasters/notesMaster1.xml" Id="Ra41b6b7781c741a7"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d45d6d493d504175" /><Relationship Type="http://schemas.openxmlformats.org/officeDocument/2006/relationships/notesMaster" Target="/ppt/notesMasters/notesMaster1.xml" Id="R745cafe0fcb24ba7"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d77ecd1ca0b04576" /><Relationship Type="http://schemas.openxmlformats.org/officeDocument/2006/relationships/notesMaster" Target="/ppt/notesMasters/notesMaster1.xml" Id="R00b8019c5d5e4376"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28959caeefa04a55" /><Relationship Type="http://schemas.openxmlformats.org/officeDocument/2006/relationships/notesMaster" Target="/ppt/notesMasters/notesMaster1.xml" Id="Rd2b0b845452a4ca9"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b21373aba30a4132" /><Relationship Type="http://schemas.openxmlformats.org/officeDocument/2006/relationships/notesMaster" Target="/ppt/notesMasters/notesMaster1.xml" Id="R8c65384642ab43e8"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4bdc38435a4c4b19" /><Relationship Type="http://schemas.openxmlformats.org/officeDocument/2006/relationships/notesMaster" Target="/ppt/notesMasters/notesMaster1.xml" Id="Rf645c73a691f4d27"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dc83eb283f544250" /><Relationship Type="http://schemas.openxmlformats.org/officeDocument/2006/relationships/notesMaster" Target="/ppt/notesMasters/notesMaster1.xml" Id="R7c8245bc4b6a48cb"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1516fffe4e454736" /><Relationship Type="http://schemas.openxmlformats.org/officeDocument/2006/relationships/notesMaster" Target="/ppt/notesMasters/notesMaster1.xml" Id="Rfc86f2b20c254681"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40ac6f22b1e84510" /><Relationship Type="http://schemas.openxmlformats.org/officeDocument/2006/relationships/notesMaster" Target="/ppt/notesMasters/notesMaster1.xml" Id="R21e4f6c7e88a411f"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fa4496a0621f4477" /><Relationship Type="http://schemas.openxmlformats.org/officeDocument/2006/relationships/notesMaster" Target="/ppt/notesMasters/notesMaster1.xml" Id="R8f1869e352d643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Материал для созвона 1 октября и самостоятельной подготовки. Сначала студент объясняет путь одного запроса, затем разбирает сетевые вызовы и состояние сервера. В конце - ограничения и устная репетиция. Исходная версия содержит воспроизведенную ошибку индексов в PollServer::run. Успешную демонстрацию этой версии нельзя считать гарантированной.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Пример: TCP предоставляет упорядоченный поток байтов. recv читает доступную часть в buffer и возвращает count. Запрос может прийти двумя частями, поэтому client.input накапливает строку до перевода строки. TCP не определяет конец команды калькулятора. Важнее объяснить эту причинную цепочку, чем перечислить названия функций. Карточки дают проверку, а устные вопросы в конце каждого разбора проверяют понимание.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Какую задачу решает вся программа?</a:t>
            </a:r>
          </a:p>
          <a:p xmlns:a="http://schemas.openxmlformats.org/drawingml/2006/main">
            <a:r>
              <a:t/>
            </a:r>
          </a:p>
          <a:p xmlns:a="http://schemas.openxmlformats.org/drawingml/2006/main">
            <a:r>
              <a:t>Клиенты отправляют выражения, сервер вычисляет их и хранит X, Y, Z по имени пользователя. ConsoleClient формирует команду, PollServer принимает строку, CalculatorModel вычисляет результат. Ответ возвращается по тому же TCP-соединению.</a:t>
            </a:r>
          </a:p>
          <a:p xmlns:a="http://schemas.openxmlformats.org/drawingml/2006/main">
            <a:r>
              <a:t/>
            </a:r>
          </a:p>
          <a:p xmlns:a="http://schemas.openxmlformats.org/drawingml/2006/main">
            <a:r>
              <a:t>Почему ошибочные ответы неверны: Клиент вычисляет выражения, а сервер только сохраняет историю. Вычисления находятся в CalculatorModel на сервере. История команд хранится на клиенте. Каждый клиент хранит свои переменные и пересылает серверу готовый результат. Переменные находятся в серверной map и файле users.db.</a:t>
            </a:r>
          </a:p>
          <a:p xmlns:a="http://schemas.openxmlformats.org/drawingml/2006/main">
            <a:r>
              <a:t/>
            </a:r>
          </a:p>
          <a:p xmlns:a="http://schemas.openxmlformats.org/drawingml/2006/main">
            <a:r>
              <a:t>Для устного ответа: Проследи команду X = 2 + 3 * 4 от ввода до ответа.</a:t>
            </a:r>
          </a:p>
          <a:p xmlns:a="http://schemas.openxmlformats.org/drawingml/2006/main">
            <a:r>
              <a:t/>
            </a:r>
          </a:p>
          <a:p xmlns:a="http://schemas.openxmlformats.org/drawingml/2006/main">
            <a:r>
              <a:t>Исходник: CMakeLists.txt, строки 1-27.</a:t>
            </a:r>
          </a:p>
          <a:p xmlns:a="http://schemas.openxmlformats.org/drawingml/2006/main">
            <a:r>
              <a:t/>
            </a:r>
          </a:p>
          <a:p xmlns:a="http://schemas.openxmlformats.org/drawingml/2006/main">
            <a:r>
              <a:t>Почему выделены common, model, server и client?</a:t>
            </a:r>
          </a:p>
          <a:p xmlns:a="http://schemas.openxmlformats.org/drawingml/2006/main">
            <a:r>
              <a:t/>
            </a:r>
          </a:p>
          <a:p xmlns:a="http://schemas.openxmlformats.org/drawingml/2006/main">
            <a:r>
              <a:t>У частей разные обязанности, поэтому их проще объяснять, проверять и изменять. Модель не обязана знать о сокетах. Сервер отвечает за транспорт, клиент за консоль, common за общие правила строк. Это пример разделения ответственности.</a:t>
            </a:r>
          </a:p>
          <a:p xmlns:a="http://schemas.openxmlformats.org/drawingml/2006/main">
            <a:r>
              <a:t/>
            </a:r>
          </a:p>
          <a:p xmlns:a="http://schemas.openxmlformats.org/drawingml/2006/main">
            <a:r>
              <a:t>Почему ошибочные ответы неверны: Каждый каталог запускается в собственном процессе. Каталоги не определяют процессы. Исполняемых программ две: клиент и сервер. Разделение автоматически ускоряет сетевой обмен. Само размещение файлов не ускоряет передачу.</a:t>
            </a:r>
          </a:p>
          <a:p xmlns:a="http://schemas.openxmlformats.org/drawingml/2006/main">
            <a:r>
              <a:t/>
            </a:r>
          </a:p>
          <a:p xmlns:a="http://schemas.openxmlformats.org/drawingml/2006/main">
            <a:r>
              <a:t>Для устного ответа: Что придется менять при замене консольного клиента графическим?</a:t>
            </a:r>
          </a:p>
          <a:p xmlns:a="http://schemas.openxmlformats.org/drawingml/2006/main">
            <a:r>
              <a:t/>
            </a:r>
          </a:p>
          <a:p xmlns:a="http://schemas.openxmlformats.org/drawingml/2006/main">
            <a:r>
              <a:t>Исходник: CMakeLists.txt, строки 1-27.</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Сколько потоков обслуживает клиентов внутри сервера?</a:t>
            </a:r>
          </a:p>
          <a:p xmlns:a="http://schemas.openxmlformats.org/drawingml/2006/main">
            <a:r>
              <a:t/>
            </a:r>
          </a:p>
          <a:p xmlns:a="http://schemas.openxmlformats.org/drawingml/2006/main">
            <a:r>
              <a:t>Один поток в одном серверном процессе. Главный цикл по очереди обрабатывает готовые дескрипторы. Несколько соединений существуют одновременно, но инструкции обработчиков исполняются последовательно.</a:t>
            </a:r>
          </a:p>
          <a:p xmlns:a="http://schemas.openxmlformats.org/drawingml/2006/main">
            <a:r>
              <a:t/>
            </a:r>
          </a:p>
          <a:p xmlns:a="http://schemas.openxmlformats.org/drawingml/2006/main">
            <a:r>
              <a:t>Почему ошибочные ответы неверны: По одному потоку на подключение. В сервере нет создания std::thread. По одному процессу на подключение. В сервере нет fork. Клиенты представлены структурами в векторе.</a:t>
            </a:r>
          </a:p>
          <a:p xmlns:a="http://schemas.openxmlformats.org/drawingml/2006/main">
            <a:r>
              <a:t/>
            </a:r>
          </a:p>
          <a:p xmlns:a="http://schemas.openxmlformats.org/drawingml/2006/main">
            <a:r>
              <a:t>Для устного ответа: Как сервер обслуживает десять клиентов одним потоком?</a:t>
            </a:r>
          </a:p>
          <a:p xmlns:a="http://schemas.openxmlformats.org/drawingml/2006/main">
            <a:r>
              <a:t/>
            </a:r>
          </a:p>
          <a:p xmlns:a="http://schemas.openxmlformats.org/drawingml/2006/main">
            <a:r>
              <a:t>Исходник: src/server/poll_server.cpp, строки 81-113.</a:t>
            </a:r>
          </a:p>
          <a:p xmlns:a="http://schemas.openxmlformats.org/drawingml/2006/main">
            <a:r>
              <a:t/>
            </a:r>
          </a:p>
          <a:p xmlns:a="http://schemas.openxmlformats.org/drawingml/2006/main">
            <a:r>
              <a:t>Чем конкурентность здесь отличается от параллелизма?</a:t>
            </a:r>
          </a:p>
          <a:p xmlns:a="http://schemas.openxmlformats.org/drawingml/2006/main">
            <a:r>
              <a:t/>
            </a:r>
          </a:p>
          <a:p xmlns:a="http://schemas.openxmlformats.org/drawingml/2006/main">
            <a:r>
              <a:t>Сервер продвигает несколько соединений по очереди, не исполняя их обработчики одновременно. Пока один клиент ничего не прислал, сервер может обслужить другого. Это конкурентное обслуживание ввода-вывода. Параллельные вычисления потребовали бы дополнительных исполнителей.</a:t>
            </a:r>
          </a:p>
          <a:p xmlns:a="http://schemas.openxmlformats.org/drawingml/2006/main">
            <a:r>
              <a:t/>
            </a:r>
          </a:p>
          <a:p xmlns:a="http://schemas.openxmlformats.org/drawingml/2006/main">
            <a:r>
              <a:t>Почему ошибочные ответы неверны: Конкурентность обязательно требует нескольких процессорных ядер. Несколько задач можно обслуживать с чередованием на одном ядре. poll запускает обработчики параллельно внутри процесса. poll сообщает готовность. Код обработчиков вызывает сам цикл.</a:t>
            </a:r>
          </a:p>
          <a:p xmlns:a="http://schemas.openxmlformats.org/drawingml/2006/main">
            <a:r>
              <a:t/>
            </a:r>
          </a:p>
          <a:p xmlns:a="http://schemas.openxmlformats.org/drawingml/2006/main">
            <a:r>
              <a:t>Для устного ответа: Что случится, если один обработчик будет вычислять результат минуту?</a:t>
            </a:r>
          </a:p>
          <a:p xmlns:a="http://schemas.openxmlformats.org/drawingml/2006/main">
            <a:r>
              <a:t/>
            </a:r>
          </a:p>
          <a:p xmlns:a="http://schemas.openxmlformats.org/drawingml/2006/main">
            <a:r>
              <a:t>Исходник: src/server/poll_server.cpp, строки 81-113.</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Почему модель не использует мьютекс?</a:t>
            </a:r>
          </a:p>
          <a:p xmlns:a="http://schemas.openxmlformats.org/drawingml/2006/main">
            <a:r>
              <a:t/>
            </a:r>
          </a:p>
          <a:p xmlns:a="http://schemas.openxmlformats.org/drawingml/2006/main">
            <a:r>
              <a:t>Доступ к модели из этого сервера выполняется одним потоком. В текущей архитектуре конкурирующих потоков внутри сервера нет. При добавлении рабочих потоков придется заново продумать владение данными и синхронизацию.</a:t>
            </a:r>
          </a:p>
          <a:p xmlns:a="http://schemas.openxmlformats.org/drawingml/2006/main">
            <a:r>
              <a:t/>
            </a:r>
          </a:p>
          <a:p xmlns:a="http://schemas.openxmlformats.org/drawingml/2006/main">
            <a:r>
              <a:t>Почему ошибочные ответы неверны: std::map сам защищает любые изменения между потоками. Контейнер не делает одновременное изменение безопасным автоматически. TCP синхронизирует доступ к памяти модели. TCP упорядочивает байты соединения, а не доступ потоков к объектам.</a:t>
            </a:r>
          </a:p>
          <a:p xmlns:a="http://schemas.openxmlformats.org/drawingml/2006/main">
            <a:r>
              <a:t/>
            </a:r>
          </a:p>
          <a:p xmlns:a="http://schemas.openxmlformats.org/drawingml/2006/main">
            <a:r>
              <a:t>Для устного ответа: Что изменится при добавлении пула рабочих потоков?</a:t>
            </a:r>
          </a:p>
          <a:p xmlns:a="http://schemas.openxmlformats.org/drawingml/2006/main">
            <a:r>
              <a:t/>
            </a:r>
          </a:p>
          <a:p xmlns:a="http://schemas.openxmlformats.org/drawingml/2006/main">
            <a:r>
              <a:t>Исходник: src/model/calculator.cpp, строки 223-277.</a:t>
            </a:r>
          </a:p>
          <a:p xmlns:a="http://schemas.openxmlformats.org/drawingml/2006/main">
            <a:r>
              <a:t/>
            </a:r>
          </a:p>
          <a:p xmlns:a="http://schemas.openxmlformats.org/drawingml/2006/main">
            <a:r>
              <a:t>Что означает PERF в этой работе?</a:t>
            </a:r>
          </a:p>
          <a:p xmlns:a="http://schemas.openxmlformats.org/drawingml/2006/main">
            <a:r>
              <a:t/>
            </a:r>
          </a:p>
          <a:p xmlns:a="http://schemas.openxmlformats.org/drawingml/2006/main">
            <a:r>
              <a:t>Отдельный тип запроса, который обходит вычисление выражения. Клиент отправляет PERF с текстом, сервер отвечает OK PERF до вызова модели. Для измерения производительности еще нужны нагрузка, таймер и методика.</a:t>
            </a:r>
          </a:p>
          <a:p xmlns:a="http://schemas.openxmlformats.org/drawingml/2006/main">
            <a:r>
              <a:t/>
            </a:r>
          </a:p>
          <a:p xmlns:a="http://schemas.openxmlformats.org/drawingml/2006/main">
            <a:r>
              <a:t>Почему ошибочные ответы неверны: Автоматическое измерение запросов в секунду. Код не считает время и не выводит пропускную способность. Переключение TCP в более быстрый режим. Транспорт остается тем же. Меняется прикладная обработка.</a:t>
            </a:r>
          </a:p>
          <a:p xmlns:a="http://schemas.openxmlformats.org/drawingml/2006/main">
            <a:r>
              <a:t/>
            </a:r>
          </a:p>
          <a:p xmlns:a="http://schemas.openxmlformats.org/drawingml/2006/main">
            <a:r>
              <a:t>Для устного ответа: Как сравнить стоимость сети и стоимость вычисления?</a:t>
            </a:r>
          </a:p>
          <a:p xmlns:a="http://schemas.openxmlformats.org/drawingml/2006/main">
            <a:r>
              <a:t/>
            </a:r>
          </a:p>
          <a:p xmlns:a="http://schemas.openxmlformats.org/drawingml/2006/main">
            <a:r>
              <a:t>Исходник: src/server/poll_server.cpp, строки 209-266.</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Зачем состоянию соединения нужны input и output?</a:t>
            </a:r>
          </a:p>
          <a:p xmlns:a="http://schemas.openxmlformats.org/drawingml/2006/main">
            <a:r>
              <a:t/>
            </a:r>
          </a:p>
          <a:p xmlns:a="http://schemas.openxmlformats.org/drawingml/2006/main">
            <a:r>
              <a:t>Для накопления неполного запроса и хранения еще не отправленной части ответа. recv и send могут обработать часть данных. Буферы сохраняют остаток между итерациями событийного цикла.</a:t>
            </a:r>
          </a:p>
          <a:p xmlns:a="http://schemas.openxmlformats.org/drawingml/2006/main">
            <a:r>
              <a:t/>
            </a:r>
          </a:p>
          <a:p xmlns:a="http://schemas.openxmlformats.org/drawingml/2006/main">
            <a:r>
              <a:t>Почему ошибочные ответы неверны: Для хранения всей истории пользователя между запусками. История находится на клиенте, а значения переменных сохраняет модель. TCP требует ровно два буфера фиксированного размера. Количество и устройство прикладных буферов выбирает программа.</a:t>
            </a:r>
          </a:p>
          <a:p xmlns:a="http://schemas.openxmlformats.org/drawingml/2006/main">
            <a:r>
              <a:t/>
            </a:r>
          </a:p>
          <a:p xmlns:a="http://schemas.openxmlformats.org/drawingml/2006/main">
            <a:r>
              <a:t>Для устного ответа: Что будет в input после приема только CMD X = ?</a:t>
            </a:r>
          </a:p>
          <a:p xmlns:a="http://schemas.openxmlformats.org/drawingml/2006/main">
            <a:r>
              <a:t/>
            </a:r>
          </a:p>
          <a:p xmlns:a="http://schemas.openxmlformats.org/drawingml/2006/main">
            <a:r>
              <a:t>Исходник: src/server/poll_server.hpp, строки 29-36.</a:t>
            </a:r>
          </a:p>
          <a:p xmlns:a="http://schemas.openxmlformats.org/drawingml/2006/main">
            <a:r>
              <a:t/>
            </a:r>
          </a:p>
          <a:p xmlns:a="http://schemas.openxmlformats.org/drawingml/2006/main">
            <a:r>
              <a:t>Где находится история введенных команд?</a:t>
            </a:r>
          </a:p>
          <a:p xmlns:a="http://schemas.openxmlformats.org/drawingml/2006/main">
            <a:r>
              <a:t/>
            </a:r>
          </a:p>
          <a:p xmlns:a="http://schemas.openxmlformats.org/drawingml/2006/main">
            <a:r>
              <a:t>В векторе _history консольного клиента. История нужна интерфейсу клиента. Перезапуск клиента очищает ее, поскольку сохранения истории в файл в коде нет.</a:t>
            </a:r>
          </a:p>
          <a:p xmlns:a="http://schemas.openxmlformats.org/drawingml/2006/main">
            <a:r>
              <a:t/>
            </a:r>
          </a:p>
          <a:p xmlns:a="http://schemas.openxmlformats.org/drawingml/2006/main">
            <a:r>
              <a:t>Почему ошибочные ответы неверны: В серверном файле users.db. users.db содержит имя и три значения, без истории. В очереди подключений listen. Очередь listen относится к соединениям.</a:t>
            </a:r>
          </a:p>
          <a:p xmlns:a="http://schemas.openxmlformats.org/drawingml/2006/main">
            <a:r>
              <a:t/>
            </a:r>
          </a:p>
          <a:p xmlns:a="http://schemas.openxmlformats.org/drawingml/2006/main">
            <a:r>
              <a:t>Для устного ответа: Почему при повторном входе X сохраняется, а история исчезает?</a:t>
            </a:r>
          </a:p>
          <a:p xmlns:a="http://schemas.openxmlformats.org/drawingml/2006/main">
            <a:r>
              <a:t/>
            </a:r>
          </a:p>
          <a:p xmlns:a="http://schemas.openxmlformats.org/drawingml/2006/main">
            <a:r>
              <a:t>Исходник: src/client/console_client.cpp, строки 145-202.</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Что общий модуль calc_common означает при сборке?</a:t>
            </a:r>
          </a:p>
          <a:p xmlns:a="http://schemas.openxmlformats.org/drawingml/2006/main">
            <a:r>
              <a:t/>
            </a:r>
          </a:p>
          <a:p xmlns:a="http://schemas.openxmlformats.org/drawingml/2006/main">
            <a:r>
              <a:t>Библиотеку, с которой связываются исполняемые программы. CMake собирает общие исходники в библиотеку, затем связывает клиент и сервер с ней. Компоновка и сетевое взаимодействие относятся к разным этапам.</a:t>
            </a:r>
          </a:p>
          <a:p xmlns:a="http://schemas.openxmlformats.org/drawingml/2006/main">
            <a:r>
              <a:t/>
            </a:r>
          </a:p>
          <a:p xmlns:a="http://schemas.openxmlformats.org/drawingml/2006/main">
            <a:r>
              <a:t>Почему ошибочные ответы неверны: Отдельный сервис, который должен слушать еще один порт. Библиотека включается при компоновке и не запускается как сервис. Процесс, автоматически создаваемый CMake. CMake описывает сборку и не создает прикладные процессы при работе сервера.</a:t>
            </a:r>
          </a:p>
          <a:p xmlns:a="http://schemas.openxmlformats.org/drawingml/2006/main">
            <a:r>
              <a:t/>
            </a:r>
          </a:p>
          <a:p xmlns:a="http://schemas.openxmlformats.org/drawingml/2006/main">
            <a:r>
              <a:t>Для устного ответа: Чем библиотека отличается от исполняемого файла?</a:t>
            </a:r>
          </a:p>
          <a:p xmlns:a="http://schemas.openxmlformats.org/drawingml/2006/main">
            <a:r>
              <a:t/>
            </a:r>
          </a:p>
          <a:p xmlns:a="http://schemas.openxmlformats.org/drawingml/2006/main">
            <a:r>
              <a:t>Исходник: CMakeLists.txt, строки 1-27.</a:t>
            </a:r>
          </a:p>
          <a:p xmlns:a="http://schemas.openxmlformats.org/drawingml/2006/main">
            <a:r>
              <a:t/>
            </a:r>
          </a:p>
          <a:p xmlns:a="http://schemas.openxmlformats.org/drawingml/2006/main">
            <a:r>
              <a:t>Зачем в защите знать о fork и MPI, если их нет в коде?</a:t>
            </a:r>
          </a:p>
          <a:p xmlns:a="http://schemas.openxmlformats.org/drawingml/2006/main">
            <a:r>
              <a:t/>
            </a:r>
          </a:p>
          <a:p xmlns:a="http://schemas.openxmlformats.org/drawingml/2006/main">
            <a:r>
              <a:t>Чтобы сравнить альтернативные модели и обосновать выбор событийного сервера. fork создает процесс, потоки дают исполнителей в общей памяти, MPI организует обмен между участниками вычислений. Здесь условие требует один процесс и поток, поэтому выбран poll.</a:t>
            </a:r>
          </a:p>
          <a:p xmlns:a="http://schemas.openxmlformats.org/drawingml/2006/main">
            <a:r>
              <a:t/>
            </a:r>
          </a:p>
          <a:p xmlns:a="http://schemas.openxmlformats.org/drawingml/2006/main">
            <a:r>
              <a:t>Почему ошибочные ответы неверны: Чтобы утверждать, что poll скрыто вызывает MPI для каждого клиента. Такого механизма в poll нет. Потому что каждый сокет является процессом MPI. Сокет является объектом ОС для обмена данными, а не процессом.</a:t>
            </a:r>
          </a:p>
          <a:p xmlns:a="http://schemas.openxmlformats.org/drawingml/2006/main">
            <a:r>
              <a:t/>
            </a:r>
          </a:p>
          <a:p xmlns:a="http://schemas.openxmlformats.org/drawingml/2006/main">
            <a:r>
              <a:t>Для устного ответа: Объясни выбор архитектуры двумя предложениями.</a:t>
            </a:r>
          </a:p>
          <a:p xmlns:a="http://schemas.openxmlformats.org/drawingml/2006/main">
            <a:r>
              <a:t/>
            </a:r>
          </a:p>
          <a:p xmlns:a="http://schemas.openxmlformats.org/drawingml/2006/main">
            <a:r>
              <a:t>Исходник: src/server/poll_server.cpp, строки 81-113.</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Что такое сокет в этой программе?</a:t>
            </a:r>
          </a:p>
          <a:p xmlns:a="http://schemas.openxmlformats.org/drawingml/2006/main">
            <a:r>
              <a:t/>
            </a:r>
          </a:p>
          <a:p xmlns:a="http://schemas.openxmlformats.org/drawingml/2006/main">
            <a:r>
              <a:t>Объект ОС для обмена данными, доступный программе через дескриптор. Программа вызывает socket и получает int. По этому номеру ядро находит нужный объект сокета для bind, recv, send и close.</a:t>
            </a:r>
          </a:p>
          <a:p xmlns:a="http://schemas.openxmlformats.org/drawingml/2006/main">
            <a:r>
              <a:t/>
            </a:r>
          </a:p>
          <a:p xmlns:a="http://schemas.openxmlformats.org/drawingml/2006/main">
            <a:r>
              <a:t>Почему ошибочные ответы неверны: Числовой TCP-порт сервера. Порт является частью адреса. Дескриптор с портом не совпадает. Участок char-массива, где лежит запрос. Массив является прикладным буфером, а сокет существует в ОС.</a:t>
            </a:r>
          </a:p>
          <a:p xmlns:a="http://schemas.openxmlformats.org/drawingml/2006/main">
            <a:r>
              <a:t/>
            </a:r>
          </a:p>
          <a:p xmlns:a="http://schemas.openxmlformats.org/drawingml/2006/main">
            <a:r>
              <a:t>Для устного ответа: Различи сокет, дескриптор, порт и буфер.</a:t>
            </a:r>
          </a:p>
          <a:p xmlns:a="http://schemas.openxmlformats.org/drawingml/2006/main">
            <a:r>
              <a:t/>
            </a:r>
          </a:p>
          <a:p xmlns:a="http://schemas.openxmlformats.org/drawingml/2006/main">
            <a:r>
              <a:t>Исходник: src/server/poll_server.cpp, строки 55-79.</a:t>
            </a:r>
          </a:p>
          <a:p xmlns:a="http://schemas.openxmlformats.org/drawingml/2006/main">
            <a:r>
              <a:t/>
            </a:r>
          </a:p>
          <a:p xmlns:a="http://schemas.openxmlformats.org/drawingml/2006/main">
            <a:r>
              <a:t>Что возвращает успешный socket(AF_INET, SOCK_STREAM, 0)?</a:t>
            </a:r>
          </a:p>
          <a:p xmlns:a="http://schemas.openxmlformats.org/drawingml/2006/main">
            <a:r>
              <a:t/>
            </a:r>
          </a:p>
          <a:p xmlns:a="http://schemas.openxmlformats.org/drawingml/2006/main">
            <a:r>
              <a:t>Неотрицательный файловый дескриптор типа int. Дескриптор может быть равен нулю. Поэтому проверка ошибки fd &lt; 0 корректна, а fd &lt;= 0 отвергала бы допустимый дескриптор.</a:t>
            </a:r>
          </a:p>
          <a:p xmlns:a="http://schemas.openxmlformats.org/drawingml/2006/main">
            <a:r>
              <a:t/>
            </a:r>
          </a:p>
          <a:p xmlns:a="http://schemas.openxmlformats.org/drawingml/2006/main">
            <a:r>
              <a:t>Почему ошибочные ответы неверны: Номер автоматически выбранного TCP-порта. Порт назначается при связывании, это не результат socket. Указатель на структуру sockaddr_in. Адресную структуру создает прикладной код отдельно.</a:t>
            </a:r>
          </a:p>
          <a:p xmlns:a="http://schemas.openxmlformats.org/drawingml/2006/main">
            <a:r>
              <a:t/>
            </a:r>
          </a:p>
          <a:p xmlns:a="http://schemas.openxmlformats.org/drawingml/2006/main">
            <a:r>
              <a:t>Для устного ответа: Почему -1 удобно использовать как отсутствие сокета?</a:t>
            </a:r>
          </a:p>
          <a:p xmlns:a="http://schemas.openxmlformats.org/drawingml/2006/main">
            <a:r>
              <a:t/>
            </a:r>
          </a:p>
          <a:p xmlns:a="http://schemas.openxmlformats.org/drawingml/2006/main">
            <a:r>
              <a:t>Исходник: src/server/poll_server.cpp, строки 55-79.</a:t>
            </a:r>
          </a:p>
          <a:p xmlns:a="http://schemas.openxmlformats.org/drawingml/2006/main">
            <a:r>
              <a:t/>
            </a:r>
          </a:p>
          <a:p xmlns:a="http://schemas.openxmlformats.org/drawingml/2006/main">
            <a:r>
              <a:t>Справка API: https://www.man7.org/linux/man-pages/man2/socket.2.html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Что означает AF_INET?</a:t>
            </a:r>
          </a:p>
          <a:p xmlns:a="http://schemas.openxmlformats.org/drawingml/2006/main">
            <a:r>
              <a:t/>
            </a:r>
          </a:p>
          <a:p xmlns:a="http://schemas.openxmlformats.org/drawingml/2006/main">
            <a:r>
              <a:t>Семейство адресов IPv4. Первый аргумент socket выбирает семейство адресов. Для IPv6 используют AF_INET6. Семейство и тип сокета - разные параметры.</a:t>
            </a:r>
          </a:p>
          <a:p xmlns:a="http://schemas.openxmlformats.org/drawingml/2006/main">
            <a:r>
              <a:t/>
            </a:r>
          </a:p>
          <a:p xmlns:a="http://schemas.openxmlformats.org/drawingml/2006/main">
            <a:r>
              <a:t>Почему ошибочные ответы неверны: Тип надежного потока TCP. Тип потока задает SOCK_STREAM, а TCP выбирается сочетанием параметров. Требование использовать только локальный компьютер. Для локального интерфейса файловых адресов есть AF_UNIX.</a:t>
            </a:r>
          </a:p>
          <a:p xmlns:a="http://schemas.openxmlformats.org/drawingml/2006/main">
            <a:r>
              <a:t/>
            </a:r>
          </a:p>
          <a:p xmlns:a="http://schemas.openxmlformats.org/drawingml/2006/main">
            <a:r>
              <a:t>Для устного ответа: Чем AF_INET отличается от SOCK_STREAM?</a:t>
            </a:r>
          </a:p>
          <a:p xmlns:a="http://schemas.openxmlformats.org/drawingml/2006/main">
            <a:r>
              <a:t/>
            </a:r>
          </a:p>
          <a:p xmlns:a="http://schemas.openxmlformats.org/drawingml/2006/main">
            <a:r>
              <a:t>Исходник: src/server/poll_server.cpp, строки 55-79.</a:t>
            </a:r>
          </a:p>
          <a:p xmlns:a="http://schemas.openxmlformats.org/drawingml/2006/main">
            <a:r>
              <a:t/>
            </a:r>
          </a:p>
          <a:p xmlns:a="http://schemas.openxmlformats.org/drawingml/2006/main">
            <a:r>
              <a:t>Какой протокол обычно выбирает сочетание AF_INET, SOCK_STREAM, 0?</a:t>
            </a:r>
          </a:p>
          <a:p xmlns:a="http://schemas.openxmlformats.org/drawingml/2006/main">
            <a:r>
              <a:t/>
            </a:r>
          </a:p>
          <a:p xmlns:a="http://schemas.openxmlformats.org/drawingml/2006/main">
            <a:r>
              <a:t>TCP для потокового сокета IPv4. SOCK_STREAM задает потоковую семантику. В семействе IPv4 при protocol=0 для этого типа выбирается TCP.</a:t>
            </a:r>
          </a:p>
          <a:p xmlns:a="http://schemas.openxmlformats.org/drawingml/2006/main">
            <a:r>
              <a:t/>
            </a:r>
          </a:p>
          <a:p xmlns:a="http://schemas.openxmlformats.org/drawingml/2006/main">
            <a:r>
              <a:t>Почему ошибочные ответы неверны: UDP с автоматическим повтором потерянных сообщений. В этом сочетании потоковый транспорт TCP, а не UDP. Отсутствие транспортного протокола. Ноль означает выбор подходящего протокола по умолчанию.</a:t>
            </a:r>
          </a:p>
          <a:p xmlns:a="http://schemas.openxmlformats.org/drawingml/2006/main">
            <a:r>
              <a:t/>
            </a:r>
          </a:p>
          <a:p xmlns:a="http://schemas.openxmlformats.org/drawingml/2006/main">
            <a:r>
              <a:t>Для устного ответа: Что нужно изменить в socket для обычного UDP?</a:t>
            </a:r>
          </a:p>
          <a:p xmlns:a="http://schemas.openxmlformats.org/drawingml/2006/main">
            <a:r>
              <a:t/>
            </a:r>
          </a:p>
          <a:p xmlns:a="http://schemas.openxmlformats.org/drawingml/2006/main">
            <a:r>
              <a:t>Исходник: src/server/poll_server.cpp, строки 55-79.</a:t>
            </a:r>
          </a:p>
          <a:p xmlns:a="http://schemas.openxmlformats.org/drawingml/2006/main">
            <a:r>
              <a:t/>
            </a:r>
          </a:p>
          <a:p xmlns:a="http://schemas.openxmlformats.org/drawingml/2006/main">
            <a:r>
              <a:t>Справка API: https://www.man7.org/linux/man-pages/man2/socket.2.html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Что TCP предоставляет приложению?</a:t>
            </a:r>
          </a:p>
          <a:p xmlns:a="http://schemas.openxmlformats.org/drawingml/2006/main">
            <a:r>
              <a:t/>
            </a:r>
          </a:p>
          <a:p xmlns:a="http://schemas.openxmlformats.org/drawingml/2006/main">
            <a:r>
              <a:t>Упорядоченный поток байтов без границ прикладных сообщений. TCP сохраняет порядок байтов и обеспечивает транспортную надежность, но соединение может оборваться. Программа сама выделяет строки и подтверждает выполнение ответом OK.</a:t>
            </a:r>
          </a:p>
          <a:p xmlns:a="http://schemas.openxmlformats.org/drawingml/2006/main">
            <a:r>
              <a:t/>
            </a:r>
          </a:p>
          <a:p xmlns:a="http://schemas.openxmlformats.org/drawingml/2006/main">
            <a:r>
              <a:t>Почему ошибочные ответы неверны: Отдельное сообщение на каждый вызов send. Один send может быть прочитан несколькими recv, и наоборот. Гарантированное выполнение команды на сервере после send. Успешная отправка не доказывает прикладное выполнение.</a:t>
            </a:r>
          </a:p>
          <a:p xmlns:a="http://schemas.openxmlformats.org/drawingml/2006/main">
            <a:r>
              <a:t/>
            </a:r>
          </a:p>
          <a:p xmlns:a="http://schemas.openxmlformats.org/drawingml/2006/main">
            <a:r>
              <a:t>Для устного ответа: Почему TCP не заменяет символ конца команды?</a:t>
            </a:r>
          </a:p>
          <a:p xmlns:a="http://schemas.openxmlformats.org/drawingml/2006/main">
            <a:r>
              <a:t/>
            </a:r>
          </a:p>
          <a:p xmlns:a="http://schemas.openxmlformats.org/drawingml/2006/main">
            <a:r>
              <a:t>Исходник: src/server/poll_server.cpp, строки 193-207.</a:t>
            </a:r>
          </a:p>
          <a:p xmlns:a="http://schemas.openxmlformats.org/drawingml/2006/main">
            <a:r>
              <a:t/>
            </a:r>
          </a:p>
          <a:p xmlns:a="http://schemas.openxmlformats.org/drawingml/2006/main">
            <a:r>
              <a:t>Чем UDP принципиально отличается от TCP для прикладного кода?</a:t>
            </a:r>
          </a:p>
          <a:p xmlns:a="http://schemas.openxmlformats.org/drawingml/2006/main">
            <a:r>
              <a:t/>
            </a:r>
          </a:p>
          <a:p xmlns:a="http://schemas.openxmlformats.org/drawingml/2006/main">
            <a:r>
              <a:t>Сохраняет границы датаграмм, но не гарантирует доставку и порядок. При UDP приложение получает отдельные датаграммы. Если нужны подтверждения, повторы и порядок, эти правила придется проектировать отдельно.</a:t>
            </a:r>
          </a:p>
          <a:p xmlns:a="http://schemas.openxmlformats.org/drawingml/2006/main">
            <a:r>
              <a:t/>
            </a:r>
          </a:p>
          <a:p xmlns:a="http://schemas.openxmlformats.org/drawingml/2006/main">
            <a:r>
              <a:t>Почему ошибочные ответы неверны: Всегда доставляет быстрее и без потерь. Скорость зависит от условий, а гарантии доставки у UDP отсутствуют. Требует listen и accept для каждого отправителя. Обычный обмен датаграммами не требует приема соединений через accept.</a:t>
            </a:r>
          </a:p>
          <a:p xmlns:a="http://schemas.openxmlformats.org/drawingml/2006/main">
            <a:r>
              <a:t/>
            </a:r>
          </a:p>
          <a:p xmlns:a="http://schemas.openxmlformats.org/drawingml/2006/main">
            <a:r>
              <a:t>Для устного ответа: Что добавится в протокол калькулятора при переходе на UDP?</a:t>
            </a:r>
          </a:p>
          <a:p xmlns:a="http://schemas.openxmlformats.org/drawingml/2006/main">
            <a:r>
              <a:t/>
            </a:r>
          </a:p>
          <a:p xmlns:a="http://schemas.openxmlformats.org/drawingml/2006/main">
            <a:r>
              <a:t>Исходник: src/server/poll_server.cpp, строки 55-79.</a:t>
            </a:r>
          </a:p>
          <a:p xmlns:a="http://schemas.openxmlformats.org/drawingml/2006/main">
            <a:r>
              <a:t/>
            </a:r>
          </a:p>
          <a:p xmlns:a="http://schemas.openxmlformats.org/drawingml/2006/main">
            <a:r>
              <a:t>Справка API: https://www.man7.org/linux/man-pages/man2/socket.2.html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Может ли один recv получить две отправленные команды?</a:t>
            </a:r>
          </a:p>
          <a:p xmlns:a="http://schemas.openxmlformats.org/drawingml/2006/main">
            <a:r>
              <a:t/>
            </a:r>
          </a:p>
          <a:p xmlns:a="http://schemas.openxmlformats.org/drawingml/2006/main">
            <a:r>
              <a:t>Да, если их байты уже доступны в потоке. Например, CMD show\nCMD calc 2+2\n может прийти одним фрагментом. process_lines извлекает строки циклом, оставляя неполный хвост.</a:t>
            </a:r>
          </a:p>
          <a:p xmlns:a="http://schemas.openxmlformats.org/drawingml/2006/main">
            <a:r>
              <a:t/>
            </a:r>
          </a:p>
          <a:p xmlns:a="http://schemas.openxmlformats.org/drawingml/2006/main">
            <a:r>
              <a:t>Почему ошибочные ответы неверны: Нет, число recv всегда совпадает с числом send. TCP не сохраняет границы вызовов send. Только если отключена надежность TCP. Это нормальная семантика надежного потока.</a:t>
            </a:r>
          </a:p>
          <a:p xmlns:a="http://schemas.openxmlformats.org/drawingml/2006/main">
            <a:r>
              <a:t/>
            </a:r>
          </a:p>
          <a:p xmlns:a="http://schemas.openxmlformats.org/drawingml/2006/main">
            <a:r>
              <a:t>Для устного ответа: Покажи разбор двух строк и половины третьей.</a:t>
            </a:r>
          </a:p>
          <a:p xmlns:a="http://schemas.openxmlformats.org/drawingml/2006/main">
            <a:r>
              <a:t/>
            </a:r>
          </a:p>
          <a:p xmlns:a="http://schemas.openxmlformats.org/drawingml/2006/main">
            <a:r>
              <a:t>Исходник: src/server/poll_server.cpp, строки 193-207.</a:t>
            </a:r>
          </a:p>
          <a:p xmlns:a="http://schemas.openxmlformats.org/drawingml/2006/main">
            <a:r>
              <a:t/>
            </a:r>
          </a:p>
          <a:p xmlns:a="http://schemas.openxmlformats.org/drawingml/2006/main">
            <a:r>
              <a:t>Может ли один запрос прийти в нескольких recv?</a:t>
            </a:r>
          </a:p>
          <a:p xmlns:a="http://schemas.openxmlformats.org/drawingml/2006/main">
            <a:r>
              <a:t/>
            </a:r>
          </a:p>
          <a:p xmlns:a="http://schemas.openxmlformats.org/drawingml/2006/main">
            <a:r>
              <a:t>Да, поэтому сервер накапливает данные до перевода строки. Даже короткая строка может быть получена частями. Обработчик должен хранить незавершенный фрагмент между событиями.</a:t>
            </a:r>
          </a:p>
          <a:p xmlns:a="http://schemas.openxmlformats.org/drawingml/2006/main">
            <a:r>
              <a:t/>
            </a:r>
          </a:p>
          <a:p xmlns:a="http://schemas.openxmlformats.org/drawingml/2006/main">
            <a:r>
              <a:t>Почему ошибочные ответы неверны: Нет, если длина запроса меньше 4096 байт. Размер буфера не гарантирует разовую доставку всех байтов. Нет, если клиент вызвал send только один раз. Разделение на recv не зависит напрямую от границ send.</a:t>
            </a:r>
          </a:p>
          <a:p xmlns:a="http://schemas.openxmlformats.org/drawingml/2006/main">
            <a:r>
              <a:t/>
            </a:r>
          </a:p>
          <a:p xmlns:a="http://schemas.openxmlformats.org/drawingml/2006/main">
            <a:r>
              <a:t>Для устного ответа: Что произойдет после приема HEL, затем LO student\n?</a:t>
            </a:r>
          </a:p>
          <a:p xmlns:a="http://schemas.openxmlformats.org/drawingml/2006/main">
            <a:r>
              <a:t/>
            </a:r>
          </a:p>
          <a:p xmlns:a="http://schemas.openxmlformats.org/drawingml/2006/main">
            <a:r>
              <a:t>Исходник: src/server/poll_server.cpp, строки 136-163.</a:t>
            </a:r>
          </a:p>
          <a:p xmlns:a="http://schemas.openxmlformats.org/drawingml/2006/main">
            <a:r>
              <a:t/>
            </a:r>
          </a:p>
          <a:p xmlns:a="http://schemas.openxmlformats.org/drawingml/2006/main">
            <a:r>
              <a:t>Справка API: https://www.man7.org/linux/man-pages/man2/socket.2.html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Что означает двунаправленность TCP-соединения?</a:t>
            </a:r>
          </a:p>
          <a:p xmlns:a="http://schemas.openxmlformats.org/drawingml/2006/main">
            <a:r>
              <a:t/>
            </a:r>
          </a:p>
          <a:p xmlns:a="http://schemas.openxmlformats.org/drawingml/2006/main">
            <a:r>
              <a:t>Оба участника могут отправлять и принимать данные. Клиентский запрос и серверный ответ идут через одну пару соединенных сокетов. Прикладная схема запрос-ответ ограничивает порядок действий дополнительно.</a:t>
            </a:r>
          </a:p>
          <a:p xmlns:a="http://schemas.openxmlformats.org/drawingml/2006/main">
            <a:r>
              <a:t/>
            </a:r>
          </a:p>
          <a:p xmlns:a="http://schemas.openxmlformats.org/drawingml/2006/main">
            <a:r>
              <a:t>Почему ошибочные ответы неверны: Каждый ответ должен идти через новое соединение. Одно установленное соединение используется в обе стороны. Серверу не нужен accept, если он только отвечает. Направление данных не отменяет установление соединения.</a:t>
            </a:r>
          </a:p>
          <a:p xmlns:a="http://schemas.openxmlformats.org/drawingml/2006/main">
            <a:r>
              <a:t/>
            </a:r>
          </a:p>
          <a:p xmlns:a="http://schemas.openxmlformats.org/drawingml/2006/main">
            <a:r>
              <a:t>Для устного ответа: Чем двунаправленность транспорта отличается от синхронности клиента?</a:t>
            </a:r>
          </a:p>
          <a:p xmlns:a="http://schemas.openxmlformats.org/drawingml/2006/main">
            <a:r>
              <a:t/>
            </a:r>
          </a:p>
          <a:p xmlns:a="http://schemas.openxmlformats.org/drawingml/2006/main">
            <a:r>
              <a:t>Исходник: src/client/console_client.cpp, строки 114-117.</a:t>
            </a:r>
          </a:p>
          <a:p xmlns:a="http://schemas.openxmlformats.org/drawingml/2006/main">
            <a:r>
              <a:t/>
            </a:r>
          </a:p>
          <a:p xmlns:a="http://schemas.openxmlformats.org/drawingml/2006/main">
            <a:r>
              <a:t>Нужно ли TCP передавать C++-тип long long вместе с каждым байтом?</a:t>
            </a:r>
          </a:p>
          <a:p xmlns:a="http://schemas.openxmlformats.org/drawingml/2006/main">
            <a:r>
              <a:t/>
            </a:r>
          </a:p>
          <a:p xmlns:a="http://schemas.openxmlformats.org/drawingml/2006/main">
            <a:r>
              <a:t>Нет, здесь число сначала превращается в текст прикладного протокола. std::to_string создает текст результата. Клиент получает последовательность байтов UTF-8. Смысл этих байтов задают правила протокола.</a:t>
            </a:r>
          </a:p>
          <a:p xmlns:a="http://schemas.openxmlformats.org/drawingml/2006/main">
            <a:r>
              <a:t/>
            </a:r>
          </a:p>
          <a:p xmlns:a="http://schemas.openxmlformats.org/drawingml/2006/main">
            <a:r>
              <a:t>Почему ошибочные ответы неверны: Да, recv восстанавливает исходный C++-тип автоматически. recv принимает байты и не знает C++-тип отправителя. Да, все числа передаются как адреса объектов в памяти. Адрес одного процесса не обозначает объект в другом.</a:t>
            </a:r>
          </a:p>
          <a:p xmlns:a="http://schemas.openxmlformats.org/drawingml/2006/main">
            <a:r>
              <a:t/>
            </a:r>
          </a:p>
          <a:p xmlns:a="http://schemas.openxmlformats.org/drawingml/2006/main">
            <a:r>
              <a:t>Для устного ответа: Как отличались бы текстовая и бинарная передача числа 123?</a:t>
            </a:r>
          </a:p>
          <a:p xmlns:a="http://schemas.openxmlformats.org/drawingml/2006/main">
            <a:r>
              <a:t/>
            </a:r>
          </a:p>
          <a:p xmlns:a="http://schemas.openxmlformats.org/drawingml/2006/main">
            <a:r>
              <a:t>Исходник: src/model/calculator.cpp, строки 223-277.</a:t>
            </a:r>
          </a:p>
          <a:p xmlns:a="http://schemas.openxmlformats.org/drawingml/2006/main">
            <a:r>
              <a:t/>
            </a:r>
          </a:p>
          <a:p xmlns:a="http://schemas.openxmlformats.org/drawingml/2006/main">
            <a:r>
              <a:t>Справка API: https://www.man7.org/linux/man-pages/man2/socket.2.html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 чего состоит адрес IPv4-сокета для TCP?</a:t>
            </a:r>
          </a:p>
          <a:p xmlns:a="http://schemas.openxmlformats.org/drawingml/2006/main">
            <a:r>
              <a:t/>
            </a:r>
          </a:p>
          <a:p xmlns:a="http://schemas.openxmlformats.org/drawingml/2006/main">
            <a:r>
              <a:t>Семейство адресов, IPv4-адрес и номер порта. sockaddr_in хранит sin_family, sin_addr и sin_port. IP определяет сетевой адрес, порт помогает выбрать конечную точку транспортного обмена.</a:t>
            </a:r>
          </a:p>
          <a:p xmlns:a="http://schemas.openxmlformats.org/drawingml/2006/main">
            <a:r>
              <a:t/>
            </a:r>
          </a:p>
          <a:p xmlns:a="http://schemas.openxmlformats.org/drawingml/2006/main">
            <a:r>
              <a:t>Почему ошибочные ответы неверны: Из дескриптора и имени переменной пользователя. Дескриптор локален процессу, имя пользователя относится к протоколу. Только из IP-адреса, порт нужен лишь для UDP. Порт используется и TCP, чтобы различать службы.</a:t>
            </a:r>
          </a:p>
          <a:p xmlns:a="http://schemas.openxmlformats.org/drawingml/2006/main">
            <a:r>
              <a:t/>
            </a:r>
          </a:p>
          <a:p xmlns:a="http://schemas.openxmlformats.org/drawingml/2006/main">
            <a:r>
              <a:t>Для устного ответа: Почему на одном IP могут работать несколько серверов?</a:t>
            </a:r>
          </a:p>
          <a:p xmlns:a="http://schemas.openxmlformats.org/drawingml/2006/main">
            <a:r>
              <a:t/>
            </a:r>
          </a:p>
          <a:p xmlns:a="http://schemas.openxmlformats.org/drawingml/2006/main">
            <a:r>
              <a:t>Исходник: src/server/poll_server.cpp, строки 55-79.</a:t>
            </a:r>
          </a:p>
          <a:p xmlns:a="http://schemas.openxmlformats.org/drawingml/2006/main">
            <a:r>
              <a:t/>
            </a:r>
          </a:p>
          <a:p xmlns:a="http://schemas.openxmlformats.org/drawingml/2006/main">
            <a:r>
              <a:t>Что означает INADDR_ANY при bind сервера?</a:t>
            </a:r>
          </a:p>
          <a:p xmlns:a="http://schemas.openxmlformats.org/drawingml/2006/main">
            <a:r>
              <a:t/>
            </a:r>
          </a:p>
          <a:p xmlns:a="http://schemas.openxmlformats.org/drawingml/2006/main">
            <a:r>
              <a:t>Привязку ко всем подходящим локальным IPv4-интерфейсам. Сервер не выбирает один конкретный локальный IPv4-адрес. Доступ извне все равно зависит от маршрута и настроек сети.</a:t>
            </a:r>
          </a:p>
          <a:p xmlns:a="http://schemas.openxmlformats.org/drawingml/2006/main">
            <a:r>
              <a:t/>
            </a:r>
          </a:p>
          <a:p xmlns:a="http://schemas.openxmlformats.org/drawingml/2006/main">
            <a:r>
              <a:t>Почему ошибочные ответы неверны: Адрес, который любой клиент должен указать для подключения. Клиенту нужен достижимый адрес компьютера сервера. Разрешение любому сокету занять тот же порт. Это не настройка совместного использования порта.</a:t>
            </a:r>
          </a:p>
          <a:p xmlns:a="http://schemas.openxmlformats.org/drawingml/2006/main">
            <a:r>
              <a:t/>
            </a:r>
          </a:p>
          <a:p xmlns:a="http://schemas.openxmlformats.org/drawingml/2006/main">
            <a:r>
              <a:t>Для устного ответа: Какой адрес указать клиенту с другого компьютера?</a:t>
            </a:r>
          </a:p>
          <a:p xmlns:a="http://schemas.openxmlformats.org/drawingml/2006/main">
            <a:r>
              <a:t/>
            </a:r>
          </a:p>
          <a:p xmlns:a="http://schemas.openxmlformats.org/drawingml/2006/main">
            <a:r>
              <a:t>Исходник: src/server/poll_server.cpp, строки 55-79.</a:t>
            </a:r>
          </a:p>
          <a:p xmlns:a="http://schemas.openxmlformats.org/drawingml/2006/main">
            <a:r>
              <a:t/>
            </a:r>
          </a:p>
          <a:p xmlns:a="http://schemas.openxmlformats.org/drawingml/2006/main">
            <a:r>
              <a:t>Справка API: https://www.man7.org/linux/man-pages/man3/getaddrinfo.3.html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Куда ведет адрес 127.0.0.1 на клиентском компьютере?</a:t>
            </a:r>
          </a:p>
          <a:p xmlns:a="http://schemas.openxmlformats.org/drawingml/2006/main">
            <a:r>
              <a:t/>
            </a:r>
          </a:p>
          <a:p xmlns:a="http://schemas.openxmlformats.org/drawingml/2006/main">
            <a:r>
              <a:t>На этот же компьютер через loopback. Если сервер находится на другом компьютере, 127.0.0.1 у клиента указывает не туда. Нужно использовать достижимый IP сервера.</a:t>
            </a:r>
          </a:p>
          <a:p xmlns:a="http://schemas.openxmlformats.org/drawingml/2006/main">
            <a:r>
              <a:t/>
            </a:r>
          </a:p>
          <a:p xmlns:a="http://schemas.openxmlformats.org/drawingml/2006/main">
            <a:r>
              <a:t>Почему ошибочные ответы неверны: На любой сервер в локальной сети. Loopback не адресует соседний компьютер. На компьютер, который первым открыл порт 4040. Выбор адресата не определяется порядком запуска.</a:t>
            </a:r>
          </a:p>
          <a:p xmlns:a="http://schemas.openxmlformats.org/drawingml/2006/main">
            <a:r>
              <a:t/>
            </a:r>
          </a:p>
          <a:p xmlns:a="http://schemas.openxmlformats.org/drawingml/2006/main">
            <a:r>
              <a:t>Для устного ответа: Почему локальный запуск успешен, а второй компьютер не подключается?</a:t>
            </a:r>
          </a:p>
          <a:p xmlns:a="http://schemas.openxmlformats.org/drawingml/2006/main">
            <a:r>
              <a:t/>
            </a:r>
          </a:p>
          <a:p xmlns:a="http://schemas.openxmlformats.org/drawingml/2006/main">
            <a:r>
              <a:t>Исходник: src/client/console_client.cpp, строки 46-74.</a:t>
            </a:r>
          </a:p>
          <a:p xmlns:a="http://schemas.openxmlformats.org/drawingml/2006/main">
            <a:r>
              <a:t/>
            </a:r>
          </a:p>
          <a:p xmlns:a="http://schemas.openxmlformats.org/drawingml/2006/main">
            <a:r>
              <a:t>Зачем сервер вызывает htons(port)?</a:t>
            </a:r>
          </a:p>
          <a:p xmlns:a="http://schemas.openxmlformats.org/drawingml/2006/main">
            <a:r>
              <a:t/>
            </a:r>
          </a:p>
          <a:p xmlns:a="http://schemas.openxmlformats.org/drawingml/2006/main">
            <a:r>
              <a:t>Чтобы представить 16-битный порт в сетевом порядке байтов. Сетевой порядок байтов - big-endian. htons переводит представление из порядка хоста в сетевой. На подходящей архитектуре значение битов может не измениться.</a:t>
            </a:r>
          </a:p>
          <a:p xmlns:a="http://schemas.openxmlformats.org/drawingml/2006/main">
            <a:r>
              <a:t/>
            </a:r>
          </a:p>
          <a:p xmlns:a="http://schemas.openxmlformats.org/drawingml/2006/main">
            <a:r>
              <a:t>Почему ошибочные ответы неверны: Чтобы преобразовать порт в десятичную строку. htons работает с числом, а не создает строку. Чтобы зарезервировать порт в операционной системе. Резервирование адреса выполняет bind.</a:t>
            </a:r>
          </a:p>
          <a:p xmlns:a="http://schemas.openxmlformats.org/drawingml/2006/main">
            <a:r>
              <a:t/>
            </a:r>
          </a:p>
          <a:p xmlns:a="http://schemas.openxmlformats.org/drawingml/2006/main">
            <a:r>
              <a:t>Для устного ответа: Что означает каждая буква в htons?</a:t>
            </a:r>
          </a:p>
          <a:p xmlns:a="http://schemas.openxmlformats.org/drawingml/2006/main">
            <a:r>
              <a:t/>
            </a:r>
          </a:p>
          <a:p xmlns:a="http://schemas.openxmlformats.org/drawingml/2006/main">
            <a:r>
              <a:t>Исходник: src/server/poll_server.cpp, строки 55-79.</a:t>
            </a:r>
          </a:p>
          <a:p xmlns:a="http://schemas.openxmlformats.org/drawingml/2006/main">
            <a:r>
              <a:t/>
            </a:r>
          </a:p>
          <a:p xmlns:a="http://schemas.openxmlformats.org/drawingml/2006/main">
            <a:r>
              <a:t>Справка API: https://www.man7.org/linux/man-pages/man3/getaddrinfo.3.html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Когда нужен ntohs?</a:t>
            </a:r>
          </a:p>
          <a:p xmlns:a="http://schemas.openxmlformats.org/drawingml/2006/main">
            <a:r>
              <a:t/>
            </a:r>
          </a:p>
          <a:p xmlns:a="http://schemas.openxmlformats.org/drawingml/2006/main">
            <a:r>
              <a:t>Когда сетевое 16-битное значение нужно интерпретировать как число хоста. Например, sin_port после getsockname или accept хранится в сетевом порядке. Для числового вывода порта используют ntohs.</a:t>
            </a:r>
          </a:p>
          <a:p xmlns:a="http://schemas.openxmlformats.org/drawingml/2006/main">
            <a:r>
              <a:t/>
            </a:r>
          </a:p>
          <a:p xmlns:a="http://schemas.openxmlformats.org/drawingml/2006/main">
            <a:r>
              <a:t>Почему ошибочные ответы неверны: Перед любой отправкой текстового запроса. К тексту команды htons/ntohs не применяют. Для освобождения адресной структуры. Преобразование порядка байтов ничего не освобождает.</a:t>
            </a:r>
          </a:p>
          <a:p xmlns:a="http://schemas.openxmlformats.org/drawingml/2006/main">
            <a:r>
              <a:t/>
            </a:r>
          </a:p>
          <a:p xmlns:a="http://schemas.openxmlformats.org/drawingml/2006/main">
            <a:r>
              <a:t>Для устного ответа: Нужно ли применять ntohs к строке "4040"?</a:t>
            </a:r>
          </a:p>
          <a:p xmlns:a="http://schemas.openxmlformats.org/drawingml/2006/main">
            <a:r>
              <a:t/>
            </a:r>
          </a:p>
          <a:p xmlns:a="http://schemas.openxmlformats.org/drawingml/2006/main">
            <a:r>
              <a:t>Исходник: src/server/poll_server.cpp, строки 115-134.</a:t>
            </a:r>
          </a:p>
          <a:p xmlns:a="http://schemas.openxmlformats.org/drawingml/2006/main">
            <a:r>
              <a:t/>
            </a:r>
          </a:p>
          <a:p xmlns:a="http://schemas.openxmlformats.org/drawingml/2006/main">
            <a:r>
              <a:t>Для чего используется getaddrinfo у клиента?</a:t>
            </a:r>
          </a:p>
          <a:p xmlns:a="http://schemas.openxmlformats.org/drawingml/2006/main">
            <a:r>
              <a:t/>
            </a:r>
          </a:p>
          <a:p xmlns:a="http://schemas.openxmlformats.org/drawingml/2006/main">
            <a:r>
              <a:t>Для получения списка подходящих адресов по имени узла и строке службы или порта. Результат содержит семейство, тип, протокол и адрес. Клиент перебирает кандидатов, создавая сокет и пробуя connect для каждого.</a:t>
            </a:r>
          </a:p>
          <a:p xmlns:a="http://schemas.openxmlformats.org/drawingml/2006/main">
            <a:r>
              <a:t/>
            </a:r>
          </a:p>
          <a:p xmlns:a="http://schemas.openxmlformats.org/drawingml/2006/main">
            <a:r>
              <a:t>Почему ошибочные ответы неверны: Для принятия входящего соединения. Соединения принимает accept на сервере. Для немедленной отправки HELLO. getaddrinfo только подготавливает адреса.</a:t>
            </a:r>
          </a:p>
          <a:p xmlns:a="http://schemas.openxmlformats.org/drawingml/2006/main">
            <a:r>
              <a:t/>
            </a:r>
          </a:p>
          <a:p xmlns:a="http://schemas.openxmlformats.org/drawingml/2006/main">
            <a:r>
              <a:t>Для устного ответа: Почему результат представляет список, а не один адрес?</a:t>
            </a:r>
          </a:p>
          <a:p xmlns:a="http://schemas.openxmlformats.org/drawingml/2006/main">
            <a:r>
              <a:t/>
            </a:r>
          </a:p>
          <a:p xmlns:a="http://schemas.openxmlformats.org/drawingml/2006/main">
            <a:r>
              <a:t>Исходник: src/client/console_client.cpp, строки 46-74.</a:t>
            </a:r>
          </a:p>
          <a:p xmlns:a="http://schemas.openxmlformats.org/drawingml/2006/main">
            <a:r>
              <a:t/>
            </a:r>
          </a:p>
          <a:p xmlns:a="http://schemas.openxmlformats.org/drawingml/2006/main">
            <a:r>
              <a:t>Справка API: https://www.man7.org/linux/man-pages/man3/getaddrinfo.3.html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Что задает AF_UNSPEC в hints клиента?</a:t>
            </a:r>
          </a:p>
          <a:p xmlns:a="http://schemas.openxmlformats.org/drawingml/2006/main">
            <a:r>
              <a:t/>
            </a:r>
          </a:p>
          <a:p xmlns:a="http://schemas.openxmlformats.org/drawingml/2006/main">
            <a:r>
              <a:t>Разрешает getaddrinfo вернуть адреса разных поддерживаемых семейств. Клиент не ограничивает поиск одним семейством. При этом этот сервер создает только IPv4-сокет, поэтому не каждый кандидат подойдет.</a:t>
            </a:r>
          </a:p>
          <a:p xmlns:a="http://schemas.openxmlformats.org/drawingml/2006/main">
            <a:r>
              <a:t/>
            </a:r>
          </a:p>
          <a:p xmlns:a="http://schemas.openxmlformats.org/drawingml/2006/main">
            <a:r>
              <a:t>Почему ошибочные ответы неверны: Гарантирует, что сервер слушает и IPv4, и IPv6. Возможности сервера определяются его собственным socket и bind. Запрещает DNS и принимает только числовой IP. AF_UNSPEC не означает запрет разрешения имени.</a:t>
            </a:r>
          </a:p>
          <a:p xmlns:a="http://schemas.openxmlformats.org/drawingml/2006/main">
            <a:r>
              <a:t/>
            </a:r>
          </a:p>
          <a:p xmlns:a="http://schemas.openxmlformats.org/drawingml/2006/main">
            <a:r>
              <a:t>Для устного ответа: Почему localhost может разрешаться в несколько адресов?</a:t>
            </a:r>
          </a:p>
          <a:p xmlns:a="http://schemas.openxmlformats.org/drawingml/2006/main">
            <a:r>
              <a:t/>
            </a:r>
          </a:p>
          <a:p xmlns:a="http://schemas.openxmlformats.org/drawingml/2006/main">
            <a:r>
              <a:t>Исходник: src/client/console_client.cpp, строки 46-74.</a:t>
            </a:r>
          </a:p>
          <a:p xmlns:a="http://schemas.openxmlformats.org/drawingml/2006/main">
            <a:r>
              <a:t/>
            </a:r>
          </a:p>
          <a:p xmlns:a="http://schemas.openxmlformats.org/drawingml/2006/main">
            <a:r>
              <a:t>Зачем нужен freeaddrinfo(result)?</a:t>
            </a:r>
          </a:p>
          <a:p xmlns:a="http://schemas.openxmlformats.org/drawingml/2006/main">
            <a:r>
              <a:t/>
            </a:r>
          </a:p>
          <a:p xmlns:a="http://schemas.openxmlformats.org/drawingml/2006/main">
            <a:r>
              <a:t>Чтобы освободить список адресов, выделенный getaddrinfo. Список нужен только во время выбора адреса. После connect ядро уже знает конечную точку, поэтому список можно освободить.</a:t>
            </a:r>
          </a:p>
          <a:p xmlns:a="http://schemas.openxmlformats.org/drawingml/2006/main">
            <a:r>
              <a:t/>
            </a:r>
          </a:p>
          <a:p xmlns:a="http://schemas.openxmlformats.org/drawingml/2006/main">
            <a:r>
              <a:t>Почему ошибочные ответы неверны: Чтобы закрыть уже установленное TCP-соединение. Сокет закрывается через close, список адресов - отдельный ресурс. Чтобы убрать запись из DNS на сервере. Локальное освобождение памяти не меняет DNS.</a:t>
            </a:r>
          </a:p>
          <a:p xmlns:a="http://schemas.openxmlformats.org/drawingml/2006/main">
            <a:r>
              <a:t/>
            </a:r>
          </a:p>
          <a:p xmlns:a="http://schemas.openxmlformats.org/drawingml/2006/main">
            <a:r>
              <a:t>Для устного ответа: Почему нельзя использовать item после freeaddrinfo?</a:t>
            </a:r>
          </a:p>
          <a:p xmlns:a="http://schemas.openxmlformats.org/drawingml/2006/main">
            <a:r>
              <a:t/>
            </a:r>
          </a:p>
          <a:p xmlns:a="http://schemas.openxmlformats.org/drawingml/2006/main">
            <a:r>
              <a:t>Исходник: src/client/console_client.cpp, строки 46-74.</a:t>
            </a:r>
          </a:p>
          <a:p xmlns:a="http://schemas.openxmlformats.org/drawingml/2006/main">
            <a:r>
              <a:t/>
            </a:r>
          </a:p>
          <a:p xmlns:a="http://schemas.openxmlformats.org/drawingml/2006/main">
            <a:r>
              <a:t>Справка API: https://www.man7.org/linux/man-pages/man3/getaddrinfo.3.html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Почему sockaddr_in приводится к sockaddr*?</a:t>
            </a:r>
          </a:p>
          <a:p xmlns:a="http://schemas.openxmlformats.org/drawingml/2006/main">
            <a:r>
              <a:t/>
            </a:r>
          </a:p>
          <a:p xmlns:a="http://schemas.openxmlformats.org/drawingml/2006/main">
            <a:r>
              <a:t>Потому что общий API принимает указатель на адрес разных семейств. В памяти остается sockaddr_in. Семейство и длина сообщают API, как интерпретировать переданные байты. Тип указателя приводится к общему интерфейсу.</a:t>
            </a:r>
          </a:p>
          <a:p xmlns:a="http://schemas.openxmlformats.org/drawingml/2006/main">
            <a:r>
              <a:t/>
            </a:r>
          </a:p>
          <a:p xmlns:a="http://schemas.openxmlformats.org/drawingml/2006/main">
            <a:r>
              <a:t>Почему ошибочные ответы неверны: Чтобы превратить адрес IPv4 в IPv6. Приведение указателя не преобразует содержимое структуры. Чтобы скопировать структуру в новую область памяти. reinterpret_cast не выполняет копирование.</a:t>
            </a:r>
          </a:p>
          <a:p xmlns:a="http://schemas.openxmlformats.org/drawingml/2006/main">
            <a:r>
              <a:t/>
            </a:r>
          </a:p>
          <a:p xmlns:a="http://schemas.openxmlformats.org/drawingml/2006/main">
            <a:r>
              <a:t>Для устного ответа: Какие еще сведения кроме указателя передаются в bind?</a:t>
            </a:r>
          </a:p>
          <a:p xmlns:a="http://schemas.openxmlformats.org/drawingml/2006/main">
            <a:r>
              <a:t/>
            </a:r>
          </a:p>
          <a:p xmlns:a="http://schemas.openxmlformats.org/drawingml/2006/main">
            <a:r>
              <a:t>Исходник: src/server/poll_server.cpp, строки 55-79.</a:t>
            </a:r>
          </a:p>
          <a:p xmlns:a="http://schemas.openxmlformats.org/drawingml/2006/main">
            <a:r>
              <a:t/>
            </a:r>
          </a:p>
          <a:p xmlns:a="http://schemas.openxmlformats.org/drawingml/2006/main">
            <a:r>
              <a:t>Почему accept получает socklen_t*, а connect получает длину по значению?</a:t>
            </a:r>
          </a:p>
          <a:p xmlns:a="http://schemas.openxmlformats.org/drawingml/2006/main">
            <a:r>
              <a:t/>
            </a:r>
          </a:p>
          <a:p xmlns:a="http://schemas.openxmlformats.org/drawingml/2006/main">
            <a:r>
              <a:t>accept записывает адрес и его фактическую длину, connect только читает готовый адрес. Для accept длина является входным и выходным параметром: сначала вместимость буфера, затем размер записанного адреса. В лекции 4 на слайде 8 указан неверный тип третьего аргумента connect.</a:t>
            </a:r>
          </a:p>
          <a:p xmlns:a="http://schemas.openxmlformats.org/drawingml/2006/main">
            <a:r>
              <a:t/>
            </a:r>
          </a:p>
          <a:p xmlns:a="http://schemas.openxmlformats.org/drawingml/2006/main">
            <a:r>
              <a:t>Почему ошибочные ответы неверны: Потому что connect вообще не работает со структурами адреса. connect получает адрес и его длину. Потому что socklen_t хранит номер клиентского сокета. Это тип размера адресной структуры.</a:t>
            </a:r>
          </a:p>
          <a:p xmlns:a="http://schemas.openxmlformats.org/drawingml/2006/main">
            <a:r>
              <a:t/>
            </a:r>
          </a:p>
          <a:p xmlns:a="http://schemas.openxmlformats.org/drawingml/2006/main">
            <a:r>
              <a:t>Для устного ответа: Запиши обе сигнатуры и объясни различие третьего аргумента.</a:t>
            </a:r>
          </a:p>
          <a:p xmlns:a="http://schemas.openxmlformats.org/drawingml/2006/main">
            <a:r>
              <a:t/>
            </a:r>
          </a:p>
          <a:p xmlns:a="http://schemas.openxmlformats.org/drawingml/2006/main">
            <a:r>
              <a:t>Исходник: src/server/poll_server.cpp, строки 115-134.</a:t>
            </a:r>
          </a:p>
          <a:p xmlns:a="http://schemas.openxmlformats.org/drawingml/2006/main">
            <a:r>
              <a:t/>
            </a:r>
          </a:p>
          <a:p xmlns:a="http://schemas.openxmlformats.org/drawingml/2006/main">
            <a:r>
              <a:t>Справка API: https://www.man7.org/linux/man-pages/man3/getaddrinfo.3.html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Каков порядок подготовки слушающего сокета?</a:t>
            </a:r>
          </a:p>
          <a:p xmlns:a="http://schemas.openxmlformats.org/drawingml/2006/main">
            <a:r>
              <a:t/>
            </a:r>
          </a:p>
          <a:p xmlns:a="http://schemas.openxmlformats.org/drawingml/2006/main">
            <a:r>
              <a:t>socket, настройка адреса, bind, listen. socket создает объект, bind задает локальный адрес, listen включает прием соединений. Затем сервер ожидает готовность и вызывает accept.</a:t>
            </a:r>
          </a:p>
          <a:p xmlns:a="http://schemas.openxmlformats.org/drawingml/2006/main">
            <a:r>
              <a:t/>
            </a:r>
          </a:p>
          <a:p xmlns:a="http://schemas.openxmlformats.org/drawingml/2006/main">
            <a:r>
              <a:t>Почему ошибочные ответы неверны: socket, accept, bind, listen. accept возможен после перевода сокета в состояние прослушивания. connect, recv, listen. connect относится к активному установлению соединения клиентом.</a:t>
            </a:r>
          </a:p>
          <a:p xmlns:a="http://schemas.openxmlformats.org/drawingml/2006/main">
            <a:r>
              <a:t/>
            </a:r>
          </a:p>
          <a:p xmlns:a="http://schemas.openxmlformats.org/drawingml/2006/main">
            <a:r>
              <a:t>Для устного ответа: Назови результат и возможную ошибку каждого шага.</a:t>
            </a:r>
          </a:p>
          <a:p xmlns:a="http://schemas.openxmlformats.org/drawingml/2006/main">
            <a:r>
              <a:t/>
            </a:r>
          </a:p>
          <a:p xmlns:a="http://schemas.openxmlformats.org/drawingml/2006/main">
            <a:r>
              <a:t>Исходник: src/server/poll_server.cpp, строки 55-79.</a:t>
            </a:r>
          </a:p>
          <a:p xmlns:a="http://schemas.openxmlformats.org/drawingml/2006/main">
            <a:r>
              <a:t/>
            </a:r>
          </a:p>
          <a:p xmlns:a="http://schemas.openxmlformats.org/drawingml/2006/main">
            <a:r>
              <a:t>Что делает bind?</a:t>
            </a:r>
          </a:p>
          <a:p xmlns:a="http://schemas.openxmlformats.org/drawingml/2006/main">
            <a:r>
              <a:t/>
            </a:r>
          </a:p>
          <a:p xmlns:a="http://schemas.openxmlformats.org/drawingml/2006/main">
            <a:r>
              <a:t>Связывает сокет с локальным адресом и портом. Серверу нужен известный адрес, на который придут подключения. bind не означает, что соединение уже установлено или что запущено прослушивание.</a:t>
            </a:r>
          </a:p>
          <a:p xmlns:a="http://schemas.openxmlformats.org/drawingml/2006/main">
            <a:r>
              <a:t/>
            </a:r>
          </a:p>
          <a:p xmlns:a="http://schemas.openxmlformats.org/drawingml/2006/main">
            <a:r>
              <a:t>Почему ошибочные ответы неверны: Устанавливает TCP-соединение с удаленным сервером. Это назначение connect. Принимает команду калькулятора. Команда приходит через recv после установления соединения.</a:t>
            </a:r>
          </a:p>
          <a:p xmlns:a="http://schemas.openxmlformats.org/drawingml/2006/main">
            <a:r>
              <a:t/>
            </a:r>
          </a:p>
          <a:p xmlns:a="http://schemas.openxmlformats.org/drawingml/2006/main">
            <a:r>
              <a:t>Для устного ответа: Почему сервер делает bind, а этот клиент явно его не делает?</a:t>
            </a:r>
          </a:p>
          <a:p xmlns:a="http://schemas.openxmlformats.org/drawingml/2006/main">
            <a:r>
              <a:t/>
            </a:r>
          </a:p>
          <a:p xmlns:a="http://schemas.openxmlformats.org/drawingml/2006/main">
            <a:r>
              <a:t>Исходник: src/server/poll_server.cpp, строки 55-79.</a:t>
            </a:r>
          </a:p>
          <a:p xmlns:a="http://schemas.openxmlformats.org/drawingml/2006/main">
            <a:r>
              <a:t/>
            </a:r>
          </a:p>
          <a:p xmlns:a="http://schemas.openxmlformats.org/drawingml/2006/main">
            <a:r>
              <a:t>Справка API: https://www.man7.org/linux/man-pages/man2/accept.2.html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Что делает listen?</a:t>
            </a:r>
          </a:p>
          <a:p xmlns:a="http://schemas.openxmlformats.org/drawingml/2006/main">
            <a:r>
              <a:t/>
            </a:r>
          </a:p>
          <a:p xmlns:a="http://schemas.openxmlformats.org/drawingml/2006/main">
            <a:r>
              <a:t>Переводит сокет в пассивное состояние для приема соединений. Ядро начинает обслуживать очередь входящих соединений. Прикладная программа забирает готовые соединения вызовом accept.</a:t>
            </a:r>
          </a:p>
          <a:p xmlns:a="http://schemas.openxmlformats.org/drawingml/2006/main">
            <a:r>
              <a:t/>
            </a:r>
          </a:p>
          <a:p xmlns:a="http://schemas.openxmlformats.org/drawingml/2006/main">
            <a:r>
              <a:t>Почему ошибочные ответы неверны: Читает строку, присланную клиентом. Данные соединения читает recv на принятом сокете. Создает новый поток для каждого клиента. listen не запускает прикладные потоки.</a:t>
            </a:r>
          </a:p>
          <a:p xmlns:a="http://schemas.openxmlformats.org/drawingml/2006/main">
            <a:r>
              <a:t/>
            </a:r>
          </a:p>
          <a:p xmlns:a="http://schemas.openxmlformats.org/drawingml/2006/main">
            <a:r>
              <a:t>Для устного ответа: Чем очередь listen отличается от input клиента?</a:t>
            </a:r>
          </a:p>
          <a:p xmlns:a="http://schemas.openxmlformats.org/drawingml/2006/main">
            <a:r>
              <a:t/>
            </a:r>
          </a:p>
          <a:p xmlns:a="http://schemas.openxmlformats.org/drawingml/2006/main">
            <a:r>
              <a:t>Исходник: src/server/poll_server.cpp, строки 55-79.</a:t>
            </a:r>
          </a:p>
          <a:p xmlns:a="http://schemas.openxmlformats.org/drawingml/2006/main">
            <a:r>
              <a:t/>
            </a:r>
          </a:p>
          <a:p xmlns:a="http://schemas.openxmlformats.org/drawingml/2006/main">
            <a:r>
              <a:t>Что ограничивает параметр backlog у listen?</a:t>
            </a:r>
          </a:p>
          <a:p xmlns:a="http://schemas.openxmlformats.org/drawingml/2006/main">
            <a:r>
              <a:t/>
            </a:r>
          </a:p>
          <a:p xmlns:a="http://schemas.openxmlformats.org/drawingml/2006/main">
            <a:r>
              <a:t>Очередь ожидающих приема соединений с учетом ограничений ОС. SOMAXCONN не обещает бесконечную емкость. Очередь нужна на время между приходом соединения и его приемом приложением.</a:t>
            </a:r>
          </a:p>
          <a:p xmlns:a="http://schemas.openxmlformats.org/drawingml/2006/main">
            <a:r>
              <a:t/>
            </a:r>
          </a:p>
          <a:p xmlns:a="http://schemas.openxmlformats.org/drawingml/2006/main">
            <a:r>
              <a:t>Почему ошибочные ответы неверны: Общее число всех клиентов за время работы программы. Уже принятые соединения живут отдельно от очереди приема. Максимальную длину каждой команды в байтах. Длина строки регулируется прикладным протоколом.</a:t>
            </a:r>
          </a:p>
          <a:p xmlns:a="http://schemas.openxmlformats.org/drawingml/2006/main">
            <a:r>
              <a:t/>
            </a:r>
          </a:p>
          <a:p xmlns:a="http://schemas.openxmlformats.org/drawingml/2006/main">
            <a:r>
              <a:t>Для устного ответа: Почему большой backlog не заменяет быстрое обслуживание клиентов?</a:t>
            </a:r>
          </a:p>
          <a:p xmlns:a="http://schemas.openxmlformats.org/drawingml/2006/main">
            <a:r>
              <a:t/>
            </a:r>
          </a:p>
          <a:p xmlns:a="http://schemas.openxmlformats.org/drawingml/2006/main">
            <a:r>
              <a:t>Исходник: src/server/poll_server.cpp, строки 55-79.</a:t>
            </a:r>
          </a:p>
          <a:p xmlns:a="http://schemas.openxmlformats.org/drawingml/2006/main">
            <a:r>
              <a:t/>
            </a:r>
          </a:p>
          <a:p xmlns:a="http://schemas.openxmlformats.org/drawingml/2006/main">
            <a:r>
              <a:t>Справка API: https://www.man7.org/linux/man-pages/man2/accept.2.html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Что возвращает accept при успехе?</a:t>
            </a:r>
          </a:p>
          <a:p xmlns:a="http://schemas.openxmlformats.org/drawingml/2006/main">
            <a:r>
              <a:t/>
            </a:r>
          </a:p>
          <a:p xmlns:a="http://schemas.openxmlformats.org/drawingml/2006/main">
            <a:r>
              <a:t>Новый дескриптор соединенного с клиентом сокета. У сервера появляется отдельный fd для обмена с конкретным клиентом. _listen_fd остается в poll для новых подключений.</a:t>
            </a:r>
          </a:p>
          <a:p xmlns:a="http://schemas.openxmlformats.org/drawingml/2006/main">
            <a:r>
              <a:t/>
            </a:r>
          </a:p>
          <a:p xmlns:a="http://schemas.openxmlformats.org/drawingml/2006/main">
            <a:r>
              <a:t>Почему ошибочные ответы неверны: Тот же слушающий дескриптор, заменив его режим. Слушающий сокет продолжает принимать другие соединения. Количество ожидающих команд клиента. accept относится к соединениям, а не к командам.</a:t>
            </a:r>
          </a:p>
          <a:p xmlns:a="http://schemas.openxmlformats.org/drawingml/2006/main">
            <a:r>
              <a:t/>
            </a:r>
          </a:p>
          <a:p xmlns:a="http://schemas.openxmlformats.org/drawingml/2006/main">
            <a:r>
              <a:t>Для устного ответа: Каким fd отправляют приветствие и почему?</a:t>
            </a:r>
          </a:p>
          <a:p xmlns:a="http://schemas.openxmlformats.org/drawingml/2006/main">
            <a:r>
              <a:t/>
            </a:r>
          </a:p>
          <a:p xmlns:a="http://schemas.openxmlformats.org/drawingml/2006/main">
            <a:r>
              <a:t>Исходник: src/server/poll_server.cpp, строки 115-134.</a:t>
            </a:r>
          </a:p>
          <a:p xmlns:a="http://schemas.openxmlformats.org/drawingml/2006/main">
            <a:r>
              <a:t/>
            </a:r>
          </a:p>
          <a:p xmlns:a="http://schemas.openxmlformats.org/drawingml/2006/main">
            <a:r>
              <a:t>Зачем слушающий сокет остается открытым после accept?</a:t>
            </a:r>
          </a:p>
          <a:p xmlns:a="http://schemas.openxmlformats.org/drawingml/2006/main">
            <a:r>
              <a:t/>
            </a:r>
          </a:p>
          <a:p xmlns:a="http://schemas.openxmlformats.org/drawingml/2006/main">
            <a:r>
              <a:t>Чтобы принимать следующие соединения. Принятый сокет обслуживает одну TCP-связь, слушающий - очередь новых связей. Закрытие слушающего fd прекращает возможность приема новых клиентов.</a:t>
            </a:r>
          </a:p>
          <a:p xmlns:a="http://schemas.openxmlformats.org/drawingml/2006/main">
            <a:r>
              <a:t/>
            </a:r>
          </a:p>
          <a:p xmlns:a="http://schemas.openxmlformats.org/drawingml/2006/main">
            <a:r>
              <a:t>Почему ошибочные ответы неверны: Чтобы пересылать через него все ответы клиентам. Ответы отправляют по отдельным принятым сокетам. Чтобы хранить пароль текущего пользователя. Сокет не хранит прикладной пароль, которого здесь вообще нет.</a:t>
            </a:r>
          </a:p>
          <a:p xmlns:a="http://schemas.openxmlformats.org/drawingml/2006/main">
            <a:r>
              <a:t/>
            </a:r>
          </a:p>
          <a:p xmlns:a="http://schemas.openxmlformats.org/drawingml/2006/main">
            <a:r>
              <a:t>Для устного ответа: Что останется возможным, если закрыть только слушающий сокет?</a:t>
            </a:r>
          </a:p>
          <a:p xmlns:a="http://schemas.openxmlformats.org/drawingml/2006/main">
            <a:r>
              <a:t/>
            </a:r>
          </a:p>
          <a:p xmlns:a="http://schemas.openxmlformats.org/drawingml/2006/main">
            <a:r>
              <a:t>Исходник: src/server/poll_server.cpp, строки 115-134.</a:t>
            </a:r>
          </a:p>
          <a:p xmlns:a="http://schemas.openxmlformats.org/drawingml/2006/main">
            <a:r>
              <a:t/>
            </a:r>
          </a:p>
          <a:p xmlns:a="http://schemas.openxmlformats.org/drawingml/2006/main">
            <a:r>
              <a:t>Справка API: https://www.man7.org/linux/man-pages/man2/accept.2.html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Что означает успешный connect у блокирующего клиента?</a:t>
            </a:r>
          </a:p>
          <a:p xmlns:a="http://schemas.openxmlformats.org/drawingml/2006/main">
            <a:r>
              <a:t/>
            </a:r>
          </a:p>
          <a:p xmlns:a="http://schemas.openxmlformats.org/drawingml/2006/main">
            <a:r>
              <a:t>Соединение установлено, можно обмениваться байтами. Транспортное соединение и прикладное приветствие - два уровня. После connect клиент отдельно читает приветствие и отправляет HELLO.</a:t>
            </a:r>
          </a:p>
          <a:p xmlns:a="http://schemas.openxmlformats.org/drawingml/2006/main">
            <a:r>
              <a:t/>
            </a:r>
          </a:p>
          <a:p xmlns:a="http://schemas.openxmlformats.org/drawingml/2006/main">
            <a:r>
              <a:t>Почему ошибочные ответы неверны: Команда HELLO уже обработана приложением сервера. HELLO отправляется отдельным прикладным действием после connect. Сервер обязательно уже вызвал accept в своем коде. Установлением TCP занимается ядро. Приложение может принять готовое соединение позднее.</a:t>
            </a:r>
          </a:p>
          <a:p xmlns:a="http://schemas.openxmlformats.org/drawingml/2006/main">
            <a:r>
              <a:t/>
            </a:r>
          </a:p>
          <a:p xmlns:a="http://schemas.openxmlformats.org/drawingml/2006/main">
            <a:r>
              <a:t>Для устного ответа: Какие три этапа есть в конструкторе ConsoleClient?</a:t>
            </a:r>
          </a:p>
          <a:p xmlns:a="http://schemas.openxmlformats.org/drawingml/2006/main">
            <a:r>
              <a:t/>
            </a:r>
          </a:p>
          <a:p xmlns:a="http://schemas.openxmlformats.org/drawingml/2006/main">
            <a:r>
              <a:t>Исходник: src/client/console_client.cpp, строки 46-74.</a:t>
            </a:r>
          </a:p>
          <a:p xmlns:a="http://schemas.openxmlformats.org/drawingml/2006/main">
            <a:r>
              <a:t/>
            </a:r>
          </a:p>
          <a:p xmlns:a="http://schemas.openxmlformats.org/drawingml/2006/main">
            <a:r>
              <a:t>Кто выполняет TCP-рукопожатие SYN, SYN-ACK, ACK?</a:t>
            </a:r>
          </a:p>
          <a:p xmlns:a="http://schemas.openxmlformats.org/drawingml/2006/main">
            <a:r>
              <a:t/>
            </a:r>
          </a:p>
          <a:p xmlns:a="http://schemas.openxmlformats.org/drawingml/2006/main">
            <a:r>
              <a:t>Сетевые стеки операционных систем. socket API дает приложению операции соединения и передачи. Детали TCP-рукопожатия реализованы в ОС.</a:t>
            </a:r>
          </a:p>
          <a:p xmlns:a="http://schemas.openxmlformats.org/drawingml/2006/main">
            <a:r>
              <a:t/>
            </a:r>
          </a:p>
          <a:p xmlns:a="http://schemas.openxmlformats.org/drawingml/2006/main">
            <a:r>
              <a:t>Почему ошибочные ответы неверны: ExpressionParser на сервере. Парсер запускается только для арифметических команд. Цикл split_words в общем модуле. Он разбирает текст прикладной строки, не TCP-пакеты.</a:t>
            </a:r>
          </a:p>
          <a:p xmlns:a="http://schemas.openxmlformats.org/drawingml/2006/main">
            <a:r>
              <a:t/>
            </a:r>
          </a:p>
          <a:p xmlns:a="http://schemas.openxmlformats.org/drawingml/2006/main">
            <a:r>
              <a:t>Для устного ответа: Почему в исходниках нет ручной отправки SYN?</a:t>
            </a:r>
          </a:p>
          <a:p xmlns:a="http://schemas.openxmlformats.org/drawingml/2006/main">
            <a:r>
              <a:t/>
            </a:r>
          </a:p>
          <a:p xmlns:a="http://schemas.openxmlformats.org/drawingml/2006/main">
            <a:r>
              <a:t>Исходник: src/client/console_client.cpp, строки 46-74.</a:t>
            </a:r>
          </a:p>
          <a:p xmlns:a="http://schemas.openxmlformats.org/drawingml/2006/main">
            <a:r>
              <a:t/>
            </a:r>
          </a:p>
          <a:p xmlns:a="http://schemas.openxmlformats.org/drawingml/2006/main">
            <a:r>
              <a:t>Справка API: https://www.man7.org/linux/man-pages/man2/accept.2.html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Нужен ли клиенту явный bind перед connect?</a:t>
            </a:r>
          </a:p>
          <a:p xmlns:a="http://schemas.openxmlformats.org/drawingml/2006/main">
            <a:r>
              <a:t/>
            </a:r>
          </a:p>
          <a:p xmlns:a="http://schemas.openxmlformats.org/drawingml/2006/main">
            <a:r>
              <a:t>Обычно нет: ОС выбирает подходящий локальный адрес и временный порт. Этот клиент не задает локальную точку вручную. При connect ОС выбирает ее с учетом адреса назначения и маршрута.</a:t>
            </a:r>
          </a:p>
          <a:p xmlns:a="http://schemas.openxmlformats.org/drawingml/2006/main">
            <a:r>
              <a:t/>
            </a:r>
          </a:p>
          <a:p xmlns:a="http://schemas.openxmlformats.org/drawingml/2006/main">
            <a:r>
              <a:t>Почему ошибочные ответы неверны: Да, клиент обязан занять тот же порт 4040. Клиент не обязан использовать серверный порт как собственный локальный. Нет, потому что у клиента вообще нет локального порта. У TCP-соединения есть конечные точки с обеих сторон.</a:t>
            </a:r>
          </a:p>
          <a:p xmlns:a="http://schemas.openxmlformats.org/drawingml/2006/main">
            <a:r>
              <a:t/>
            </a:r>
          </a:p>
          <a:p xmlns:a="http://schemas.openxmlformats.org/drawingml/2006/main">
            <a:r>
              <a:t>Для устного ответа: Какие четыре адресных значения различают TCP-соединение?</a:t>
            </a:r>
          </a:p>
          <a:p xmlns:a="http://schemas.openxmlformats.org/drawingml/2006/main">
            <a:r>
              <a:t/>
            </a:r>
          </a:p>
          <a:p xmlns:a="http://schemas.openxmlformats.org/drawingml/2006/main">
            <a:r>
              <a:t>Исходник: src/client/console_client.cpp, строки 46-74.</a:t>
            </a:r>
          </a:p>
          <a:p xmlns:a="http://schemas.openxmlformats.org/drawingml/2006/main">
            <a:r>
              <a:t/>
            </a:r>
          </a:p>
          <a:p xmlns:a="http://schemas.openxmlformats.org/drawingml/2006/main">
            <a:r>
              <a:t>Почему после accept вызывается set_nonblocking(client_fd)?</a:t>
            </a:r>
          </a:p>
          <a:p xmlns:a="http://schemas.openxmlformats.org/drawingml/2006/main">
            <a:r>
              <a:t/>
            </a:r>
          </a:p>
          <a:p xmlns:a="http://schemas.openxmlformats.org/drawingml/2006/main">
            <a:r>
              <a:t>Чтобы чтение или запись этого клиента не остановили весь событийный сервер. На Linux принятый сокет не следует считать автоматически унаследовавшим O_NONBLOCK слушающего. Код явно задает нужный режим каждому fd.</a:t>
            </a:r>
          </a:p>
          <a:p xmlns:a="http://schemas.openxmlformats.org/drawingml/2006/main">
            <a:r>
              <a:t/>
            </a:r>
          </a:p>
          <a:p xmlns:a="http://schemas.openxmlformats.org/drawingml/2006/main">
            <a:r>
              <a:t>Почему ошибочные ответы неверны: Чтобы клиент был обязан отправлять только ASCII. Режим сокета не задает кодировку. Чтобы автоматически создавать отдельный поток. O_NONBLOCK не создает исполнителей.</a:t>
            </a:r>
          </a:p>
          <a:p xmlns:a="http://schemas.openxmlformats.org/drawingml/2006/main">
            <a:r>
              <a:t/>
            </a:r>
          </a:p>
          <a:p xmlns:a="http://schemas.openxmlformats.org/drawingml/2006/main">
            <a:r>
              <a:t>Для устного ответа: Что случится при втором recv, если доступные байты уже прочитаны?</a:t>
            </a:r>
          </a:p>
          <a:p xmlns:a="http://schemas.openxmlformats.org/drawingml/2006/main">
            <a:r>
              <a:t/>
            </a:r>
          </a:p>
          <a:p xmlns:a="http://schemas.openxmlformats.org/drawingml/2006/main">
            <a:r>
              <a:t>Исходник: src/server/poll_server.cpp, строки 115-134.</a:t>
            </a:r>
          </a:p>
          <a:p xmlns:a="http://schemas.openxmlformats.org/drawingml/2006/main">
            <a:r>
              <a:t/>
            </a:r>
          </a:p>
          <a:p xmlns:a="http://schemas.openxmlformats.org/drawingml/2006/main">
            <a:r>
              <a:t>Справка API: https://www.man7.org/linux/man-pages/man2/accept.2.html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Почему recv удобно передавать char buffer[4096]?</a:t>
            </a:r>
          </a:p>
          <a:p xmlns:a="http://schemas.openxmlformats.org/drawingml/2006/main">
            <a:r>
              <a:t/>
            </a:r>
          </a:p>
          <a:p xmlns:a="http://schemas.openxmlformats.org/drawingml/2006/main">
            <a:r>
              <a:t>Это доступная для записи последовательная область байтов. Массив выделяет память. При передаче в recv его имя преобразуется в указатель на первый элемент. Размер памяти передается отдельным аргументом.</a:t>
            </a:r>
          </a:p>
          <a:p xmlns:a="http://schemas.openxmlformats.org/drawingml/2006/main">
            <a:r>
              <a:t/>
            </a:r>
          </a:p>
          <a:p xmlns:a="http://schemas.openxmlformats.org/drawingml/2006/main">
            <a:r>
              <a:t>Почему ошибочные ответы неверны: recv принимает только текстовые строки C++. API работает с байтами любого содержания. Каждый char обязан содержать отдельную русскую букву. В UTF-8 одна буква может занимать несколько байтов.</a:t>
            </a:r>
          </a:p>
          <a:p xmlns:a="http://schemas.openxmlformats.org/drawingml/2006/main">
            <a:r>
              <a:t/>
            </a:r>
          </a:p>
          <a:p xmlns:a="http://schemas.openxmlformats.org/drawingml/2006/main">
            <a:r>
              <a:t>Для устного ответа: Различи память буфера, указатель на нее и вместимость.</a:t>
            </a:r>
          </a:p>
          <a:p xmlns:a="http://schemas.openxmlformats.org/drawingml/2006/main">
            <a:r>
              <a:t/>
            </a:r>
          </a:p>
          <a:p xmlns:a="http://schemas.openxmlformats.org/drawingml/2006/main">
            <a:r>
              <a:t>Исходник: src/server/poll_server.cpp, строки 136-163.</a:t>
            </a:r>
          </a:p>
          <a:p xmlns:a="http://schemas.openxmlformats.org/drawingml/2006/main">
            <a:r>
              <a:t/>
            </a:r>
          </a:p>
          <a:p xmlns:a="http://schemas.openxmlformats.org/drawingml/2006/main">
            <a:r>
              <a:t>Какой тип буфера указан в POSIX-сигнатуре recv?</a:t>
            </a:r>
          </a:p>
          <a:p xmlns:a="http://schemas.openxmlformats.org/drawingml/2006/main">
            <a:r>
              <a:t/>
            </a:r>
          </a:p>
          <a:p xmlns:a="http://schemas.openxmlformats.org/drawingml/2006/main">
            <a:r>
              <a:t>void*, то есть указатель на область для записи байтов. char* неявно преобразуется в void*. Сокетный интерфейс не требует конкретного типа данных, но требует достаточно большой доступный буфер.</a:t>
            </a:r>
          </a:p>
          <a:p xmlns:a="http://schemas.openxmlformats.org/drawingml/2006/main">
            <a:r>
              <a:t/>
            </a:r>
          </a:p>
          <a:p xmlns:a="http://schemas.openxmlformats.org/drawingml/2006/main">
            <a:r>
              <a:t>Почему ошибочные ответы неверны: const char*, потому что данные нельзя менять. recv именно записывает принятые байты в буфер. std::string, чтобы автоматически увеличить размер. Это C API, которое не создает и не расширяет std::string.</a:t>
            </a:r>
          </a:p>
          <a:p xmlns:a="http://schemas.openxmlformats.org/drawingml/2006/main">
            <a:r>
              <a:t/>
            </a:r>
          </a:p>
          <a:p xmlns:a="http://schemas.openxmlformats.org/drawingml/2006/main">
            <a:r>
              <a:t>Для устного ответа: Почему для send используется const void*?</a:t>
            </a:r>
          </a:p>
          <a:p xmlns:a="http://schemas.openxmlformats.org/drawingml/2006/main">
            <a:r>
              <a:t/>
            </a:r>
          </a:p>
          <a:p xmlns:a="http://schemas.openxmlformats.org/drawingml/2006/main">
            <a:r>
              <a:t>Исходник: src/server/poll_server.cpp, строки 136-163.</a:t>
            </a:r>
          </a:p>
          <a:p xmlns:a="http://schemas.openxmlformats.org/drawingml/2006/main">
            <a:r>
              <a:t/>
            </a:r>
          </a:p>
          <a:p xmlns:a="http://schemas.openxmlformats.org/drawingml/2006/main">
            <a:r>
              <a:t>Справка API: https://www.man7.org/linux/man-pages/man3/recv.3p.html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Что означает const в const void* для send?</a:t>
            </a:r>
          </a:p>
          <a:p xmlns:a="http://schemas.openxmlformats.org/drawingml/2006/main">
            <a:r>
              <a:t/>
            </a:r>
          </a:p>
          <a:p xmlns:a="http://schemas.openxmlformats.org/drawingml/2006/main">
            <a:r>
              <a:t>Функция не должна изменять отправляемые данные через этот указатель. send читает память отправителя. recv, наоборот, записывает память получателя и получает неконстантный указатель.</a:t>
            </a:r>
          </a:p>
          <a:p xmlns:a="http://schemas.openxmlformats.org/drawingml/2006/main">
            <a:r>
              <a:t/>
            </a:r>
          </a:p>
          <a:p xmlns:a="http://schemas.openxmlformats.org/drawingml/2006/main">
            <a:r>
              <a:t>Почему ошибочные ответы неверны: Адрес сокета никогда не меняется. const относится к данным буфера, не к соединению. Получателю запрещено изменять полученные байты. Ограничение действует в интерфейсе отправителя.</a:t>
            </a:r>
          </a:p>
          <a:p xmlns:a="http://schemas.openxmlformats.org/drawingml/2006/main">
            <a:r>
              <a:t/>
            </a:r>
          </a:p>
          <a:p xmlns:a="http://schemas.openxmlformats.org/drawingml/2006/main">
            <a:r>
              <a:t>Для устного ответа: Чем const char* отличается от char* const?</a:t>
            </a:r>
          </a:p>
          <a:p xmlns:a="http://schemas.openxmlformats.org/drawingml/2006/main">
            <a:r>
              <a:t/>
            </a:r>
          </a:p>
          <a:p xmlns:a="http://schemas.openxmlformats.org/drawingml/2006/main">
            <a:r>
              <a:t>Исходник: src/server/poll_server.cpp, строки 165-178.</a:t>
            </a:r>
          </a:p>
          <a:p xmlns:a="http://schemas.openxmlformats.org/drawingml/2006/main">
            <a:r>
              <a:t/>
            </a:r>
          </a:p>
          <a:p xmlns:a="http://schemas.openxmlformats.org/drawingml/2006/main">
            <a:r>
              <a:t>Добавляет ли recv завершающий нулевой символ?</a:t>
            </a:r>
          </a:p>
          <a:p xmlns:a="http://schemas.openxmlformats.org/drawingml/2006/main">
            <a:r>
              <a:t/>
            </a:r>
          </a:p>
          <a:p xmlns:a="http://schemas.openxmlformats.org/drawingml/2006/main">
            <a:r>
              <a:t>Нет, он возвращает количество записанных байтов. Поэтому append(buffer, count) корректнее, чем обращение с буфером как с нуль-терминированной строкой. Вне принятых count байтов может быть старое содержимое.</a:t>
            </a:r>
          </a:p>
          <a:p xmlns:a="http://schemas.openxmlformats.org/drawingml/2006/main">
            <a:r>
              <a:t/>
            </a:r>
          </a:p>
          <a:p xmlns:a="http://schemas.openxmlformats.org/drawingml/2006/main">
            <a:r>
              <a:t>Почему ошибочные ответы неверны: Да, после каждого фрагмента автоматически. Такой гарантии у recv нет. Только если сокет использует TCP. TCP не определяет формат строк языка C.</a:t>
            </a:r>
          </a:p>
          <a:p xmlns:a="http://schemas.openxmlformats.org/drawingml/2006/main">
            <a:r>
              <a:t/>
            </a:r>
          </a:p>
          <a:p xmlns:a="http://schemas.openxmlformats.org/drawingml/2006/main">
            <a:r>
              <a:t>Для устного ответа: Почему нельзя сразу печатать buffer как C-строку?</a:t>
            </a:r>
          </a:p>
          <a:p xmlns:a="http://schemas.openxmlformats.org/drawingml/2006/main">
            <a:r>
              <a:t/>
            </a:r>
          </a:p>
          <a:p xmlns:a="http://schemas.openxmlformats.org/drawingml/2006/main">
            <a:r>
              <a:t>Исходник: src/server/poll_server.cpp, строки 136-163.</a:t>
            </a:r>
          </a:p>
          <a:p xmlns:a="http://schemas.openxmlformats.org/drawingml/2006/main">
            <a:r>
              <a:t/>
            </a:r>
          </a:p>
          <a:p xmlns:a="http://schemas.openxmlformats.org/drawingml/2006/main">
            <a:r>
              <a:t>Справка API: https://www.man7.org/linux/man-pages/man3/recv.3p.html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Что дает sizeof(buffer), если buffer объявлен char buffer[4096] в этой функции?</a:t>
            </a:r>
          </a:p>
          <a:p xmlns:a="http://schemas.openxmlformats.org/drawingml/2006/main">
            <a:r>
              <a:t/>
            </a:r>
          </a:p>
          <a:p xmlns:a="http://schemas.openxmlformats.org/drawingml/2006/main">
            <a:r>
              <a:t>Полный размер массива: 4096 байт языка C++. Здесь имя массива еще сохраняет тип массива в выражении sizeof. Это вместимость буфера, которую безопасно передать recv.</a:t>
            </a:r>
          </a:p>
          <a:p xmlns:a="http://schemas.openxmlformats.org/drawingml/2006/main">
            <a:r>
              <a:t/>
            </a:r>
          </a:p>
          <a:p xmlns:a="http://schemas.openxmlformats.org/drawingml/2006/main">
            <a:r>
              <a:t>Почему ошибочные ответы неверны: Число фактически полученных байтов. Фактическое количество возвращает recv. Длину строки до нулевого символа. sizeof не просматривает содержимое памяти.</a:t>
            </a:r>
          </a:p>
          <a:p xmlns:a="http://schemas.openxmlformats.org/drawingml/2006/main">
            <a:r>
              <a:t/>
            </a:r>
          </a:p>
          <a:p xmlns:a="http://schemas.openxmlformats.org/drawingml/2006/main">
            <a:r>
              <a:t>Для устного ответа: Чем sizeof(buffer) отличается от count?</a:t>
            </a:r>
          </a:p>
          <a:p xmlns:a="http://schemas.openxmlformats.org/drawingml/2006/main">
            <a:r>
              <a:t/>
            </a:r>
          </a:p>
          <a:p xmlns:a="http://schemas.openxmlformats.org/drawingml/2006/main">
            <a:r>
              <a:t>Исходник: src/server/poll_server.cpp, строки 136-163.</a:t>
            </a:r>
          </a:p>
          <a:p xmlns:a="http://schemas.openxmlformats.org/drawingml/2006/main">
            <a:r>
              <a:t/>
            </a:r>
          </a:p>
          <a:p xmlns:a="http://schemas.openxmlformats.org/drawingml/2006/main">
            <a:r>
              <a:t>Что даст sizeof(p), если p имеет тип char*?</a:t>
            </a:r>
          </a:p>
          <a:p xmlns:a="http://schemas.openxmlformats.org/drawingml/2006/main">
            <a:r>
              <a:t/>
            </a:r>
          </a:p>
          <a:p xmlns:a="http://schemas.openxmlformats.org/drawingml/2006/main">
            <a:r>
              <a:t>Размер самого указателя в данной реализации. После передачи массива параметром char* информация о его длине не появляется автоматически. Нужен отдельный параметр размера.</a:t>
            </a:r>
          </a:p>
          <a:p xmlns:a="http://schemas.openxmlformats.org/drawingml/2006/main">
            <a:r>
              <a:t/>
            </a:r>
          </a:p>
          <a:p xmlns:a="http://schemas.openxmlformats.org/drawingml/2006/main">
            <a:r>
              <a:t>Почему ошибочные ответы неверны: Размер всей памяти, на которую он указывает. Указатель не хранит общий размер выделенной области. Длину сообщения в байтах. Длина сообщения должна храниться отдельно.</a:t>
            </a:r>
          </a:p>
          <a:p xmlns:a="http://schemas.openxmlformats.org/drawingml/2006/main">
            <a:r>
              <a:t/>
            </a:r>
          </a:p>
          <a:p xmlns:a="http://schemas.openxmlformats.org/drawingml/2006/main">
            <a:r>
              <a:t>Для устного ответа: Почему функция работы с буфером обычно принимает и указатель, и длину?</a:t>
            </a:r>
          </a:p>
          <a:p xmlns:a="http://schemas.openxmlformats.org/drawingml/2006/main">
            <a:r>
              <a:t/>
            </a:r>
          </a:p>
          <a:p xmlns:a="http://schemas.openxmlformats.org/drawingml/2006/main">
            <a:r>
              <a:t>Исходник: src/server/poll_server.cpp, строки 136-163.</a:t>
            </a:r>
          </a:p>
          <a:p xmlns:a="http://schemas.openxmlformats.org/drawingml/2006/main">
            <a:r>
              <a:t/>
            </a:r>
          </a:p>
          <a:p xmlns:a="http://schemas.openxmlformats.org/drawingml/2006/main">
            <a:r>
              <a:t>Справка API: https://www.man7.org/linux/man-pages/man3/recv.3p.html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Почему append(buffer, count) не нуждается в strlen?</a:t>
            </a:r>
          </a:p>
          <a:p xmlns:a="http://schemas.openxmlformats.org/drawingml/2006/main">
            <a:r>
              <a:t/>
            </a:r>
          </a:p>
          <a:p xmlns:a="http://schemas.openxmlformats.org/drawingml/2006/main">
            <a:r>
              <a:t>Количество принятых байтов уже известно из результата recv. Сервер добавляет только полученную часть. Это также работает с нулевыми байтами внутри данных, хотя прикладной протокол может их не принимать.</a:t>
            </a:r>
          </a:p>
          <a:p xmlns:a="http://schemas.openxmlformats.org/drawingml/2006/main">
            <a:r>
              <a:t/>
            </a:r>
          </a:p>
          <a:p xmlns:a="http://schemas.openxmlformats.org/drawingml/2006/main">
            <a:r>
              <a:t>Почему ошибочные ответы неверны: strlen безопасно определяет длину любых сетевых данных. strlen требует нулевой терминатор и может выйти за границы буфера. append всегда копирует все 4096 байт. Эта перегрузка копирует ровно указанное количество.</a:t>
            </a:r>
          </a:p>
          <a:p xmlns:a="http://schemas.openxmlformats.org/drawingml/2006/main">
            <a:r>
              <a:t/>
            </a:r>
          </a:p>
          <a:p xmlns:a="http://schemas.openxmlformats.org/drawingml/2006/main">
            <a:r>
              <a:t>Для устного ответа: Что испортится, если всегда добавлять sizeof(buffer) байт?</a:t>
            </a:r>
          </a:p>
          <a:p xmlns:a="http://schemas.openxmlformats.org/drawingml/2006/main">
            <a:r>
              <a:t/>
            </a:r>
          </a:p>
          <a:p xmlns:a="http://schemas.openxmlformats.org/drawingml/2006/main">
            <a:r>
              <a:t>Исходник: src/server/poll_server.cpp, строки 136-163.</a:t>
            </a:r>
          </a:p>
          <a:p xmlns:a="http://schemas.openxmlformats.org/drawingml/2006/main">
            <a:r>
              <a:t/>
            </a:r>
          </a:p>
          <a:p xmlns:a="http://schemas.openxmlformats.org/drawingml/2006/main">
            <a:r>
              <a:t>Чем size_t отличается от ssize_t в этом коде?</a:t>
            </a:r>
          </a:p>
          <a:p xmlns:a="http://schemas.openxmlformats.org/drawingml/2006/main">
            <a:r>
              <a:t/>
            </a:r>
          </a:p>
          <a:p xmlns:a="http://schemas.openxmlformats.org/drawingml/2006/main">
            <a:r>
              <a:t>size_t хранит неотрицательный размер, ssize_t также представляет отрицательную ошибку. Размер буфера передается как size_t. recv возвращает ssize_t, чтобы вместе с положительным счетчиком представить -1. К unsigned преобразуют только после проверки count &gt; 0.</a:t>
            </a:r>
          </a:p>
          <a:p xmlns:a="http://schemas.openxmlformats.org/drawingml/2006/main">
            <a:r>
              <a:t/>
            </a:r>
          </a:p>
          <a:p xmlns:a="http://schemas.openxmlformats.org/drawingml/2006/main">
            <a:r>
              <a:t>Почему ошибочные ответы неверны: size_t измеряет символы, ssize_t только сетевые пакеты. Оба здесь связаны с количеством байтов, не пакетами. ssize_t нужен только для IPv6. Его использование не связано с семейством адресов.</a:t>
            </a:r>
          </a:p>
          <a:p xmlns:a="http://schemas.openxmlformats.org/drawingml/2006/main">
            <a:r>
              <a:t/>
            </a:r>
          </a:p>
          <a:p xmlns:a="http://schemas.openxmlformats.org/drawingml/2006/main">
            <a:r>
              <a:t>Для устного ответа: Что получится при преобразовании -1 в беззнаковый тип?</a:t>
            </a:r>
          </a:p>
          <a:p xmlns:a="http://schemas.openxmlformats.org/drawingml/2006/main">
            <a:r>
              <a:t/>
            </a:r>
          </a:p>
          <a:p xmlns:a="http://schemas.openxmlformats.org/drawingml/2006/main">
            <a:r>
              <a:t>Исходник: src/server/poll_server.cpp, строки 136-163.</a:t>
            </a:r>
          </a:p>
          <a:p xmlns:a="http://schemas.openxmlformats.org/drawingml/2006/main">
            <a:r>
              <a:t/>
            </a:r>
          </a:p>
          <a:p xmlns:a="http://schemas.openxmlformats.org/drawingml/2006/main">
            <a:r>
              <a:t>Справка API: https://www.man7.org/linux/man-pages/man3/recv.3p.html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Что означает line.data() + sent?</a:t>
            </a:r>
          </a:p>
          <a:p xmlns:a="http://schemas.openxmlformats.org/drawingml/2006/main">
            <a:r>
              <a:t/>
            </a:r>
          </a:p>
          <a:p xmlns:a="http://schemas.openxmlformats.org/drawingml/2006/main">
            <a:r>
              <a:t>Адрес первого байта строки, который еще не отправлен. Указатель сдвигается на sent элементов char. Вместе с line.size() - sent он описывает оставшийся хвост сообщения.</a:t>
            </a:r>
          </a:p>
          <a:p xmlns:a="http://schemas.openxmlformats.org/drawingml/2006/main">
            <a:r>
              <a:t/>
            </a:r>
          </a:p>
          <a:p xmlns:a="http://schemas.openxmlformats.org/drawingml/2006/main">
            <a:r>
              <a:t>Почему ошибочные ответы неверны: Новую строку с добавленным числом sent. Это арифметика указателей, а не конкатенация. Увеличение размера строки на sent символов. Размер строки это выражение не меняет.</a:t>
            </a:r>
          </a:p>
          <a:p xmlns:a="http://schemas.openxmlformats.org/drawingml/2006/main">
            <a:r>
              <a:t/>
            </a:r>
          </a:p>
          <a:p xmlns:a="http://schemas.openxmlformats.org/drawingml/2006/main">
            <a:r>
              <a:t>Для устного ответа: Покажи указатель и оставшуюся длину после отправки 3 из 10 байтов.</a:t>
            </a:r>
          </a:p>
          <a:p xmlns:a="http://schemas.openxmlformats.org/drawingml/2006/main">
            <a:r>
              <a:t/>
            </a:r>
          </a:p>
          <a:p xmlns:a="http://schemas.openxmlformats.org/drawingml/2006/main">
            <a:r>
              <a:t>Исходник: src/client/console_client.cpp, строки 76-88.</a:t>
            </a:r>
          </a:p>
          <a:p xmlns:a="http://schemas.openxmlformats.org/drawingml/2006/main">
            <a:r>
              <a:t/>
            </a:r>
          </a:p>
          <a:p xmlns:a="http://schemas.openxmlformats.org/drawingml/2006/main">
            <a:r>
              <a:t>Почему std::string::size() для русского текста не равно числу букв?</a:t>
            </a:r>
          </a:p>
          <a:p xmlns:a="http://schemas.openxmlformats.org/drawingml/2006/main">
            <a:r>
              <a:t/>
            </a:r>
          </a:p>
          <a:p xmlns:a="http://schemas.openxmlformats.org/drawingml/2006/main">
            <a:r>
              <a:t>В данном UTF-8 протоколе size считает байты, а буква может занимать несколько байтов. Удобство char-буфера связано с байтами. Кодировка UTF-8 задает, как последовательности байтов превращаются в символы при отображении.</a:t>
            </a:r>
          </a:p>
          <a:p xmlns:a="http://schemas.openxmlformats.org/drawingml/2006/main">
            <a:r>
              <a:t/>
            </a:r>
          </a:p>
          <a:p xmlns:a="http://schemas.openxmlformats.org/drawingml/2006/main">
            <a:r>
              <a:t>Почему ошибочные ответы неверны: TCP добавляет невидимые символы в std::string. Строка хранит прикладные байты, TCP не добавляет в нее свой заголовок. size всегда считает только латинские буквы. Он считает все элементы char.</a:t>
            </a:r>
          </a:p>
          <a:p xmlns:a="http://schemas.openxmlformats.org/drawingml/2006/main">
            <a:r>
              <a:t/>
            </a:r>
          </a:p>
          <a:p xmlns:a="http://schemas.openxmlformats.org/drawingml/2006/main">
            <a:r>
              <a:t>Для устного ответа: Почему split по байту перевода строки подходит UTF-8?</a:t>
            </a:r>
          </a:p>
          <a:p xmlns:a="http://schemas.openxmlformats.org/drawingml/2006/main">
            <a:r>
              <a:t/>
            </a:r>
          </a:p>
          <a:p xmlns:a="http://schemas.openxmlformats.org/drawingml/2006/main">
            <a:r>
              <a:t>Исходник: src/common/protocol.cpp, строки 1-48.</a:t>
            </a:r>
          </a:p>
          <a:p xmlns:a="http://schemas.openxmlformats.org/drawingml/2006/main">
            <a:r>
              <a:t/>
            </a:r>
          </a:p>
          <a:p xmlns:a="http://schemas.openxmlformats.org/drawingml/2006/main">
            <a:r>
              <a:t>Справка API: https://www.man7.org/linux/man-pages/man3/recv.3p.html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Почему нельзя отправить по сети значение указателя и ждать тот же объект у клиента?</a:t>
            </a:r>
          </a:p>
          <a:p xmlns:a="http://schemas.openxmlformats.org/drawingml/2006/main">
            <a:r>
              <a:t/>
            </a:r>
          </a:p>
          <a:p xmlns:a="http://schemas.openxmlformats.org/drawingml/2006/main">
            <a:r>
              <a:t>У каждого процесса свое адресное пространство и время жизни объектов. Передают содержимое и согласованный формат. Даже на одном компьютере числовой адрес другого процесса обычно нельзя использовать как свой указатель.</a:t>
            </a:r>
          </a:p>
          <a:p xmlns:a="http://schemas.openxmlformats.org/drawingml/2006/main">
            <a:r>
              <a:t/>
            </a:r>
          </a:p>
          <a:p xmlns:a="http://schemas.openxmlformats.org/drawingml/2006/main">
            <a:r>
              <a:t>Почему ошибочные ответы неверны: TCP запрещает любые числовые значения. Числа передавать можно, но локальный адрес не станет удаленным объектом. Указатель всегда содержит строку с путем к файлу. Указатель представляет адрес памяти, а не путь.</a:t>
            </a:r>
          </a:p>
          <a:p xmlns:a="http://schemas.openxmlformats.org/drawingml/2006/main">
            <a:r>
              <a:t/>
            </a:r>
          </a:p>
          <a:p xmlns:a="http://schemas.openxmlformats.org/drawingml/2006/main">
            <a:r>
              <a:t>Для устного ответа: Что нужно сериализовать вместо адреса Variables?</a:t>
            </a:r>
          </a:p>
          <a:p xmlns:a="http://schemas.openxmlformats.org/drawingml/2006/main">
            <a:r>
              <a:t/>
            </a:r>
          </a:p>
          <a:p xmlns:a="http://schemas.openxmlformats.org/drawingml/2006/main">
            <a:r>
              <a:t>Исходник: src/server/poll_server.cpp, строки 165-178.</a:t>
            </a:r>
          </a:p>
          <a:p xmlns:a="http://schemas.openxmlformats.org/drawingml/2006/main">
            <a:r>
              <a:t/>
            </a:r>
          </a:p>
          <a:p xmlns:a="http://schemas.openxmlformats.org/drawingml/2006/main">
            <a:r>
              <a:t>Зачем std::isspace получает static_cast&lt;unsigned char&gt;(c)?</a:t>
            </a:r>
          </a:p>
          <a:p xmlns:a="http://schemas.openxmlformats.org/drawingml/2006/main">
            <a:r>
              <a:t/>
            </a:r>
          </a:p>
          <a:p xmlns:a="http://schemas.openxmlformats.org/drawingml/2006/main">
            <a:r>
              <a:t>Чтобы избежать недопустимого отрицательного значения char для функции классификации. Если char знаковый, байт UTF-8 может выглядеть отрицательным. Функции cctype принимают EOF либо значение, представимое unsigned char.</a:t>
            </a:r>
          </a:p>
          <a:p xmlns:a="http://schemas.openxmlformats.org/drawingml/2006/main">
            <a:r>
              <a:t/>
            </a:r>
          </a:p>
          <a:p xmlns:a="http://schemas.openxmlformats.org/drawingml/2006/main">
            <a:r>
              <a:t>Почему ошибочные ответы неверны: Чтобы обязательно преобразовать UTF-8 в ASCII. Приведение типа не перекодирует текст. Чтобы удалить пробел из исходной строки. isspace только классифицирует значение.</a:t>
            </a:r>
          </a:p>
          <a:p xmlns:a="http://schemas.openxmlformats.org/drawingml/2006/main">
            <a:r>
              <a:t/>
            </a:r>
          </a:p>
          <a:p xmlns:a="http://schemas.openxmlformats.org/drawingml/2006/main">
            <a:r>
              <a:t>Для устного ответа: Почему это важно на русскоязычных входных данных?</a:t>
            </a:r>
          </a:p>
          <a:p xmlns:a="http://schemas.openxmlformats.org/drawingml/2006/main">
            <a:r>
              <a:t/>
            </a:r>
          </a:p>
          <a:p xmlns:a="http://schemas.openxmlformats.org/drawingml/2006/main">
            <a:r>
              <a:t>Исходник: src/common/protocol.cpp, строки 1-48.</a:t>
            </a:r>
          </a:p>
          <a:p xmlns:a="http://schemas.openxmlformats.org/drawingml/2006/main">
            <a:r>
              <a:t/>
            </a:r>
          </a:p>
          <a:p xmlns:a="http://schemas.openxmlformats.org/drawingml/2006/main">
            <a:r>
              <a:t>Справка API: https://www.man7.org/linux/man-pages/man3/recv.3p.html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Что означает положительный результат recv?</a:t>
            </a:r>
          </a:p>
          <a:p xmlns:a="http://schemas.openxmlformats.org/drawingml/2006/main">
            <a:r>
              <a:t/>
            </a:r>
          </a:p>
          <a:p xmlns:a="http://schemas.openxmlformats.org/drawingml/2006/main">
            <a:r>
              <a:t>Количество байтов, записанных в предоставленный буфер. Если recv вернул 12, доступны ровно 12 новых байтов. Они могут содержать часть строки, одну строку или несколько строк.</a:t>
            </a:r>
          </a:p>
          <a:p xmlns:a="http://schemas.openxmlformats.org/drawingml/2006/main">
            <a:r>
              <a:t/>
            </a:r>
          </a:p>
          <a:p xmlns:a="http://schemas.openxmlformats.org/drawingml/2006/main">
            <a:r>
              <a:t>Почему ошибочные ответы неверны: Число целых строк протокола. Границы строк выделяет прикладной код. Новый дескриптор клиента. Дескриптор возвращает accept.</a:t>
            </a:r>
          </a:p>
          <a:p xmlns:a="http://schemas.openxmlformats.org/drawingml/2006/main">
            <a:r>
              <a:t/>
            </a:r>
          </a:p>
          <a:p xmlns:a="http://schemas.openxmlformats.org/drawingml/2006/main">
            <a:r>
              <a:t>Для устного ответа: Что нужно проверить, прежде чем выполнять команду?</a:t>
            </a:r>
          </a:p>
          <a:p xmlns:a="http://schemas.openxmlformats.org/drawingml/2006/main">
            <a:r>
              <a:t/>
            </a:r>
          </a:p>
          <a:p xmlns:a="http://schemas.openxmlformats.org/drawingml/2006/main">
            <a:r>
              <a:t>Исходник: src/server/poll_server.cpp, строки 136-163.</a:t>
            </a:r>
          </a:p>
          <a:p xmlns:a="http://schemas.openxmlformats.org/drawingml/2006/main">
            <a:r>
              <a:t/>
            </a:r>
          </a:p>
          <a:p xmlns:a="http://schemas.openxmlformats.org/drawingml/2006/main">
            <a:r>
              <a:t>Что означает recv == 0 на этом TCP-сокете при ненулевом размере буфера?</a:t>
            </a:r>
          </a:p>
          <a:p xmlns:a="http://schemas.openxmlformats.org/drawingml/2006/main">
            <a:r>
              <a:t/>
            </a:r>
          </a:p>
          <a:p xmlns:a="http://schemas.openxmlformats.org/drawingml/2006/main">
            <a:r>
              <a:t>Другая сторона завершила направление отправки, доступные данные уже прочитаны. Нулевой результат означает EOF транспортного потока. Код закрывает состояние клиента. Пустая прикладная строка выглядела бы как байт \n и положительный count.</a:t>
            </a:r>
          </a:p>
          <a:p xmlns:a="http://schemas.openxmlformats.org/drawingml/2006/main">
            <a:r>
              <a:t/>
            </a:r>
          </a:p>
          <a:p xmlns:a="http://schemas.openxmlformats.org/drawingml/2006/main">
            <a:r>
              <a:t>Почему ошибочные ответы неверны: Данных пока нет, но нужно просто немедленно повторить чтение. Для временного отсутствия данных в неблокирующем режиме будет -1 с EAGAIN/EWOULDBLOCK. Всегда ошибку деления на ноль на сервере. Прикладная ошибка пришла бы как строка ERR.</a:t>
            </a:r>
          </a:p>
          <a:p xmlns:a="http://schemas.openxmlformats.org/drawingml/2006/main">
            <a:r>
              <a:t/>
            </a:r>
          </a:p>
          <a:p xmlns:a="http://schemas.openxmlformats.org/drawingml/2006/main">
            <a:r>
              <a:t>Для устного ответа: Чем пустая строка отличается от закрытия соединения?</a:t>
            </a:r>
          </a:p>
          <a:p xmlns:a="http://schemas.openxmlformats.org/drawingml/2006/main">
            <a:r>
              <a:t/>
            </a:r>
          </a:p>
          <a:p xmlns:a="http://schemas.openxmlformats.org/drawingml/2006/main">
            <a:r>
              <a:t>Исходник: src/server/poll_server.cpp, строки 136-163.</a:t>
            </a:r>
          </a:p>
          <a:p xmlns:a="http://schemas.openxmlformats.org/drawingml/2006/main">
            <a:r>
              <a:t/>
            </a:r>
          </a:p>
          <a:p xmlns:a="http://schemas.openxmlformats.org/drawingml/2006/main">
            <a:r>
              <a:t>Справка API: https://www.man7.org/linux/man-pages/man2/recv.2.html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Что означает EAGAIN после неблокирующего recv?</a:t>
            </a:r>
          </a:p>
          <a:p xmlns:a="http://schemas.openxmlformats.org/drawingml/2006/main">
            <a:r>
              <a:t/>
            </a:r>
          </a:p>
          <a:p xmlns:a="http://schemas.openxmlformats.org/drawingml/2006/main">
            <a:r>
              <a:t>Сейчас данных нет, следует вернуться к ожиданию готовности. После -1 проверяют errno. EAGAIN или EWOULDBLOCK означает, что операция сейчас блокировалась бы. Входной буфер сохраняется для следующего события.</a:t>
            </a:r>
          </a:p>
          <a:p xmlns:a="http://schemas.openxmlformats.org/drawingml/2006/main">
            <a:r>
              <a:t/>
            </a:r>
          </a:p>
          <a:p xmlns:a="http://schemas.openxmlformats.org/drawingml/2006/main">
            <a:r>
              <a:t>Почему ошибочные ответы неверны: Соединение безусловно разрушено. Временное отсутствие данных не означает разрыв. Нужно удалить пользователя из users.db. Это состояние ввода-вывода, не ошибка учетной записи.</a:t>
            </a:r>
          </a:p>
          <a:p xmlns:a="http://schemas.openxmlformats.org/drawingml/2006/main">
            <a:r>
              <a:t/>
            </a:r>
          </a:p>
          <a:p xmlns:a="http://schemas.openxmlformats.org/drawingml/2006/main">
            <a:r>
              <a:t>Для устного ответа: Почему нельзя просто крутить recv без ожидания?</a:t>
            </a:r>
          </a:p>
          <a:p xmlns:a="http://schemas.openxmlformats.org/drawingml/2006/main">
            <a:r>
              <a:t/>
            </a:r>
          </a:p>
          <a:p xmlns:a="http://schemas.openxmlformats.org/drawingml/2006/main">
            <a:r>
              <a:t>Исходник: src/server/poll_server.cpp, строки 136-163.</a:t>
            </a:r>
          </a:p>
          <a:p xmlns:a="http://schemas.openxmlformats.org/drawingml/2006/main">
            <a:r>
              <a:t/>
            </a:r>
          </a:p>
          <a:p xmlns:a="http://schemas.openxmlformats.org/drawingml/2006/main">
            <a:r>
              <a:t>Почему send вызывается в цикле?</a:t>
            </a:r>
          </a:p>
          <a:p xmlns:a="http://schemas.openxmlformats.org/drawingml/2006/main">
            <a:r>
              <a:t/>
            </a:r>
          </a:p>
          <a:p xmlns:a="http://schemas.openxmlformats.org/drawingml/2006/main">
            <a:r>
              <a:t>Он может отправить только часть переданного буфера. При положительном count продвигают указатель или удаляют отправленный префикс. Иначе часть ответа потерялась бы.</a:t>
            </a:r>
          </a:p>
          <a:p xmlns:a="http://schemas.openxmlformats.org/drawingml/2006/main">
            <a:r>
              <a:t/>
            </a:r>
          </a:p>
          <a:p xmlns:a="http://schemas.openxmlformats.org/drawingml/2006/main">
            <a:r>
              <a:t>Почему ошибочные ответы неверны: Каждый вызов отправляет ровно один символ. send может принять много байтов за один вызов. TCP требует вручную послать три одинаковые копии сообщения. Транспортные повторы реализует TCP, а не этот цикл.</a:t>
            </a:r>
          </a:p>
          <a:p xmlns:a="http://schemas.openxmlformats.org/drawingml/2006/main">
            <a:r>
              <a:t/>
            </a:r>
          </a:p>
          <a:p xmlns:a="http://schemas.openxmlformats.org/drawingml/2006/main">
            <a:r>
              <a:t>Для устного ответа: Что осталось отправить после send, вернувшего 7 для 20 байтов?</a:t>
            </a:r>
          </a:p>
          <a:p xmlns:a="http://schemas.openxmlformats.org/drawingml/2006/main">
            <a:r>
              <a:t/>
            </a:r>
          </a:p>
          <a:p xmlns:a="http://schemas.openxmlformats.org/drawingml/2006/main">
            <a:r>
              <a:t>Исходник: src/client/console_client.cpp, строки 76-88.</a:t>
            </a:r>
          </a:p>
          <a:p xmlns:a="http://schemas.openxmlformats.org/drawingml/2006/main">
            <a:r>
              <a:t/>
            </a:r>
          </a:p>
          <a:p xmlns:a="http://schemas.openxmlformats.org/drawingml/2006/main">
            <a:r>
              <a:t>Справка API: https://www.man7.org/linux/man-pages/man2/recv.2.html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Доказывает ли успешный send, что сервер выполнил выражение?</a:t>
            </a:r>
          </a:p>
          <a:p xmlns:a="http://schemas.openxmlformats.org/drawingml/2006/main">
            <a:r>
              <a:t/>
            </a:r>
          </a:p>
          <a:p xmlns:a="http://schemas.openxmlformats.org/drawingml/2006/main">
            <a:r>
              <a:t>Нет, он сообщает об успешном принятии соответствующих байтов на отправку. Для прикладного подтверждения клиент читает строку OK или ERR. Даже транспортное подтверждение не равно успешному сохранению переменных.</a:t>
            </a:r>
          </a:p>
          <a:p xmlns:a="http://schemas.openxmlformats.org/drawingml/2006/main">
            <a:r>
              <a:t/>
            </a:r>
          </a:p>
          <a:p xmlns:a="http://schemas.openxmlformats.org/drawingml/2006/main">
            <a:r>
              <a:t>Почему ошибочные ответы неверны: Да, иначе send вернул бы ERR. ERR относится к прикладному ответу, не возвращаемому значению send. Да, если использован SOCK_STREAM. Надежный поток не подтверждает бизнес-операцию.</a:t>
            </a:r>
          </a:p>
          <a:p xmlns:a="http://schemas.openxmlformats.org/drawingml/2006/main">
            <a:r>
              <a:t/>
            </a:r>
          </a:p>
          <a:p xmlns:a="http://schemas.openxmlformats.org/drawingml/2006/main">
            <a:r>
              <a:t>Для устного ответа: Зачем после send_line вызывается receive_line?</a:t>
            </a:r>
          </a:p>
          <a:p xmlns:a="http://schemas.openxmlformats.org/drawingml/2006/main">
            <a:r>
              <a:t/>
            </a:r>
          </a:p>
          <a:p xmlns:a="http://schemas.openxmlformats.org/drawingml/2006/main">
            <a:r>
              <a:t>Исходник: src/client/console_client.cpp, строки 114-117.</a:t>
            </a:r>
          </a:p>
          <a:p xmlns:a="http://schemas.openxmlformats.org/drawingml/2006/main">
            <a:r>
              <a:t/>
            </a:r>
          </a:p>
          <a:p xmlns:a="http://schemas.openxmlformats.org/drawingml/2006/main">
            <a:r>
              <a:t>Что делает сервер после частичной отправки ответа?</a:t>
            </a:r>
          </a:p>
          <a:p xmlns:a="http://schemas.openxmlformats.org/drawingml/2006/main">
            <a:r>
              <a:t/>
            </a:r>
          </a:p>
          <a:p xmlns:a="http://schemas.openxmlformats.org/drawingml/2006/main">
            <a:r>
              <a:t>Удаляет отправленный префикс и хранит оставшийся хвост. client.output.erase(0, count) оставляет только неотправленные байты. При EAGAIN хвост дождется POLLOUT.</a:t>
            </a:r>
          </a:p>
          <a:p xmlns:a="http://schemas.openxmlformats.org/drawingml/2006/main">
            <a:r>
              <a:t/>
            </a:r>
          </a:p>
          <a:p xmlns:a="http://schemas.openxmlformats.org/drawingml/2006/main">
            <a:r>
              <a:t>Почему ошибочные ответы неверны: Удаляет весь output, потому что TCP сам знает остаток. TCP не знает байты, которые send еще не принял. Заново отправляет весь ответ с начала. Это продублировало бы уже отправленный префикс на прикладном уровне.</a:t>
            </a:r>
          </a:p>
          <a:p xmlns:a="http://schemas.openxmlformats.org/drawingml/2006/main">
            <a:r>
              <a:t/>
            </a:r>
          </a:p>
          <a:p xmlns:a="http://schemas.openxmlformats.org/drawingml/2006/main">
            <a:r>
              <a:t>Для устного ответа: Покажи output до и после отправки 3 байтов строки OK 15\n.</a:t>
            </a:r>
          </a:p>
          <a:p xmlns:a="http://schemas.openxmlformats.org/drawingml/2006/main">
            <a:r>
              <a:t/>
            </a:r>
          </a:p>
          <a:p xmlns:a="http://schemas.openxmlformats.org/drawingml/2006/main">
            <a:r>
              <a:t>Исходник: src/server/poll_server.cpp, строки 165-178.</a:t>
            </a:r>
          </a:p>
          <a:p xmlns:a="http://schemas.openxmlformats.org/drawingml/2006/main">
            <a:r>
              <a:t/>
            </a:r>
          </a:p>
          <a:p xmlns:a="http://schemas.openxmlformats.org/drawingml/2006/main">
            <a:r>
              <a:t>Справка API: https://www.man7.org/linux/man-pages/man2/recv.2.html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Зачем сервер использует MSG_NOSIGNAL при send?</a:t>
            </a:r>
          </a:p>
          <a:p xmlns:a="http://schemas.openxmlformats.org/drawingml/2006/main">
            <a:r>
              <a:t/>
            </a:r>
          </a:p>
          <a:p xmlns:a="http://schemas.openxmlformats.org/drawingml/2006/main">
            <a:r>
              <a:t>Чтобы ошибка записи в закрытое соединение не вызвала сигнал SIGPIPE для этого вызова. Программа все равно должна обработать отказ отправки. В server_main также игнорируется SIGPIPE для процесса.</a:t>
            </a:r>
          </a:p>
          <a:p xmlns:a="http://schemas.openxmlformats.org/drawingml/2006/main">
            <a:r>
              <a:t/>
            </a:r>
          </a:p>
          <a:p xmlns:a="http://schemas.openxmlformats.org/drawingml/2006/main">
            <a:r>
              <a:t>Почему ошибочные ответы неверны: Чтобы запретить все ошибки отправки. send по-прежнему может вернуть -1 и установить errno. Чтобы не отправлять символ перевода строки. Флаг не меняет содержимое прикладного буфера.</a:t>
            </a:r>
          </a:p>
          <a:p xmlns:a="http://schemas.openxmlformats.org/drawingml/2006/main">
            <a:r>
              <a:t/>
            </a:r>
          </a:p>
          <a:p xmlns:a="http://schemas.openxmlformats.org/drawingml/2006/main">
            <a:r>
              <a:t>Для устного ответа: Чем предотвращение сигнала отличается от успешной отправки?</a:t>
            </a:r>
          </a:p>
          <a:p xmlns:a="http://schemas.openxmlformats.org/drawingml/2006/main">
            <a:r>
              <a:t/>
            </a:r>
          </a:p>
          <a:p xmlns:a="http://schemas.openxmlformats.org/drawingml/2006/main">
            <a:r>
              <a:t>Исходник: src/server/poll_server.cpp, строки 165-178.</a:t>
            </a:r>
          </a:p>
          <a:p xmlns:a="http://schemas.openxmlformats.org/drawingml/2006/main">
            <a:r>
              <a:t/>
            </a:r>
          </a:p>
          <a:p xmlns:a="http://schemas.openxmlformats.org/drawingml/2006/main">
            <a:r>
              <a:t>Когда имеет смысл читать errno?</a:t>
            </a:r>
          </a:p>
          <a:p xmlns:a="http://schemas.openxmlformats.org/drawingml/2006/main">
            <a:r>
              <a:t/>
            </a:r>
          </a:p>
          <a:p xmlns:a="http://schemas.openxmlformats.org/drawingml/2006/main">
            <a:r>
              <a:t>После результата вызова, который сообщает об ошибке и использует errno. Например, recv == -1 требует проверки errno. Значение может оставаться от предыдущей ошибки. getaddrinfo использует собственный код результата и gai_strerror.</a:t>
            </a:r>
          </a:p>
          <a:p xmlns:a="http://schemas.openxmlformats.org/drawingml/2006/main">
            <a:r>
              <a:t/>
            </a:r>
          </a:p>
          <a:p xmlns:a="http://schemas.openxmlformats.org/drawingml/2006/main">
            <a:r>
              <a:t>Почему ошибочные ответы неверны: После любого успешного вызова, чтобы удостовериться в нуле. Успех не обязан очищать старое значение errno. Только после исключения C++. errno относится к C/POSIX интерфейсу, исключение необязательно.</a:t>
            </a:r>
          </a:p>
          <a:p xmlns:a="http://schemas.openxmlformats.org/drawingml/2006/main">
            <a:r>
              <a:t/>
            </a:r>
          </a:p>
          <a:p xmlns:a="http://schemas.openxmlformats.org/drawingml/2006/main">
            <a:r>
              <a:t>Для устного ответа: Почему для getaddrinfo и socket разные функции описания ошибки?</a:t>
            </a:r>
          </a:p>
          <a:p xmlns:a="http://schemas.openxmlformats.org/drawingml/2006/main">
            <a:r>
              <a:t/>
            </a:r>
          </a:p>
          <a:p xmlns:a="http://schemas.openxmlformats.org/drawingml/2006/main">
            <a:r>
              <a:t>Исходник: src/client/console_client.cpp, строки 46-74.</a:t>
            </a:r>
          </a:p>
          <a:p xmlns:a="http://schemas.openxmlformats.org/drawingml/2006/main">
            <a:r>
              <a:t/>
            </a:r>
          </a:p>
          <a:p xmlns:a="http://schemas.openxmlformats.org/drawingml/2006/main">
            <a:r>
              <a:t>Справка API: https://www.man7.org/linux/man-pages/man2/recv.2.html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Что означает EINTR у poll?</a:t>
            </a:r>
          </a:p>
          <a:p xmlns:a="http://schemas.openxmlformats.org/drawingml/2006/main">
            <a:r>
              <a:t/>
            </a:r>
          </a:p>
          <a:p xmlns:a="http://schemas.openxmlformats.org/drawingml/2006/main">
            <a:r>
              <a:t>Ожидание прервано обработкой сигнала. Главный цикл проверяет EINTR и повторяет ожидание. Такая обработка не равна обработке всех ошибок системных вызовов в остальных местах.</a:t>
            </a:r>
          </a:p>
          <a:p xmlns:a="http://schemas.openxmlformats.org/drawingml/2006/main">
            <a:r>
              <a:t/>
            </a:r>
          </a:p>
          <a:p xmlns:a="http://schemas.openxmlformats.org/drawingml/2006/main">
            <a:r>
              <a:t>Почему ошибочные ответы неверны: Все клиенты одновременно отключились. Закрытие клиентов отражается другими результатами и событиями. В массиве обязательно закончилась память. EINTR не обозначает недостаток памяти.</a:t>
            </a:r>
          </a:p>
          <a:p xmlns:a="http://schemas.openxmlformats.org/drawingml/2006/main">
            <a:r>
              <a:t/>
            </a:r>
          </a:p>
          <a:p xmlns:a="http://schemas.openxmlformats.org/drawingml/2006/main">
            <a:r>
              <a:t>Для устного ответа: Почему нельзя утверждать, что весь код устойчив к EINTR?</a:t>
            </a:r>
          </a:p>
          <a:p xmlns:a="http://schemas.openxmlformats.org/drawingml/2006/main">
            <a:r>
              <a:t/>
            </a:r>
          </a:p>
          <a:p xmlns:a="http://schemas.openxmlformats.org/drawingml/2006/main">
            <a:r>
              <a:t>Исходник: src/server/poll_server.cpp, строки 81-113.</a:t>
            </a:r>
          </a:p>
          <a:p xmlns:a="http://schemas.openxmlformats.org/drawingml/2006/main">
            <a:r>
              <a:t/>
            </a:r>
          </a:p>
          <a:p xmlns:a="http://schemas.openxmlformats.org/drawingml/2006/main">
            <a:r>
              <a:t>Как устроен прием ответа у консольного клиента?</a:t>
            </a:r>
          </a:p>
          <a:p xmlns:a="http://schemas.openxmlformats.org/drawingml/2006/main">
            <a:r>
              <a:t/>
            </a:r>
          </a:p>
          <a:p xmlns:a="http://schemas.openxmlformats.org/drawingml/2006/main">
            <a:r>
              <a:t>Блокирующее чтение по одному байту до \n. Такой код прост для учебного клиента, но требует много системных вызовов. Без тайм-аута клиент может долго ждать недоставленный конец ответа.</a:t>
            </a:r>
          </a:p>
          <a:p xmlns:a="http://schemas.openxmlformats.org/drawingml/2006/main">
            <a:r>
              <a:t/>
            </a:r>
          </a:p>
          <a:p xmlns:a="http://schemas.openxmlformats.org/drawingml/2006/main">
            <a:r>
              <a:t>Почему ошибочные ответы неверны: poll отслеживает несколько серверов одновременно. В клиенте нет событийного цикла poll. Один recv всегда возвращает весь ответ целиком. Функция receive_line содержит цикл чтения.</a:t>
            </a:r>
          </a:p>
          <a:p xmlns:a="http://schemas.openxmlformats.org/drawingml/2006/main">
            <a:r>
              <a:t/>
            </a:r>
          </a:p>
          <a:p xmlns:a="http://schemas.openxmlformats.org/drawingml/2006/main">
            <a:r>
              <a:t>Для устного ответа: Как ускорить прием, сохранив правильную обработку границ?</a:t>
            </a:r>
          </a:p>
          <a:p xmlns:a="http://schemas.openxmlformats.org/drawingml/2006/main">
            <a:r>
              <a:t/>
            </a:r>
          </a:p>
          <a:p xmlns:a="http://schemas.openxmlformats.org/drawingml/2006/main">
            <a:r>
              <a:t>Исходник: src/client/console_client.cpp, строки 90-112.</a:t>
            </a:r>
          </a:p>
          <a:p xmlns:a="http://schemas.openxmlformats.org/drawingml/2006/main">
            <a:r>
              <a:t/>
            </a:r>
          </a:p>
          <a:p xmlns:a="http://schemas.openxmlformats.org/drawingml/2006/main">
            <a:r>
              <a:t>Справка API: https://www.man7.org/linux/man-pages/man2/recv.2.html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Что делает poll в главном цикле?</a:t>
            </a:r>
          </a:p>
          <a:p xmlns:a="http://schemas.openxmlformats.org/drawingml/2006/main">
            <a:r>
              <a:t/>
            </a:r>
          </a:p>
          <a:p xmlns:a="http://schemas.openxmlformats.org/drawingml/2006/main">
            <a:r>
              <a:t>Ждет готовности или особых событий у набора дескрипторов. poll заполняет revents у элементов pollfd. Сервер смотрит эти маски и решает, вызвать ли accept, recv, send или закрыть соединение.</a:t>
            </a:r>
          </a:p>
          <a:p xmlns:a="http://schemas.openxmlformats.org/drawingml/2006/main">
            <a:r>
              <a:t/>
            </a:r>
          </a:p>
          <a:p xmlns:a="http://schemas.openxmlformats.org/drawingml/2006/main">
            <a:r>
              <a:t>Почему ошибочные ответы неверны: Принимает байты и сразу выполняет команды. Чтение и обработка выполняются отдельными функциями после poll. Создает копию процесса на каждый дескриптор. poll не создает процессы.</a:t>
            </a:r>
          </a:p>
          <a:p xmlns:a="http://schemas.openxmlformats.org/drawingml/2006/main">
            <a:r>
              <a:t/>
            </a:r>
          </a:p>
          <a:p xmlns:a="http://schemas.openxmlformats.org/drawingml/2006/main">
            <a:r>
              <a:t>Для устного ответа: Почему после poll еще нужны recv и send?</a:t>
            </a:r>
          </a:p>
          <a:p xmlns:a="http://schemas.openxmlformats.org/drawingml/2006/main">
            <a:r>
              <a:t/>
            </a:r>
          </a:p>
          <a:p xmlns:a="http://schemas.openxmlformats.org/drawingml/2006/main">
            <a:r>
              <a:t>Исходник: src/server/poll_server.cpp, строки 81-113.</a:t>
            </a:r>
          </a:p>
          <a:p xmlns:a="http://schemas.openxmlformats.org/drawingml/2006/main">
            <a:r>
              <a:t/>
            </a:r>
          </a:p>
          <a:p xmlns:a="http://schemas.openxmlformats.org/drawingml/2006/main">
            <a:r>
              <a:t>Что передается вторым аргументом poll?</a:t>
            </a:r>
          </a:p>
          <a:p xmlns:a="http://schemas.openxmlformats.org/drawingml/2006/main">
            <a:r>
              <a:t/>
            </a:r>
          </a:p>
          <a:p xmlns:a="http://schemas.openxmlformats.org/drawingml/2006/main">
            <a:r>
              <a:t>Количество элементов pollfd. В коде используется _poll_fds.size(), что дает число элементов. В лекции 2 на слайде 19 пример с sizeof(list) в этом месте требует исправления.</a:t>
            </a:r>
          </a:p>
          <a:p xmlns:a="http://schemas.openxmlformats.org/drawingml/2006/main">
            <a:r>
              <a:t/>
            </a:r>
          </a:p>
          <a:p xmlns:a="http://schemas.openxmlformats.org/drawingml/2006/main">
            <a:r>
              <a:t>Почему ошибочные ответы неверны: Размер массива в байтах. sizeof массива в байтах нельзя подставлять как количество элементов. Наибольший номер дескриптора плюс один. Такой смысл есть у nfds в select, но не у poll.</a:t>
            </a:r>
          </a:p>
          <a:p xmlns:a="http://schemas.openxmlformats.org/drawingml/2006/main">
            <a:r>
              <a:t/>
            </a:r>
          </a:p>
          <a:p xmlns:a="http://schemas.openxmlformats.org/drawingml/2006/main">
            <a:r>
              <a:t>Для устного ответа: Почему data() и size() образуют подходящую пару аргументов?</a:t>
            </a:r>
          </a:p>
          <a:p xmlns:a="http://schemas.openxmlformats.org/drawingml/2006/main">
            <a:r>
              <a:t/>
            </a:r>
          </a:p>
          <a:p xmlns:a="http://schemas.openxmlformats.org/drawingml/2006/main">
            <a:r>
              <a:t>Исходник: src/server/poll_server.cpp, строки 81-113.</a:t>
            </a:r>
          </a:p>
          <a:p xmlns:a="http://schemas.openxmlformats.org/drawingml/2006/main">
            <a:r>
              <a:t/>
            </a:r>
          </a:p>
          <a:p xmlns:a="http://schemas.openxmlformats.org/drawingml/2006/main">
            <a:r>
              <a:t>Справка API: https://man7.org/linux/man-pages/man2/poll.2.html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Что означает timeout = -1 у poll?</a:t>
            </a:r>
          </a:p>
          <a:p xmlns:a="http://schemas.openxmlformats.org/drawingml/2006/main">
            <a:r>
              <a:t/>
            </a:r>
          </a:p>
          <a:p xmlns:a="http://schemas.openxmlformats.org/drawingml/2006/main">
            <a:r>
              <a:t>Ожидание без заданного предела времени до события или прерывания. Сам poll может блокировать поток во время ожидания. Это совместимо с неблокирующими recv/send: сервер спит, когда делать нечего, вместо расходования CPU.</a:t>
            </a:r>
          </a:p>
          <a:p xmlns:a="http://schemas.openxmlformats.org/drawingml/2006/main">
            <a:r>
              <a:t/>
            </a:r>
          </a:p>
          <a:p xmlns:a="http://schemas.openxmlformats.org/drawingml/2006/main">
            <a:r>
              <a:t>Почему ошибочные ответы неверны: Немедленный возврат без ожидания. Немедленный опрос задается нулем. Ожидание ровно одну миллисекунду. Положительное число задает время в миллисекундах.</a:t>
            </a:r>
          </a:p>
          <a:p xmlns:a="http://schemas.openxmlformats.org/drawingml/2006/main">
            <a:r>
              <a:t/>
            </a:r>
          </a:p>
          <a:p xmlns:a="http://schemas.openxmlformats.org/drawingml/2006/main">
            <a:r>
              <a:t>Для устного ответа: Почему неблокирующий сервер может блокироваться внутри poll?</a:t>
            </a:r>
          </a:p>
          <a:p xmlns:a="http://schemas.openxmlformats.org/drawingml/2006/main">
            <a:r>
              <a:t/>
            </a:r>
          </a:p>
          <a:p xmlns:a="http://schemas.openxmlformats.org/drawingml/2006/main">
            <a:r>
              <a:t>Исходник: src/server/poll_server.cpp, строки 81-113.</a:t>
            </a:r>
          </a:p>
          <a:p xmlns:a="http://schemas.openxmlformats.org/drawingml/2006/main">
            <a:r>
              <a:t/>
            </a:r>
          </a:p>
          <a:p xmlns:a="http://schemas.openxmlformats.org/drawingml/2006/main">
            <a:r>
              <a:t>Чем events отличается от revents?</a:t>
            </a:r>
          </a:p>
          <a:p xmlns:a="http://schemas.openxmlformats.org/drawingml/2006/main">
            <a:r>
              <a:t/>
            </a:r>
          </a:p>
          <a:p xmlns:a="http://schemas.openxmlformats.org/drawingml/2006/main">
            <a:r>
              <a:t>events задает интересующие события, revents содержит произошедшие. rebuild_events заполняет events, poll записывает revents. Проверять после ожидания нужно результат revents.</a:t>
            </a:r>
          </a:p>
          <a:p xmlns:a="http://schemas.openxmlformats.org/drawingml/2006/main">
            <a:r>
              <a:t/>
            </a:r>
          </a:p>
          <a:p xmlns:a="http://schemas.openxmlformats.org/drawingml/2006/main">
            <a:r>
              <a:t>Почему ошибочные ответы неверны: events содержит данные, revents хранит адрес клиента. Оба поля являются масками событий типа short. Это два одинаковых поля для резервного копирования. У полей разные направления обмена между программой и ОС.</a:t>
            </a:r>
          </a:p>
          <a:p xmlns:a="http://schemas.openxmlformats.org/drawingml/2006/main">
            <a:r>
              <a:t/>
            </a:r>
          </a:p>
          <a:p xmlns:a="http://schemas.openxmlformats.org/drawingml/2006/main">
            <a:r>
              <a:t>Для устного ответа: Как запросить чтение и запись одновременно?</a:t>
            </a:r>
          </a:p>
          <a:p xmlns:a="http://schemas.openxmlformats.org/drawingml/2006/main">
            <a:r>
              <a:t/>
            </a:r>
          </a:p>
          <a:p xmlns:a="http://schemas.openxmlformats.org/drawingml/2006/main">
            <a:r>
              <a:t>Исходник: src/server/poll_server.cpp, строки 268-287.</a:t>
            </a:r>
          </a:p>
          <a:p xmlns:a="http://schemas.openxmlformats.org/drawingml/2006/main">
            <a:r>
              <a:t/>
            </a:r>
          </a:p>
          <a:p xmlns:a="http://schemas.openxmlformats.org/drawingml/2006/main">
            <a:r>
              <a:t>Справка API: https://man7.org/linux/man-pages/man2/poll.2.html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Что означает POLLIN на слушающем сокете?</a:t>
            </a:r>
          </a:p>
          <a:p xmlns:a="http://schemas.openxmlformats.org/drawingml/2006/main">
            <a:r>
              <a:t/>
            </a:r>
          </a:p>
          <a:p xmlns:a="http://schemas.openxmlformats.org/drawingml/2006/main">
            <a:r>
              <a:t>Можно попытаться принять ожидающее соединение. Готовность к чтению имеет смысл, зависящий от объекта. Для слушателя это повод вызвать accept, для клиента - recv.</a:t>
            </a:r>
          </a:p>
          <a:p xmlns:a="http://schemas.openxmlformats.org/drawingml/2006/main">
            <a:r>
              <a:t/>
            </a:r>
          </a:p>
          <a:p xmlns:a="http://schemas.openxmlformats.org/drawingml/2006/main">
            <a:r>
              <a:t>Почему ошибочные ответы неверны: Пришла арифметическая строка на слушающий сокет. Прикладные данные принимаются на соединенных сокетах. Слушающий сокет готов отправить ответ пользователю. Он не служит каналом обмена с конкретным клиентом.</a:t>
            </a:r>
          </a:p>
          <a:p xmlns:a="http://schemas.openxmlformats.org/drawingml/2006/main">
            <a:r>
              <a:t/>
            </a:r>
          </a:p>
          <a:p xmlns:a="http://schemas.openxmlformats.org/drawingml/2006/main">
            <a:r>
              <a:t>Для устного ответа: Сравни реакцию на POLLIN у listener и у client fd.</a:t>
            </a:r>
          </a:p>
          <a:p xmlns:a="http://schemas.openxmlformats.org/drawingml/2006/main">
            <a:r>
              <a:t/>
            </a:r>
          </a:p>
          <a:p xmlns:a="http://schemas.openxmlformats.org/drawingml/2006/main">
            <a:r>
              <a:t>Исходник: src/server/poll_server.cpp, строки 81-113.</a:t>
            </a:r>
          </a:p>
          <a:p xmlns:a="http://schemas.openxmlformats.org/drawingml/2006/main">
            <a:r>
              <a:t/>
            </a:r>
          </a:p>
          <a:p xmlns:a="http://schemas.openxmlformats.org/drawingml/2006/main">
            <a:r>
              <a:t>Зачем проверяют events &amp; POLLIN, а не events == POLLIN?</a:t>
            </a:r>
          </a:p>
          <a:p xmlns:a="http://schemas.openxmlformats.org/drawingml/2006/main">
            <a:r>
              <a:t/>
            </a:r>
          </a:p>
          <a:p xmlns:a="http://schemas.openxmlformats.org/drawingml/2006/main">
            <a:r>
              <a:t>Потому что одновременно могут быть установлены несколько битов событий. Маска может содержать POLLIN вместе с другим флагом. Побитовое И проверяет присутствие нужного бита, не требуя полного равенства.</a:t>
            </a:r>
          </a:p>
          <a:p xmlns:a="http://schemas.openxmlformats.org/drawingml/2006/main">
            <a:r>
              <a:t/>
            </a:r>
          </a:p>
          <a:p xmlns:a="http://schemas.openxmlformats.org/drawingml/2006/main">
            <a:r>
              <a:t>Почему ошибочные ответы неверны: Потому что &amp; сравнивает строки быстрее. Здесь целочисленная битовая операция. Потому что POLLIN всегда отрицателен. Смысл проверки не связан со знаком значения.</a:t>
            </a:r>
          </a:p>
          <a:p xmlns:a="http://schemas.openxmlformats.org/drawingml/2006/main">
            <a:r>
              <a:t/>
            </a:r>
          </a:p>
          <a:p xmlns:a="http://schemas.openxmlformats.org/drawingml/2006/main">
            <a:r>
              <a:t>Для устного ответа: Что вернет проверка для POLLIN | POLLOUT?</a:t>
            </a:r>
          </a:p>
          <a:p xmlns:a="http://schemas.openxmlformats.org/drawingml/2006/main">
            <a:r>
              <a:t/>
            </a:r>
          </a:p>
          <a:p xmlns:a="http://schemas.openxmlformats.org/drawingml/2006/main">
            <a:r>
              <a:t>Исходник: src/server/poll_server.cpp, строки 81-113.</a:t>
            </a:r>
          </a:p>
          <a:p xmlns:a="http://schemas.openxmlformats.org/drawingml/2006/main">
            <a:r>
              <a:t/>
            </a:r>
          </a:p>
          <a:p xmlns:a="http://schemas.openxmlformats.org/drawingml/2006/main">
            <a:r>
              <a:t>Справка API: https://man7.org/linux/man-pages/man2/poll.2.html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Почему POLLOUT запрашивается только при непустом output?</a:t>
            </a:r>
          </a:p>
          <a:p xmlns:a="http://schemas.openxmlformats.org/drawingml/2006/main">
            <a:r>
              <a:t/>
            </a:r>
          </a:p>
          <a:p xmlns:a="http://schemas.openxmlformats.org/drawingml/2006/main">
            <a:r>
              <a:t>Иначе обычно готовый к записи сокет может постоянно будить цикл без полезной работы. Набор интересующих событий должен отражать реальные задачи. Есть неотправленные байты - ожидаем запись, нет байтов - достаточно ожидать чтение.</a:t>
            </a:r>
          </a:p>
          <a:p xmlns:a="http://schemas.openxmlformats.org/drawingml/2006/main">
            <a:r>
              <a:t/>
            </a:r>
          </a:p>
          <a:p xmlns:a="http://schemas.openxmlformats.org/drawingml/2006/main">
            <a:r>
              <a:t>Почему ошибочные ответы неверны: Потому что TCP позволяет отправлять только один ответ за сеанс. Ответов может быть много. Потому что POLLOUT автоматически очищает output. Буфер меняет write_client, не poll.</a:t>
            </a:r>
          </a:p>
          <a:p xmlns:a="http://schemas.openxmlformats.org/drawingml/2006/main">
            <a:r>
              <a:t/>
            </a:r>
          </a:p>
          <a:p xmlns:a="http://schemas.openxmlformats.org/drawingml/2006/main">
            <a:r>
              <a:t>Для устного ответа: Как образуется холостой цикл при постоянном POLLOUT?</a:t>
            </a:r>
          </a:p>
          <a:p xmlns:a="http://schemas.openxmlformats.org/drawingml/2006/main">
            <a:r>
              <a:t/>
            </a:r>
          </a:p>
          <a:p xmlns:a="http://schemas.openxmlformats.org/drawingml/2006/main">
            <a:r>
              <a:t>Исходник: src/server/poll_server.cpp, строки 268-287.</a:t>
            </a:r>
          </a:p>
          <a:p xmlns:a="http://schemas.openxmlformats.org/drawingml/2006/main">
            <a:r>
              <a:t/>
            </a:r>
          </a:p>
          <a:p xmlns:a="http://schemas.openxmlformats.org/drawingml/2006/main">
            <a:r>
              <a:t>Что устанавливает O_NONBLOCK?</a:t>
            </a:r>
          </a:p>
          <a:p xmlns:a="http://schemas.openxmlformats.org/drawingml/2006/main">
            <a:r>
              <a:t/>
            </a:r>
          </a:p>
          <a:p xmlns:a="http://schemas.openxmlformats.org/drawingml/2006/main">
            <a:r>
              <a:t>Запрет операции ждать готовности, если сейчас она не может продвинуться. recv или send возвращают управление вместо ожидания. При невозможности выполнить операцию обычно получается -1 и EAGAIN/EWOULDBLOCK.</a:t>
            </a:r>
          </a:p>
          <a:p xmlns:a="http://schemas.openxmlformats.org/drawingml/2006/main">
            <a:r>
              <a:t/>
            </a:r>
          </a:p>
          <a:p xmlns:a="http://schemas.openxmlformats.org/drawingml/2006/main">
            <a:r>
              <a:t>Почему ошибочные ответы неверны: Запрет серверу когда-либо ожидать события. poll все еще может ждать. Автоматическое выполнение операции в отдельном потоке. Неблокирующий режим не означает отдельный исполнитель.</a:t>
            </a:r>
          </a:p>
          <a:p xmlns:a="http://schemas.openxmlformats.org/drawingml/2006/main">
            <a:r>
              <a:t/>
            </a:r>
          </a:p>
          <a:p xmlns:a="http://schemas.openxmlformats.org/drawingml/2006/main">
            <a:r>
              <a:t>Для устного ответа: Чем неблокирующий режим отличается от асинхронного завершения?</a:t>
            </a:r>
          </a:p>
          <a:p xmlns:a="http://schemas.openxmlformats.org/drawingml/2006/main">
            <a:r>
              <a:t/>
            </a:r>
          </a:p>
          <a:p xmlns:a="http://schemas.openxmlformats.org/drawingml/2006/main">
            <a:r>
              <a:t>Исходник: src/server/poll_server.cpp, строки 19-27.</a:t>
            </a:r>
          </a:p>
          <a:p xmlns:a="http://schemas.openxmlformats.org/drawingml/2006/main">
            <a:r>
              <a:t/>
            </a:r>
          </a:p>
          <a:p xmlns:a="http://schemas.openxmlformats.org/drawingml/2006/main">
            <a:r>
              <a:t>Справка API: https://man7.org/linux/man-pages/man2/poll.2.html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Почему новые флаги задаются как flags | O_NONBLOCK?</a:t>
            </a:r>
          </a:p>
          <a:p xmlns:a="http://schemas.openxmlformats.org/drawingml/2006/main">
            <a:r>
              <a:t/>
            </a:r>
          </a:p>
          <a:p xmlns:a="http://schemas.openxmlformats.org/drawingml/2006/main">
            <a:r>
              <a:t>Чтобы добавить нужный бит и сохранить уже установленные флаги состояния. Сначала F_GETFL получает текущие флаги, затем F_SETFL сохраняет их вместе с O_NONBLOCK. Так меньше риск случайно убрать существующий режим.</a:t>
            </a:r>
          </a:p>
          <a:p xmlns:a="http://schemas.openxmlformats.org/drawingml/2006/main">
            <a:r>
              <a:t/>
            </a:r>
          </a:p>
          <a:p xmlns:a="http://schemas.openxmlformats.org/drawingml/2006/main">
            <a:r>
              <a:t>Почему ошибочные ответы неверны: Чтобы обнулить все предыдущие флаги. Побитовое ИЛИ не обнуляет установленные биты. Чтобы проверить произошедшие события poll. Это настройка fd через fcntl, а не чтение событий.</a:t>
            </a:r>
          </a:p>
          <a:p xmlns:a="http://schemas.openxmlformats.org/drawingml/2006/main">
            <a:r>
              <a:t/>
            </a:r>
          </a:p>
          <a:p xmlns:a="http://schemas.openxmlformats.org/drawingml/2006/main">
            <a:r>
              <a:t>Для устного ответа: Чем |= отличается от присваивания только O_NONBLOCK?</a:t>
            </a:r>
          </a:p>
          <a:p xmlns:a="http://schemas.openxmlformats.org/drawingml/2006/main">
            <a:r>
              <a:t/>
            </a:r>
          </a:p>
          <a:p xmlns:a="http://schemas.openxmlformats.org/drawingml/2006/main">
            <a:r>
              <a:t>Исходник: src/server/poll_server.cpp, строки 19-27.</a:t>
            </a:r>
          </a:p>
          <a:p xmlns:a="http://schemas.openxmlformats.org/drawingml/2006/main">
            <a:r>
              <a:t/>
            </a:r>
          </a:p>
          <a:p xmlns:a="http://schemas.openxmlformats.org/drawingml/2006/main">
            <a:r>
              <a:t>Почему accept выполняется в цикле до EAGAIN?</a:t>
            </a:r>
          </a:p>
          <a:p xmlns:a="http://schemas.openxmlformats.org/drawingml/2006/main">
            <a:r>
              <a:t/>
            </a:r>
          </a:p>
          <a:p xmlns:a="http://schemas.openxmlformats.org/drawingml/2006/main">
            <a:r>
              <a:t>За одно событие может накопиться несколько ожидающих соединений. Сервер забирает доступные соединения и возвращается в общий цикл, когда очередь опустеет. Неблокирующий listener не позволяет этому циклу зависнуть на пустой очереди.</a:t>
            </a:r>
          </a:p>
          <a:p xmlns:a="http://schemas.openxmlformats.org/drawingml/2006/main">
            <a:r>
              <a:t/>
            </a:r>
          </a:p>
          <a:p xmlns:a="http://schemas.openxmlformats.org/drawingml/2006/main">
            <a:r>
              <a:t>Почему ошибочные ответы неверны: Для повторного приема одного клиента до подтверждения HELLO. HELLO обрабатывается позже через recv. Чтобы сделать слушающий сокет блокирующим. Режим задается fcntl, не числом accept.</a:t>
            </a:r>
          </a:p>
          <a:p xmlns:a="http://schemas.openxmlformats.org/drawingml/2006/main">
            <a:r>
              <a:t/>
            </a:r>
          </a:p>
          <a:p xmlns:a="http://schemas.openxmlformats.org/drawingml/2006/main">
            <a:r>
              <a:t>Для устного ответа: Почему один accept на событие тоже возможен, но обслужит очередь иначе?</a:t>
            </a:r>
          </a:p>
          <a:p xmlns:a="http://schemas.openxmlformats.org/drawingml/2006/main">
            <a:r>
              <a:t/>
            </a:r>
          </a:p>
          <a:p xmlns:a="http://schemas.openxmlformats.org/drawingml/2006/main">
            <a:r>
              <a:t>Исходник: src/server/poll_server.cpp, строки 115-134.</a:t>
            </a:r>
          </a:p>
          <a:p xmlns:a="http://schemas.openxmlformats.org/drawingml/2006/main">
            <a:r>
              <a:t/>
            </a:r>
          </a:p>
          <a:p xmlns:a="http://schemas.openxmlformats.org/drawingml/2006/main">
            <a:r>
              <a:t>Справка API: https://man7.org/linux/man-pages/man2/poll.2.html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Почему клиенты обходятся от конца вектора к началу?</a:t>
            </a:r>
          </a:p>
          <a:p xmlns:a="http://schemas.openxmlformats.org/drawingml/2006/main">
            <a:r>
              <a:t/>
            </a:r>
          </a:p>
          <a:p xmlns:a="http://schemas.openxmlformats.org/drawingml/2006/main">
            <a:r>
              <a:t>Чтобы удаление текущего элемента не смещало еще не обработанные меньшие индексы. erase сдвигает последующие элементы. Обратный обход упрощает удаление, но сам по себе не решает рассогласование _clients и _poll_fds.</a:t>
            </a:r>
          </a:p>
          <a:p xmlns:a="http://schemas.openxmlformats.org/drawingml/2006/main">
            <a:r>
              <a:t/>
            </a:r>
          </a:p>
          <a:p xmlns:a="http://schemas.openxmlformats.org/drawingml/2006/main">
            <a:r>
              <a:t>Почему ошибочные ответы неверны: Чтобы новые клиенты всегда имели больший приоритет. Основная причина связана с erase и индексами. Потому что poll возвращает события только в обратном порядке. revents находится в исходном порядке массива.</a:t>
            </a:r>
          </a:p>
          <a:p xmlns:a="http://schemas.openxmlformats.org/drawingml/2006/main">
            <a:r>
              <a:t/>
            </a:r>
          </a:p>
          <a:p xmlns:a="http://schemas.openxmlformats.org/drawingml/2006/main">
            <a:r>
              <a:t>Для устного ответа: Почему обратного обхода недостаточно для безопасности новых подключений?</a:t>
            </a:r>
          </a:p>
          <a:p xmlns:a="http://schemas.openxmlformats.org/drawingml/2006/main">
            <a:r>
              <a:t/>
            </a:r>
          </a:p>
          <a:p xmlns:a="http://schemas.openxmlformats.org/drawingml/2006/main">
            <a:r>
              <a:t>Исходник: src/server/poll_server.cpp, строки 81-113.</a:t>
            </a:r>
          </a:p>
          <a:p xmlns:a="http://schemas.openxmlformats.org/drawingml/2006/main">
            <a:r>
              <a:t/>
            </a:r>
          </a:p>
          <a:p xmlns:a="http://schemas.openxmlformats.org/drawingml/2006/main">
            <a:r>
              <a:t>Почему один тяжелый расчет может задержать всех клиентов?</a:t>
            </a:r>
          </a:p>
          <a:p xmlns:a="http://schemas.openxmlformats.org/drawingml/2006/main">
            <a:r>
              <a:t/>
            </a:r>
          </a:p>
          <a:p xmlns:a="http://schemas.openxmlformats.org/drawingml/2006/main">
            <a:r>
              <a:t>Все обработчики выполняются в одном потоке событийного цикла. Неблокирующий сетевой ввод-вывод не делает расчет и запись файла неблокирующими. Важно ограничивать работу одного обработчика.</a:t>
            </a:r>
          </a:p>
          <a:p xmlns:a="http://schemas.openxmlformats.org/drawingml/2006/main">
            <a:r>
              <a:t/>
            </a:r>
          </a:p>
          <a:p xmlns:a="http://schemas.openxmlformats.org/drawingml/2006/main">
            <a:r>
              <a:t>Почему ошибочные ответы неверны: TCP запрещает одновременно существовать нескольким соединениям. Соединений может быть много. poll специально ждет завершения всех команд перед возвратом. poll отслеживает готовность дескрипторов, не выполнение выражений.</a:t>
            </a:r>
          </a:p>
          <a:p xmlns:a="http://schemas.openxmlformats.org/drawingml/2006/main">
            <a:r>
              <a:t/>
            </a:r>
          </a:p>
          <a:p xmlns:a="http://schemas.openxmlformats.org/drawingml/2006/main">
            <a:r>
              <a:t>Для устного ответа: Какая операция модели также может задержать сетевой цикл?</a:t>
            </a:r>
          </a:p>
          <a:p xmlns:a="http://schemas.openxmlformats.org/drawingml/2006/main">
            <a:r>
              <a:t/>
            </a:r>
          </a:p>
          <a:p xmlns:a="http://schemas.openxmlformats.org/drawingml/2006/main">
            <a:r>
              <a:t>Исходник: src/server/poll_server.cpp, строки 81-113.</a:t>
            </a:r>
          </a:p>
          <a:p xmlns:a="http://schemas.openxmlformats.org/drawingml/2006/main">
            <a:r>
              <a:t/>
            </a:r>
          </a:p>
          <a:p xmlns:a="http://schemas.openxmlformats.org/drawingml/2006/main">
            <a:r>
              <a:t>Справка API: https://man7.org/linux/man-pages/man2/poll.2.html</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Как программа определяет конец прикладного сообщения?</a:t>
            </a:r>
          </a:p>
          <a:p xmlns:a="http://schemas.openxmlformats.org/drawingml/2006/main">
            <a:r>
              <a:t/>
            </a:r>
          </a:p>
          <a:p xmlns:a="http://schemas.openxmlformats.org/drawingml/2006/main">
            <a:r>
              <a:t>По байту перевода строки \n. TCP дает байтовый поток, а протокол поверх него выбирает разделитель. process_lines ищет \n и оставляет неполный хвост.</a:t>
            </a:r>
          </a:p>
          <a:p xmlns:a="http://schemas.openxmlformats.org/drawingml/2006/main">
            <a:r>
              <a:t/>
            </a:r>
          </a:p>
          <a:p xmlns:a="http://schemas.openxmlformats.org/drawingml/2006/main">
            <a:r>
              <a:t>Почему ошибочные ответы неверны: По завершению каждого recv. recv не определяет границы прикладного сообщения. По нулевому байту, который автоматически добавляет TCP. TCP не добавляет такой терминатор.</a:t>
            </a:r>
          </a:p>
          <a:p xmlns:a="http://schemas.openxmlformats.org/drawingml/2006/main">
            <a:r>
              <a:t/>
            </a:r>
          </a:p>
          <a:p xmlns:a="http://schemas.openxmlformats.org/drawingml/2006/main">
            <a:r>
              <a:t>Для устного ответа: Зачем обработчик снимает завершающий \r?</a:t>
            </a:r>
          </a:p>
          <a:p xmlns:a="http://schemas.openxmlformats.org/drawingml/2006/main">
            <a:r>
              <a:t/>
            </a:r>
          </a:p>
          <a:p xmlns:a="http://schemas.openxmlformats.org/drawingml/2006/main">
            <a:r>
              <a:t>Исходник: src/server/poll_server.cpp, строки 193-207.</a:t>
            </a:r>
          </a:p>
          <a:p xmlns:a="http://schemas.openxmlformats.org/drawingml/2006/main">
            <a:r>
              <a:t/>
            </a:r>
          </a:p>
          <a:p xmlns:a="http://schemas.openxmlformats.org/drawingml/2006/main">
            <a:r>
              <a:t>Что клиент делает после подключения перед первой командой?</a:t>
            </a:r>
          </a:p>
          <a:p xmlns:a="http://schemas.openxmlformats.org/drawingml/2006/main">
            <a:r>
              <a:t/>
            </a:r>
          </a:p>
          <a:p xmlns:a="http://schemas.openxmlformats.org/drawingml/2006/main">
            <a:r>
              <a:t>Читает приветствие и отправляет HELLO с именем. Конструктор клиента сначала синхронизируется с приветствием сервера. Затем request отправляет HELLO и получает результат регистрации имени.</a:t>
            </a:r>
          </a:p>
          <a:p xmlns:a="http://schemas.openxmlformats.org/drawingml/2006/main">
            <a:r>
              <a:t/>
            </a:r>
          </a:p>
          <a:p xmlns:a="http://schemas.openxmlformats.org/drawingml/2006/main">
            <a:r>
              <a:t>Почему ошибочные ответы неверны: Сразу отправляет пароль в бинарном виде. Пароля в этой реализации нет. Создает users.db на своем компьютере. Файл принадлежит серверной модели.</a:t>
            </a:r>
          </a:p>
          <a:p xmlns:a="http://schemas.openxmlformats.org/drawingml/2006/main">
            <a:r>
              <a:t/>
            </a:r>
          </a:p>
          <a:p xmlns:a="http://schemas.openxmlformats.org/drawingml/2006/main">
            <a:r>
              <a:t>Для устного ответа: Почему нельзя перепутать приветствие с ответом на CMD?</a:t>
            </a:r>
          </a:p>
          <a:p xmlns:a="http://schemas.openxmlformats.org/drawingml/2006/main">
            <a:r>
              <a:t/>
            </a:r>
          </a:p>
          <a:p xmlns:a="http://schemas.openxmlformats.org/drawingml/2006/main">
            <a:r>
              <a:t>Исходник: src/client/console_client.cpp, строки 24-38.</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Является ли HELLO &lt;имя&gt; полноценной проверкой личности?</a:t>
            </a:r>
          </a:p>
          <a:p xmlns:a="http://schemas.openxmlformats.org/drawingml/2006/main">
            <a:r>
              <a:t/>
            </a:r>
          </a:p>
          <a:p xmlns:a="http://schemas.openxmlformats.org/drawingml/2006/main">
            <a:r>
              <a:t>Нет, это выбор имени без пароля и проверки владения им. Поле authorized означает прохождение шага протокола. Любой клиент, назвавший то же допустимое имя, обращается к тому же набору переменных.</a:t>
            </a:r>
          </a:p>
          <a:p xmlns:a="http://schemas.openxmlformats.org/drawingml/2006/main">
            <a:r>
              <a:t/>
            </a:r>
          </a:p>
          <a:p xmlns:a="http://schemas.openxmlformats.org/drawingml/2006/main">
            <a:r>
              <a:t>Почему ошибочные ответы неверны: Да, TCP подтверждает имя человека. TCP не проверяет человеческую личность. Да, имя шифруется std::string. std::string ничего не шифрует.</a:t>
            </a:r>
          </a:p>
          <a:p xmlns:a="http://schemas.openxmlformats.org/drawingml/2006/main">
            <a:r>
              <a:t/>
            </a:r>
          </a:p>
          <a:p xmlns:a="http://schemas.openxmlformats.org/drawingml/2006/main">
            <a:r>
              <a:t>Для устного ответа: Почему слово authorized в коде не доказывает безопасность входа?</a:t>
            </a:r>
          </a:p>
          <a:p xmlns:a="http://schemas.openxmlformats.org/drawingml/2006/main">
            <a:r>
              <a:t/>
            </a:r>
          </a:p>
          <a:p xmlns:a="http://schemas.openxmlformats.org/drawingml/2006/main">
            <a:r>
              <a:t>Исходник: src/server/poll_server.cpp, строки 209-266.</a:t>
            </a:r>
          </a:p>
          <a:p xmlns:a="http://schemas.openxmlformats.org/drawingml/2006/main">
            <a:r>
              <a:t/>
            </a:r>
          </a:p>
          <a:p xmlns:a="http://schemas.openxmlformats.org/drawingml/2006/main">
            <a:r>
              <a:t>Что произойдет с CMD до успешного HELLO?</a:t>
            </a:r>
          </a:p>
          <a:p xmlns:a="http://schemas.openxmlformats.org/drawingml/2006/main">
            <a:r>
              <a:t/>
            </a:r>
          </a:p>
          <a:p xmlns:a="http://schemas.openxmlformats.org/drawingml/2006/main">
            <a:r>
              <a:t>Сервер ответит ERR с просьбой сначала отправить HELLO. process_line сначала проверяет authorized. Пока этот флаг false, допустимо только корректное приветствие с двумя словами.</a:t>
            </a:r>
          </a:p>
          <a:p xmlns:a="http://schemas.openxmlformats.org/drawingml/2006/main">
            <a:r>
              <a:t/>
            </a:r>
          </a:p>
          <a:p xmlns:a="http://schemas.openxmlformats.org/drawingml/2006/main">
            <a:r>
              <a:t>Почему ошибочные ответы неверны: Команда выполнится для анонимного пользователя. Такая ветка не реализована. Сервер обязательно завершит весь процесс. Обычная ошибка порядка сообщений оформляется ответом.</a:t>
            </a:r>
          </a:p>
          <a:p xmlns:a="http://schemas.openxmlformats.org/drawingml/2006/main">
            <a:r>
              <a:t/>
            </a:r>
          </a:p>
          <a:p xmlns:a="http://schemas.openxmlformats.org/drawingml/2006/main">
            <a:r>
              <a:t>Для устного ответа: Где хранится признак прохождения HELLO?</a:t>
            </a:r>
          </a:p>
          <a:p xmlns:a="http://schemas.openxmlformats.org/drawingml/2006/main">
            <a:r>
              <a:t/>
            </a:r>
          </a:p>
          <a:p xmlns:a="http://schemas.openxmlformats.org/drawingml/2006/main">
            <a:r>
              <a:t>Исходник: src/server/poll_server.cpp, строки 209-266.</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Почему здесь убрали seq из сообщений?</a:t>
            </a:r>
          </a:p>
          <a:p xmlns:a="http://schemas.openxmlformats.org/drawingml/2006/main">
            <a:r>
              <a:t/>
            </a:r>
          </a:p>
          <a:p xmlns:a="http://schemas.openxmlformats.org/drawingml/2006/main">
            <a:r>
              <a:t>Клиент держит только один ожидающий запрос и читает ответы последовательно. Условие упрощения - один запрос, один ответ и сохранение порядка обработки. При нескольких параллельных запросах или ответах вне порядка идентификатор снова может понадобиться.</a:t>
            </a:r>
          </a:p>
          <a:p xmlns:a="http://schemas.openxmlformats.org/drawingml/2006/main">
            <a:r>
              <a:t/>
            </a:r>
          </a:p>
          <a:p xmlns:a="http://schemas.openxmlformats.org/drawingml/2006/main">
            <a:r>
              <a:t>Почему ошибочные ответы неверны: TCP передает прикладной номер запроса автоматически. Нумерация байтов TCP не является идентификатором команды. seq всегда запрещен в текстовом протоколе. Идентификаторы допустимы и полезны в других схемах.</a:t>
            </a:r>
          </a:p>
          <a:p xmlns:a="http://schemas.openxmlformats.org/drawingml/2006/main">
            <a:r>
              <a:t/>
            </a:r>
          </a:p>
          <a:p xmlns:a="http://schemas.openxmlformats.org/drawingml/2006/main">
            <a:r>
              <a:t>Для устного ответа: Когда придется вернуть идентификатор запроса?</a:t>
            </a:r>
          </a:p>
          <a:p xmlns:a="http://schemas.openxmlformats.org/drawingml/2006/main">
            <a:r>
              <a:t/>
            </a:r>
          </a:p>
          <a:p xmlns:a="http://schemas.openxmlformats.org/drawingml/2006/main">
            <a:r>
              <a:t>Исходник: src/client/console_client.cpp, строки 114-117.</a:t>
            </a:r>
          </a:p>
          <a:p xmlns:a="http://schemas.openxmlformats.org/drawingml/2006/main">
            <a:r>
              <a:t/>
            </a:r>
          </a:p>
          <a:p xmlns:a="http://schemas.openxmlformats.org/drawingml/2006/main">
            <a:r>
              <a:t>Как выглядит команда клиента на проводе для X = 10?</a:t>
            </a:r>
          </a:p>
          <a:p xmlns:a="http://schemas.openxmlformats.org/drawingml/2006/main">
            <a:r>
              <a:t/>
            </a:r>
          </a:p>
          <a:p xmlns:a="http://schemas.openxmlformats.org/drawingml/2006/main">
            <a:r>
              <a:t>CMD X = 10 с завершающим \n. Локальный пользовательский ввод оборачивается в строку прикладного протокола. CMD отделяет обычную команду калькулятора от HELLO, PERF и QUIT.</a:t>
            </a:r>
          </a:p>
          <a:p xmlns:a="http://schemas.openxmlformats.org/drawingml/2006/main">
            <a:r>
              <a:t/>
            </a:r>
          </a:p>
          <a:p xmlns:a="http://schemas.openxmlformats.org/drawingml/2006/main">
            <a:r>
              <a:t>Почему ошибочные ответы неверны: Только двоичное представление long long 10. Передается текст команды, которую еще нужно разобрать. OK X=10 до вычисления. OK - префикс ответа сервера.</a:t>
            </a:r>
          </a:p>
          <a:p xmlns:a="http://schemas.openxmlformats.org/drawingml/2006/main">
            <a:r>
              <a:t/>
            </a:r>
          </a:p>
          <a:p xmlns:a="http://schemas.openxmlformats.org/drawingml/2006/main">
            <a:r>
              <a:t>Для устного ответа: Почему сервер берет text.substr(3)?</a:t>
            </a:r>
          </a:p>
          <a:p xmlns:a="http://schemas.openxmlformats.org/drawingml/2006/main">
            <a:r>
              <a:t/>
            </a:r>
          </a:p>
          <a:p xmlns:a="http://schemas.openxmlformats.org/drawingml/2006/main">
            <a:r>
              <a:t>Исходник: src/client/console_client.cpp, строки 145-202.</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Зачем protocol::one_line заменяет \n и \r пробелами?</a:t>
            </a:r>
          </a:p>
          <a:p xmlns:a="http://schemas.openxmlformats.org/drawingml/2006/main">
            <a:r>
              <a:t/>
            </a:r>
          </a:p>
          <a:p xmlns:a="http://schemas.openxmlformats.org/drawingml/2006/main">
            <a:r>
              <a:t>Чтобы содержимое ответа или команды не создало дополнительные строки протокола. Разделитель имеет специальный смысл. При формировании одной строки внутренние переводы строк заменяются, а один финальный \n добавляется явно.</a:t>
            </a:r>
          </a:p>
          <a:p xmlns:a="http://schemas.openxmlformats.org/drawingml/2006/main">
            <a:r>
              <a:t/>
            </a:r>
          </a:p>
          <a:p xmlns:a="http://schemas.openxmlformats.org/drawingml/2006/main">
            <a:r>
              <a:t>Почему ошибочные ответы неверны: Чтобы зашифровать сообщение. Замена символов не является шифрованием. Чтобы сжать UTF-8 до ASCII. Кодировка таким образом не меняется.</a:t>
            </a:r>
          </a:p>
          <a:p xmlns:a="http://schemas.openxmlformats.org/drawingml/2006/main">
            <a:r>
              <a:t/>
            </a:r>
          </a:p>
          <a:p xmlns:a="http://schemas.openxmlformats.org/drawingml/2006/main">
            <a:r>
              <a:t>Для устного ответа: Чем замена разделителя отличается от универсального экранирования?</a:t>
            </a:r>
          </a:p>
          <a:p xmlns:a="http://schemas.openxmlformats.org/drawingml/2006/main">
            <a:r>
              <a:t/>
            </a:r>
          </a:p>
          <a:p xmlns:a="http://schemas.openxmlformats.org/drawingml/2006/main">
            <a:r>
              <a:t>Исходник: src/common/protocol.cpp, строки 1-48.</a:t>
            </a:r>
          </a:p>
          <a:p xmlns:a="http://schemas.openxmlformats.org/drawingml/2006/main">
            <a:r>
              <a:t/>
            </a:r>
          </a:p>
          <a:p xmlns:a="http://schemas.openxmlformats.org/drawingml/2006/main">
            <a:r>
              <a:t>Изменяет ли PERF X = 100 значение X?</a:t>
            </a:r>
          </a:p>
          <a:p xmlns:a="http://schemas.openxmlformats.org/drawingml/2006/main">
            <a:r>
              <a:t/>
            </a:r>
          </a:p>
          <a:p xmlns:a="http://schemas.openxmlformats.org/drawingml/2006/main">
            <a:r>
              <a:t>Нет, сервер отвечает OK PERF, не вызывая модель. Режим изолирует часть накладных расходов обмена. Важен порядок ветвей: PERF обрабатывается до CMD и execute.</a:t>
            </a:r>
          </a:p>
          <a:p xmlns:a="http://schemas.openxmlformats.org/drawingml/2006/main">
            <a:r>
              <a:t/>
            </a:r>
          </a:p>
          <a:p xmlns:a="http://schemas.openxmlformats.org/drawingml/2006/main">
            <a:r>
              <a:t>Почему ошибочные ответы неверны: Да, но не сохраняет результат на диск. Ветвь PERF вообще не выполняет выражение. Только если X уже существовала. Значение и существование X не влияют на эту ветвь.</a:t>
            </a:r>
          </a:p>
          <a:p xmlns:a="http://schemas.openxmlformats.org/drawingml/2006/main">
            <a:r>
              <a:t/>
            </a:r>
          </a:p>
          <a:p xmlns:a="http://schemas.openxmlformats.org/drawingml/2006/main">
            <a:r>
              <a:t>Для устного ответа: Почему PERF 1/0 не дает ошибку деления на ноль?</a:t>
            </a:r>
          </a:p>
          <a:p xmlns:a="http://schemas.openxmlformats.org/drawingml/2006/main">
            <a:r>
              <a:t/>
            </a:r>
          </a:p>
          <a:p xmlns:a="http://schemas.openxmlformats.org/drawingml/2006/main">
            <a:r>
              <a:t>Исходник: src/server/poll_server.cpp, строки 209-266.</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Что реально делает сервер при QUIT?</a:t>
            </a:r>
          </a:p>
          <a:p xmlns:a="http://schemas.openxmlformats.org/drawingml/2006/main">
            <a:r>
              <a:t/>
            </a:r>
          </a:p>
          <a:p xmlns:a="http://schemas.openxmlformats.org/drawingml/2006/main">
            <a:r>
              <a:t>Добавляет прощальный ответ, а штатный клиент затем сам выходит и закрывает соединение. В текущем коде QUIT сам не помечает соединение закрывающимся. Нестандартный клиент может остаться подключенным. На защите нужно описывать фактическое поведение.</a:t>
            </a:r>
          </a:p>
          <a:p xmlns:a="http://schemas.openxmlformats.org/drawingml/2006/main">
            <a:r>
              <a:t/>
            </a:r>
          </a:p>
          <a:p xmlns:a="http://schemas.openxmlformats.org/drawingml/2006/main">
            <a:r>
              <a:t>Почему ошибочные ответы неверны: Немедленно закрывает fd до отправки ответа. В ветви QUIT вызова close нет. Завершает все клиентские сеансы. Команда относится к одному соединению.</a:t>
            </a:r>
          </a:p>
          <a:p xmlns:a="http://schemas.openxmlformats.org/drawingml/2006/main">
            <a:r>
              <a:t/>
            </a:r>
          </a:p>
          <a:p xmlns:a="http://schemas.openxmlformats.org/drawingml/2006/main">
            <a:r>
              <a:t>Для устного ответа: Что добавить, чтобы сервер закрывал соединение после отправки прощания?</a:t>
            </a:r>
          </a:p>
          <a:p xmlns:a="http://schemas.openxmlformats.org/drawingml/2006/main">
            <a:r>
              <a:t/>
            </a:r>
          </a:p>
          <a:p xmlns:a="http://schemas.openxmlformats.org/drawingml/2006/main">
            <a:r>
              <a:t>Исходник: src/server/poll_server.cpp, строки 209-266.</a:t>
            </a:r>
          </a:p>
          <a:p xmlns:a="http://schemas.openxmlformats.org/drawingml/2006/main">
            <a:r>
              <a:t/>
            </a:r>
          </a:p>
          <a:p xmlns:a="http://schemas.openxmlformats.org/drawingml/2006/main">
            <a:r>
              <a:t>Что означают префиксы OK и ERR?</a:t>
            </a:r>
          </a:p>
          <a:p xmlns:a="http://schemas.openxmlformats.org/drawingml/2006/main">
            <a:r>
              <a:t/>
            </a:r>
          </a:p>
          <a:p xmlns:a="http://schemas.openxmlformats.org/drawingml/2006/main">
            <a:r>
              <a:t>Прикладной результат обработки строки. ERR может сообщать о неизвестной команде, неправильном порядке действий или ошибке выражения. Транспортная ошибка может вообще не позволить получить строку.</a:t>
            </a:r>
          </a:p>
          <a:p xmlns:a="http://schemas.openxmlformats.org/drawingml/2006/main">
            <a:r>
              <a:t/>
            </a:r>
          </a:p>
          <a:p xmlns:a="http://schemas.openxmlformats.org/drawingml/2006/main">
            <a:r>
              <a:t>Почему ошибочные ответы неверны: Успех и ошибка TCP-рукопожатия. На момент этих ответов соединение уже используется. Номера пользовательских переменных. Это текстовые статусы ответа.</a:t>
            </a:r>
          </a:p>
          <a:p xmlns:a="http://schemas.openxmlformats.org/drawingml/2006/main">
            <a:r>
              <a:t/>
            </a:r>
          </a:p>
          <a:p xmlns:a="http://schemas.openxmlformats.org/drawingml/2006/main">
            <a:r>
              <a:t>Для устного ответа: Как отличить ERR деления на ноль от разрыва TCP?</a:t>
            </a:r>
          </a:p>
          <a:p xmlns:a="http://schemas.openxmlformats.org/drawingml/2006/main">
            <a:r>
              <a:t/>
            </a:r>
          </a:p>
          <a:p xmlns:a="http://schemas.openxmlformats.org/drawingml/2006/main">
            <a:r>
              <a:t>Исходник: src/server/poll_server.cpp, строки 209-266.</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Зачем парсер разделен на expression, term и factor?</a:t>
            </a:r>
          </a:p>
          <a:p xmlns:a="http://schemas.openxmlformats.org/drawingml/2006/main">
            <a:r>
              <a:t/>
            </a:r>
          </a:p>
          <a:p xmlns:a="http://schemas.openxmlformats.org/drawingml/2006/main">
            <a:r>
              <a:t>Чтобы реализовать приоритеты арифметических операций. expression соединяет слагаемые, term обрабатывает умножение и деление, factor разбирает числа, переменные, скобки и унарные знаки.</a:t>
            </a:r>
          </a:p>
          <a:p xmlns:a="http://schemas.openxmlformats.org/drawingml/2006/main">
            <a:r>
              <a:t/>
            </a:r>
          </a:p>
          <a:p xmlns:a="http://schemas.openxmlformats.org/drawingml/2006/main">
            <a:r>
              <a:t>Почему ошибочные ответы неверны: Чтобы распараллелить вычисление на трех потоках. Парсер работает последовательно и рекурсивно. Чтобы каждую операцию отправлять новым TCP-запросом. Парсер обрабатывает уже полученную строку на сервере.</a:t>
            </a:r>
          </a:p>
          <a:p xmlns:a="http://schemas.openxmlformats.org/drawingml/2006/main">
            <a:r>
              <a:t/>
            </a:r>
          </a:p>
          <a:p xmlns:a="http://schemas.openxmlformats.org/drawingml/2006/main">
            <a:r>
              <a:t>Для устного ответа: Проследи 2 + 3 * 4 и объясни результат 14.</a:t>
            </a:r>
          </a:p>
          <a:p xmlns:a="http://schemas.openxmlformats.org/drawingml/2006/main">
            <a:r>
              <a:t/>
            </a:r>
          </a:p>
          <a:p xmlns:a="http://schemas.openxmlformats.org/drawingml/2006/main">
            <a:r>
              <a:t>Исходник: src/model/calculator.cpp, строки 18-143.</a:t>
            </a:r>
          </a:p>
          <a:p xmlns:a="http://schemas.openxmlformats.org/drawingml/2006/main">
            <a:r>
              <a:t/>
            </a:r>
          </a:p>
          <a:p xmlns:a="http://schemas.openxmlformats.org/drawingml/2006/main">
            <a:r>
              <a:t>Почему (2 + 3) * 4 дает 20?</a:t>
            </a:r>
          </a:p>
          <a:p xmlns:a="http://schemas.openxmlformats.org/drawingml/2006/main">
            <a:r>
              <a:t/>
            </a:r>
          </a:p>
          <a:p xmlns:a="http://schemas.openxmlformats.org/drawingml/2006/main">
            <a:r>
              <a:t>factor внутри скобок снова вызывает разбор выражения. Рекурсивный вызов вычисляет содержимое скобок как одно значение. Внешний term затем умножает это значение на 4.</a:t>
            </a:r>
          </a:p>
          <a:p xmlns:a="http://schemas.openxmlformats.org/drawingml/2006/main">
            <a:r>
              <a:t/>
            </a:r>
          </a:p>
          <a:p xmlns:a="http://schemas.openxmlformats.org/drawingml/2006/main">
            <a:r>
              <a:t>Почему ошибочные ответы неверны: TCP меняет приоритет операций при наличии скобок. Транспорт ничего не знает об арифметике. Все выражения считаются строго слева направо. Без скобок приоритет умножения сохраняется.</a:t>
            </a:r>
          </a:p>
          <a:p xmlns:a="http://schemas.openxmlformats.org/drawingml/2006/main">
            <a:r>
              <a:t/>
            </a:r>
          </a:p>
          <a:p xmlns:a="http://schemas.openxmlformats.org/drawingml/2006/main">
            <a:r>
              <a:t>Для устного ответа: На каком шаге проверяется закрывающая скобка?</a:t>
            </a:r>
          </a:p>
          <a:p xmlns:a="http://schemas.openxmlformats.org/drawingml/2006/main">
            <a:r>
              <a:t/>
            </a:r>
          </a:p>
          <a:p xmlns:a="http://schemas.openxmlformats.org/drawingml/2006/main">
            <a:r>
              <a:t>Исходник: src/model/calculator.cpp, строки 18-143.</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Где обнаруживается деление на ноль?</a:t>
            </a:r>
          </a:p>
          <a:p xmlns:a="http://schemas.openxmlformats.org/drawingml/2006/main">
            <a:r>
              <a:t/>
            </a:r>
          </a:p>
          <a:p xmlns:a="http://schemas.openxmlformats.org/drawingml/2006/main">
            <a:r>
              <a:t>В parse_term после вычисления делителя. Парсер получает divisor и сравнивает его с нулем до деления. Затем бросает CalculatorError, а сервер превращает исключение в ERR.</a:t>
            </a:r>
          </a:p>
          <a:p xmlns:a="http://schemas.openxmlformats.org/drawingml/2006/main">
            <a:r>
              <a:t/>
            </a:r>
          </a:p>
          <a:p xmlns:a="http://schemas.openxmlformats.org/drawingml/2006/main">
            <a:r>
              <a:t>Почему ошибочные ответы неверны: В функции recv по размеру сетевого буфера. recv не анализирует арифметику. В getaddrinfo при разборе имени сервера. Разрешение адреса не связано с выражением.</a:t>
            </a:r>
          </a:p>
          <a:p xmlns:a="http://schemas.openxmlformats.org/drawingml/2006/main">
            <a:r>
              <a:t/>
            </a:r>
          </a:p>
          <a:p xmlns:a="http://schemas.openxmlformats.org/drawingml/2006/main">
            <a:r>
              <a:t>Для устного ответа: Проследи путь CalculatorError до ответа клиенту.</a:t>
            </a:r>
          </a:p>
          <a:p xmlns:a="http://schemas.openxmlformats.org/drawingml/2006/main">
            <a:r>
              <a:t/>
            </a:r>
          </a:p>
          <a:p xmlns:a="http://schemas.openxmlformats.org/drawingml/2006/main">
            <a:r>
              <a:t>Исходник: src/model/calculator.cpp, строки 18-143.</a:t>
            </a:r>
          </a:p>
          <a:p xmlns:a="http://schemas.openxmlformats.org/drawingml/2006/main">
            <a:r>
              <a:t/>
            </a:r>
          </a:p>
          <a:p xmlns:a="http://schemas.openxmlformats.org/drawingml/2006/main">
            <a:r>
              <a:t>Как вычислится 7 / 2 в этой программе?</a:t>
            </a:r>
          </a:p>
          <a:p xmlns:a="http://schemas.openxmlformats.org/drawingml/2006/main">
            <a:r>
              <a:t/>
            </a:r>
          </a:p>
          <a:p xmlns:a="http://schemas.openxmlformats.org/drawingml/2006/main">
            <a:r>
              <a:t>Получится 3, поскольку используются целые long long. Тип операндов определяет арифметику. Для -7 / 2 результат будет -3. Наличие дробной части в математике не превращает long long в double.</a:t>
            </a:r>
          </a:p>
          <a:p xmlns:a="http://schemas.openxmlformats.org/drawingml/2006/main">
            <a:r>
              <a:t/>
            </a:r>
          </a:p>
          <a:p xmlns:a="http://schemas.openxmlformats.org/drawingml/2006/main">
            <a:r>
              <a:t>Почему ошибочные ответы неверны: Получится 3.5, потому что TCP передает строки. Текстовый транспорт не меняет тип арифметики. Всегда возникнет ошибка неполного деления. Код допускает целочисленное деление с усечением к нулю.</a:t>
            </a:r>
          </a:p>
          <a:p xmlns:a="http://schemas.openxmlformats.org/drawingml/2006/main">
            <a:r>
              <a:t/>
            </a:r>
          </a:p>
          <a:p xmlns:a="http://schemas.openxmlformats.org/drawingml/2006/main">
            <a:r>
              <a:t>Для устного ответа: Что нужно изменить для поддержки дробных чисел?</a:t>
            </a:r>
          </a:p>
          <a:p xmlns:a="http://schemas.openxmlformats.org/drawingml/2006/main">
            <a:r>
              <a:t/>
            </a:r>
          </a:p>
          <a:p xmlns:a="http://schemas.openxmlformats.org/drawingml/2006/main">
            <a:r>
              <a:t>Исходник: src/model/calculator.cpp, строки 18-143.</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Что проверяет parse после разбора выражения?</a:t>
            </a:r>
          </a:p>
          <a:p xmlns:a="http://schemas.openxmlformats.org/drawingml/2006/main">
            <a:r>
              <a:t/>
            </a:r>
          </a:p>
          <a:p xmlns:a="http://schemas.openxmlformats.org/drawingml/2006/main">
            <a:r>
              <a:t>Не остались ли непотребленные символы после пропуска пробелов. Без итоговой проверки строка 2+3abc могла бы ошибочно приниматься по корректному префиксу. parse требует полного разбора.</a:t>
            </a:r>
          </a:p>
          <a:p xmlns:a="http://schemas.openxmlformats.org/drawingml/2006/main">
            <a:r>
              <a:t/>
            </a:r>
          </a:p>
          <a:p xmlns:a="http://schemas.openxmlformats.org/drawingml/2006/main">
            <a:r>
              <a:t>Почему ошибочные ответы неверны: Все ли клиенты закрыли свои сокеты. Это не обязанность парсера. Равны ли X, Y и Z между собой. Такого требования нет.</a:t>
            </a:r>
          </a:p>
          <a:p xmlns:a="http://schemas.openxmlformats.org/drawingml/2006/main">
            <a:r>
              <a:t/>
            </a:r>
          </a:p>
          <a:p xmlns:a="http://schemas.openxmlformats.org/drawingml/2006/main">
            <a:r>
              <a:t>Для устного ответа: Почему недостаточно успешно прочитать первое число?</a:t>
            </a:r>
          </a:p>
          <a:p xmlns:a="http://schemas.openxmlformats.org/drawingml/2006/main">
            <a:r>
              <a:t/>
            </a:r>
          </a:p>
          <a:p xmlns:a="http://schemas.openxmlformats.org/drawingml/2006/main">
            <a:r>
              <a:t>Исходник: src/model/calculator.cpp, строки 18-143.</a:t>
            </a:r>
          </a:p>
          <a:p xmlns:a="http://schemas.openxmlformats.org/drawingml/2006/main">
            <a:r>
              <a:t/>
            </a:r>
          </a:p>
          <a:p xmlns:a="http://schemas.openxmlformats.org/drawingml/2006/main">
            <a:r>
              <a:t>Почему _vars имеет тип map&lt;string, Variables&gt;?</a:t>
            </a:r>
          </a:p>
          <a:p xmlns:a="http://schemas.openxmlformats.org/drawingml/2006/main">
            <a:r>
              <a:t/>
            </a:r>
          </a:p>
          <a:p xmlns:a="http://schemas.openxmlformats.org/drawingml/2006/main">
            <a:r>
              <a:t>Имя пользователя служит ключом к его трем значениям. Один пользователь может иметь несколько соединений, но ключ имени ведет к одному набору X, Y, Z. Состояние сокета и состояние пользователя разделены.</a:t>
            </a:r>
          </a:p>
          <a:p xmlns:a="http://schemas.openxmlformats.org/drawingml/2006/main">
            <a:r>
              <a:t/>
            </a:r>
          </a:p>
          <a:p xmlns:a="http://schemas.openxmlformats.org/drawingml/2006/main">
            <a:r>
              <a:t>Почему ошибочные ответы неверны: map хранит строки в порядке прихода TCP-пакетов. Порядок ключей map не является историей пакетов. map автоматически сохраняется на диск после изменения. Сохранение реализовано отдельным методом save.</a:t>
            </a:r>
          </a:p>
          <a:p xmlns:a="http://schemas.openxmlformats.org/drawingml/2006/main">
            <a:r>
              <a:t/>
            </a:r>
          </a:p>
          <a:p xmlns:a="http://schemas.openxmlformats.org/drawingml/2006/main">
            <a:r>
              <a:t>Для устного ответа: Что увидят два клиента с одинаковым именем?</a:t>
            </a:r>
          </a:p>
          <a:p xmlns:a="http://schemas.openxmlformats.org/drawingml/2006/main">
            <a:r>
              <a:t/>
            </a:r>
          </a:p>
          <a:p xmlns:a="http://schemas.openxmlformats.org/drawingml/2006/main">
            <a:r>
              <a:t>Исходник: src/model/calculator.hpp, строки 12-58.</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Что делает _vars[user] для нового допустимого имени?</a:t>
            </a:r>
          </a:p>
          <a:p xmlns:a="http://schemas.openxmlformats.org/drawingml/2006/main">
            <a:r>
              <a:t/>
            </a:r>
          </a:p>
          <a:p xmlns:a="http://schemas.openxmlformats.org/drawingml/2006/main">
            <a:r>
              <a:t>Создает запись с Variables по умолчанию, где X, Y, Z равны нулю. Variables задает нули в инициализаторах полей. Это поведение отличается от at, который при отсутствии ключа бросает исключение.</a:t>
            </a:r>
          </a:p>
          <a:p xmlns:a="http://schemas.openxmlformats.org/drawingml/2006/main">
            <a:r>
              <a:t/>
            </a:r>
          </a:p>
          <a:p xmlns:a="http://schemas.openxmlformats.org/drawingml/2006/main">
            <a:r>
              <a:t>Почему ошибочные ответы неверны: Возвращает ошибку отсутствия ключа. operator[] у map вставляет отсутствующий элемент. Возвращает последнего подключившегося пользователя. Доступ выполняется по конкретному ключу.</a:t>
            </a:r>
          </a:p>
          <a:p xmlns:a="http://schemas.openxmlformats.org/drawingml/2006/main">
            <a:r>
              <a:t/>
            </a:r>
          </a:p>
          <a:p xmlns:a="http://schemas.openxmlformats.org/drawingml/2006/main">
            <a:r>
              <a:t>Для устного ответа: Почему чтение через operator[] иногда меняет контейнер?</a:t>
            </a:r>
          </a:p>
          <a:p xmlns:a="http://schemas.openxmlformats.org/drawingml/2006/main">
            <a:r>
              <a:t/>
            </a:r>
          </a:p>
          <a:p xmlns:a="http://schemas.openxmlformats.org/drawingml/2006/main">
            <a:r>
              <a:t>Исходник: src/model/calculator.cpp, строки 216-221.</a:t>
            </a:r>
          </a:p>
          <a:p xmlns:a="http://schemas.openxmlformats.org/drawingml/2006/main">
            <a:r>
              <a:t/>
            </a:r>
          </a:p>
          <a:p xmlns:a="http://schemas.openxmlformats.org/drawingml/2006/main">
            <a:r>
              <a:t>Когда новая величина переменной записывается в файл?</a:t>
            </a:r>
          </a:p>
          <a:p xmlns:a="http://schemas.openxmlformats.org/drawingml/2006/main">
            <a:r>
              <a:t/>
            </a:r>
          </a:p>
          <a:p xmlns:a="http://schemas.openxmlformats.org/drawingml/2006/main">
            <a:r>
              <a:t>После успешного вычисления и присваивания в execute вызывается save. Присваивание изменяет текущее состояние и запускает сохранение. Команда calc только вычисляет значение, а show только формирует ответ.</a:t>
            </a:r>
          </a:p>
          <a:p xmlns:a="http://schemas.openxmlformats.org/drawingml/2006/main">
            <a:r>
              <a:t/>
            </a:r>
          </a:p>
          <a:p xmlns:a="http://schemas.openxmlformats.org/drawingml/2006/main">
            <a:r>
              <a:t>Почему ошибочные ответы неверны: После каждого байта, принятого recv. Сетевое чтение само не сохраняет модель. Только при QUIT. В ветви QUIT нет вызова save.</a:t>
            </a:r>
          </a:p>
          <a:p xmlns:a="http://schemas.openxmlformats.org/drawingml/2006/main">
            <a:r>
              <a:t/>
            </a:r>
          </a:p>
          <a:p xmlns:a="http://schemas.openxmlformats.org/drawingml/2006/main">
            <a:r>
              <a:t>Для устного ответа: Какие команды могут изменить users.db?</a:t>
            </a:r>
          </a:p>
          <a:p xmlns:a="http://schemas.openxmlformats.org/drawingml/2006/main">
            <a:r>
              <a:t/>
            </a:r>
          </a:p>
          <a:p xmlns:a="http://schemas.openxmlformats.org/drawingml/2006/main">
            <a:r>
              <a:t>Исходник: src/model/calculator.cpp, строки 223-277.</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Для чего в execute создается Variables backup?</a:t>
            </a:r>
          </a:p>
          <a:p xmlns:a="http://schemas.openxmlformats.org/drawingml/2006/main">
            <a:r>
              <a:t/>
            </a:r>
          </a:p>
          <a:p xmlns:a="http://schemas.openxmlformats.org/drawingml/2006/main">
            <a:r>
              <a:t>Чтобы восстановить состояние в памяти, если save бросит исключение. В catch (...) текущее состояние заменяется резервной копией, затем исключение передается выше. Ограничение: не каждая ошибка записи файла сейчас проверяется.</a:t>
            </a:r>
          </a:p>
          <a:p xmlns:a="http://schemas.openxmlformats.org/drawingml/2006/main">
            <a:r>
              <a:t/>
            </a:r>
          </a:p>
          <a:p xmlns:a="http://schemas.openxmlformats.org/drawingml/2006/main">
            <a:r>
              <a:t>Почему ошибочные ответы неверны: Чтобы создать независимый серверный процесс. Копирование структуры не создает процесс. Чтобы гарантировать атомарное обновление файла на диске. Копия в памяти не обеспечивает атомарность файловой записи.</a:t>
            </a:r>
          </a:p>
          <a:p xmlns:a="http://schemas.openxmlformats.org/drawingml/2006/main">
            <a:r>
              <a:t/>
            </a:r>
          </a:p>
          <a:p xmlns:a="http://schemas.openxmlformats.org/drawingml/2006/main">
            <a:r>
              <a:t>Для устного ответа: Почему откат памяти и надежное сохранение файла - разные задачи?</a:t>
            </a:r>
          </a:p>
          <a:p xmlns:a="http://schemas.openxmlformats.org/drawingml/2006/main">
            <a:r>
              <a:t/>
            </a:r>
          </a:p>
          <a:p xmlns:a="http://schemas.openxmlformats.org/drawingml/2006/main">
            <a:r>
              <a:t>Исходник: src/model/calculator.cpp, строки 223-277.</a:t>
            </a:r>
          </a:p>
          <a:p xmlns:a="http://schemas.openxmlformats.org/drawingml/2006/main">
            <a:r>
              <a:t/>
            </a:r>
          </a:p>
          <a:p xmlns:a="http://schemas.openxmlformats.org/drawingml/2006/main">
            <a:r>
              <a:t>Что представляет собой users.db?</a:t>
            </a:r>
          </a:p>
          <a:p xmlns:a="http://schemas.openxmlformats.org/drawingml/2006/main">
            <a:r>
              <a:t/>
            </a:r>
          </a:p>
          <a:p xmlns:a="http://schemas.openxmlformats.org/drawingml/2006/main">
            <a:r>
              <a:t>Текстовый файл с именем и тремя целыми числами в строке. load использует оператор &gt;&gt;, save выводит поля через пробел. Файл перезаписывается целиком, поэтому его надежность ограничена способом записи.</a:t>
            </a:r>
          </a:p>
          <a:p xmlns:a="http://schemas.openxmlformats.org/drawingml/2006/main">
            <a:r>
              <a:t/>
            </a:r>
          </a:p>
          <a:p xmlns:a="http://schemas.openxmlformats.org/drawingml/2006/main">
            <a:r>
              <a:t>Почему ошибочные ответы неверны: Полноценную SQL-базу с транзакциями. Расширение .db само по себе не означает СУБД. Файл только с дескрипторами подключенных сокетов. Дескрипторы не сохраняются между запусками.</a:t>
            </a:r>
          </a:p>
          <a:p xmlns:a="http://schemas.openxmlformats.org/drawingml/2006/main">
            <a:r>
              <a:t/>
            </a:r>
          </a:p>
          <a:p xmlns:a="http://schemas.openxmlformats.org/drawingml/2006/main">
            <a:r>
              <a:t>Для устного ответа: Как проверить восстановление переменных после перезапуска сервера?</a:t>
            </a:r>
          </a:p>
          <a:p xmlns:a="http://schemas.openxmlformats.org/drawingml/2006/main">
            <a:r>
              <a:t/>
            </a:r>
          </a:p>
          <a:p xmlns:a="http://schemas.openxmlformats.org/drawingml/2006/main">
            <a:r>
              <a:t>Исходник: src/model/calculator.cpp, строки 279-291.</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Что обозначает Client&amp; client = _clients[index]?</a:t>
            </a:r>
          </a:p>
          <a:p xmlns:a="http://schemas.openxmlformats.org/drawingml/2006/main">
            <a:r>
              <a:t/>
            </a:r>
          </a:p>
          <a:p xmlns:a="http://schemas.openxmlformats.org/drawingml/2006/main">
            <a:r>
              <a:t>Ссылку на существующий элемент вектора. Изменения client.input и client.output затрагивают элемент вектора. Если элемент удален или вектор перераспределил память, такую ссылку нельзя продолжать использовать.</a:t>
            </a:r>
          </a:p>
          <a:p xmlns:a="http://schemas.openxmlformats.org/drawingml/2006/main">
            <a:r>
              <a:t/>
            </a:r>
          </a:p>
          <a:p xmlns:a="http://schemas.openxmlformats.org/drawingml/2006/main">
            <a:r>
              <a:t>Почему ошибочные ответы неверны: Независимую копию состояния клиента. Ссылка изменяет исходный объект. Новый клиентский сокет в ОС. Для нового сокета нужен socket или accept.</a:t>
            </a:r>
          </a:p>
          <a:p xmlns:a="http://schemas.openxmlformats.org/drawingml/2006/main">
            <a:r>
              <a:t/>
            </a:r>
          </a:p>
          <a:p xmlns:a="http://schemas.openxmlformats.org/drawingml/2006/main">
            <a:r>
              <a:t>Для устного ответа: Какие операции vector могут сделать ссылку недействительной?</a:t>
            </a:r>
          </a:p>
          <a:p xmlns:a="http://schemas.openxmlformats.org/drawingml/2006/main">
            <a:r>
              <a:t/>
            </a:r>
          </a:p>
          <a:p xmlns:a="http://schemas.openxmlformats.org/drawingml/2006/main">
            <a:r>
              <a:t>Исходник: src/server/poll_server.cpp, строки 136-163.</a:t>
            </a:r>
          </a:p>
          <a:p xmlns:a="http://schemas.openxmlformats.org/drawingml/2006/main">
            <a:r>
              <a:t/>
            </a:r>
          </a:p>
          <a:p xmlns:a="http://schemas.openxmlformats.org/drawingml/2006/main">
            <a:r>
              <a:t>Что означает const std::string&amp; в параметре функции?</a:t>
            </a:r>
          </a:p>
          <a:p xmlns:a="http://schemas.openxmlformats.org/drawingml/2006/main">
            <a:r>
              <a:t/>
            </a:r>
          </a:p>
          <a:p xmlns:a="http://schemas.openxmlformats.org/drawingml/2006/main">
            <a:r>
              <a:t>Ссылку без копирования строки и без изменения ее через этот параметр. Так передается текст выражения и сетевых сообщений. Ссылка должна оставаться действительной весь период использования.</a:t>
            </a:r>
          </a:p>
          <a:p xmlns:a="http://schemas.openxmlformats.org/drawingml/2006/main">
            <a:r>
              <a:t/>
            </a:r>
          </a:p>
          <a:p xmlns:a="http://schemas.openxmlformats.org/drawingml/2006/main">
            <a:r>
              <a:t>Почему ошибочные ответы неверны: Строку, которая обязательно хранится в глобальной памяти. Время и место хранения не задаются этим типом параметра. Гарантию, что никакой другой код не изменит объект. const ограничивает доступ через данный интерфейс, не все возможные ссылки.</a:t>
            </a:r>
          </a:p>
          <a:p xmlns:a="http://schemas.openxmlformats.org/drawingml/2006/main">
            <a:r>
              <a:t/>
            </a:r>
          </a:p>
          <a:p xmlns:a="http://schemas.openxmlformats.org/drawingml/2006/main">
            <a:r>
              <a:t>Для устного ответа: Почему передача большого текста по значению дороже?</a:t>
            </a:r>
          </a:p>
          <a:p xmlns:a="http://schemas.openxmlformats.org/drawingml/2006/main">
            <a:r>
              <a:t/>
            </a:r>
          </a:p>
          <a:p xmlns:a="http://schemas.openxmlformats.org/drawingml/2006/main">
            <a:r>
              <a:t>Исходник: src/model/calculator.cpp, строки 223-277.</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Почему vector&lt;pollfd&gt; можно передать в poll через data()?</a:t>
            </a:r>
          </a:p>
          <a:p xmlns:a="http://schemas.openxmlformats.org/drawingml/2006/main">
            <a:r>
              <a:t/>
            </a:r>
          </a:p>
          <a:p xmlns:a="http://schemas.openxmlformats.org/drawingml/2006/main">
            <a:r>
              <a:t>Элементы vector лежат непрерывно в памяти. vector сочетает динамический размер с непрерывным массивом элементов. После изменения вектора старый указатель может стать недействительным.</a:t>
            </a:r>
          </a:p>
          <a:p xmlns:a="http://schemas.openxmlformats.org/drawingml/2006/main">
            <a:r>
              <a:t/>
            </a:r>
          </a:p>
          <a:p xmlns:a="http://schemas.openxmlformats.org/drawingml/2006/main">
            <a:r>
              <a:t>Почему ошибочные ответы неверны: data автоматически превращает объекты в JSON. Сериализация здесь не выполняется. poll сам умеет обращаться к любому C++-контейнеру. poll получает C-указатель и число элементов.</a:t>
            </a:r>
          </a:p>
          <a:p xmlns:a="http://schemas.openxmlformats.org/drawingml/2006/main">
            <a:r>
              <a:t/>
            </a:r>
          </a:p>
          <a:p xmlns:a="http://schemas.openxmlformats.org/drawingml/2006/main">
            <a:r>
              <a:t>Для устного ответа: Можно ли вместо vector напрямую передать list?</a:t>
            </a:r>
          </a:p>
          <a:p xmlns:a="http://schemas.openxmlformats.org/drawingml/2006/main">
            <a:r>
              <a:t/>
            </a:r>
          </a:p>
          <a:p xmlns:a="http://schemas.openxmlformats.org/drawingml/2006/main">
            <a:r>
              <a:t>Исходник: src/server/poll_server.cpp, строки 268-287.</a:t>
            </a:r>
          </a:p>
          <a:p xmlns:a="http://schemas.openxmlformats.org/drawingml/2006/main">
            <a:r>
              <a:t/>
            </a:r>
          </a:p>
          <a:p xmlns:a="http://schemas.openxmlformats.org/drawingml/2006/main">
            <a:r>
              <a:t>Для чего деструктор PollServer закрывает дескрипторы?</a:t>
            </a:r>
          </a:p>
          <a:p xmlns:a="http://schemas.openxmlformats.org/drawingml/2006/main">
            <a:r>
              <a:t/>
            </a:r>
          </a:p>
          <a:p xmlns:a="http://schemas.openxmlformats.org/drawingml/2006/main">
            <a:r>
              <a:t>Чтобы освободить принадлежащие объекту ресурсы при его уничтожении. Это идея управления ресурсом через время жизни объекта. Однако если конструктор самого PollServer бросит исключение до завершения, его деструктор не будет вызван.</a:t>
            </a:r>
          </a:p>
          <a:p xmlns:a="http://schemas.openxmlformats.org/drawingml/2006/main">
            <a:r>
              <a:t/>
            </a:r>
          </a:p>
          <a:p xmlns:a="http://schemas.openxmlformats.org/drawingml/2006/main">
            <a:r>
              <a:t>Почему ошибочные ответы неверны: Чтобы автоматически сохранить все строки входного буфера. close не сохраняет прикладной input в файл. Чтобы уничтожить всю ОС после работы сервера. Закрываются конкретные дескрипторы процесса.</a:t>
            </a:r>
          </a:p>
          <a:p xmlns:a="http://schemas.openxmlformats.org/drawingml/2006/main">
            <a:r>
              <a:t/>
            </a:r>
          </a:p>
          <a:p xmlns:a="http://schemas.openxmlformats.org/drawingml/2006/main">
            <a:r>
              <a:t>Для устного ответа: Почему RAII-обертка самого fd надежнее одного деструктора сервера?</a:t>
            </a:r>
          </a:p>
          <a:p xmlns:a="http://schemas.openxmlformats.org/drawingml/2006/main">
            <a:r>
              <a:t/>
            </a:r>
          </a:p>
          <a:p xmlns:a="http://schemas.openxmlformats.org/drawingml/2006/main">
            <a:r>
              <a:t>Исходник: src/server/poll_server.cpp, строки 44-53.</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Почему исключение ловят как const CalculatorError&amp;?</a:t>
            </a:r>
          </a:p>
          <a:p xmlns:a="http://schemas.openxmlformats.org/drawingml/2006/main">
            <a:r>
              <a:t/>
            </a:r>
          </a:p>
          <a:p xmlns:a="http://schemas.openxmlformats.org/drawingml/2006/main">
            <a:r>
              <a:t>Чтобы принять исходный объект исключения без лишней копии и с сохранением динамического типа. Сервер берет error.what() и формирует ERR. Передача по ссылке избегает срезки объекта, характерной для копирования базовой части.</a:t>
            </a:r>
          </a:p>
          <a:p xmlns:a="http://schemas.openxmlformats.org/drawingml/2006/main">
            <a:r>
              <a:t/>
            </a:r>
          </a:p>
          <a:p xmlns:a="http://schemas.openxmlformats.org/drawingml/2006/main">
            <a:r>
              <a:t>Почему ошибочные ответы неверны: Потому что исключение обязательно находится в буфере TCP. Исключение является объектом C++ в текущем процессе. Чтобы превратить любую ошибку в успешный результат. catch обрабатывает ошибку, но не делает расчет успешным.</a:t>
            </a:r>
          </a:p>
          <a:p xmlns:a="http://schemas.openxmlformats.org/drawingml/2006/main">
            <a:r>
              <a:t/>
            </a:r>
          </a:p>
          <a:p xmlns:a="http://schemas.openxmlformats.org/drawingml/2006/main">
            <a:r>
              <a:t>Для устного ответа: Как отличаются CalculatorError и std::exception в соседних catch?</a:t>
            </a:r>
          </a:p>
          <a:p xmlns:a="http://schemas.openxmlformats.org/drawingml/2006/main">
            <a:r>
              <a:t/>
            </a:r>
          </a:p>
          <a:p xmlns:a="http://schemas.openxmlformats.org/drawingml/2006/main">
            <a:r>
              <a:t>Исходник: src/server/poll_server.cpp, строки 209-266.</a:t>
            </a:r>
          </a:p>
          <a:p xmlns:a="http://schemas.openxmlformats.org/drawingml/2006/main">
            <a:r>
              <a:t/>
            </a:r>
          </a:p>
          <a:p xmlns:a="http://schemas.openxmlformats.org/drawingml/2006/main">
            <a:r>
              <a:t>Что означает explicit у конструктора CalculatorModel?</a:t>
            </a:r>
          </a:p>
          <a:p xmlns:a="http://schemas.openxmlformats.org/drawingml/2006/main">
            <a:r>
              <a:t/>
            </a:r>
          </a:p>
          <a:p xmlns:a="http://schemas.openxmlformats.org/drawingml/2006/main">
            <a:r>
              <a:t>Запрещает неявное преобразование подходящего аргумента в объект модели через этот конструктор. Объект создается намеренно с путем хранилища. explicit помогает избежать случайных преобразований при передаче аргументов.</a:t>
            </a:r>
          </a:p>
          <a:p xmlns:a="http://schemas.openxmlformats.org/drawingml/2006/main">
            <a:r>
              <a:t/>
            </a:r>
          </a:p>
          <a:p xmlns:a="http://schemas.openxmlformats.org/drawingml/2006/main">
            <a:r>
              <a:t>Почему ошибочные ответы неверны: Запрещает явно создать модель. Явное создание как раз разрешено. Делает все методы модели приватными. Доступ задается секциями public и private.</a:t>
            </a:r>
          </a:p>
          <a:p xmlns:a="http://schemas.openxmlformats.org/drawingml/2006/main">
            <a:r>
              <a:t/>
            </a:r>
          </a:p>
          <a:p xmlns:a="http://schemas.openxmlformats.org/drawingml/2006/main">
            <a:r>
              <a:t>Для устного ответа: Почему explicit не имеет отношения к сетевому протоколу?</a:t>
            </a:r>
          </a:p>
          <a:p xmlns:a="http://schemas.openxmlformats.org/drawingml/2006/main">
            <a:r>
              <a:t/>
            </a:r>
          </a:p>
          <a:p xmlns:a="http://schemas.openxmlformats.org/drawingml/2006/main">
            <a:r>
              <a:t>Исходник: src/model/calculator.hpp, строки 12-58.</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Зачем в заголовке используются include guards?</a:t>
            </a:r>
          </a:p>
          <a:p xmlns:a="http://schemas.openxmlformats.org/drawingml/2006/main">
            <a:r>
              <a:t/>
            </a:r>
          </a:p>
          <a:p xmlns:a="http://schemas.openxmlformats.org/drawingml/2006/main">
            <a:r>
              <a:t>Чтобы повторное включение не дало повторных определений в одной единице трансляции. Макрос POLL_SERVER_HPP становится определен после первого включения. Повторное включение в том же компилируемом файле пропускает содержимое.</a:t>
            </a:r>
          </a:p>
          <a:p xmlns:a="http://schemas.openxmlformats.org/drawingml/2006/main">
            <a:r>
              <a:t/>
            </a:r>
          </a:p>
          <a:p xmlns:a="http://schemas.openxmlformats.org/drawingml/2006/main">
            <a:r>
              <a:t>Почему ошибочные ответы неверны: Чтобы скрыть исходник от сетевого клиента. Препроцессорная защита не является контролем доступа. Чтобы создать отдельный поток компилятора. Это условная обработка текста препроцессором.</a:t>
            </a:r>
          </a:p>
          <a:p xmlns:a="http://schemas.openxmlformats.org/drawingml/2006/main">
            <a:r>
              <a:t/>
            </a:r>
          </a:p>
          <a:p xmlns:a="http://schemas.openxmlformats.org/drawingml/2006/main">
            <a:r>
              <a:t>Для устного ответа: Чем объявление в .hpp отличается от реализации в .cpp?</a:t>
            </a:r>
          </a:p>
          <a:p xmlns:a="http://schemas.openxmlformats.org/drawingml/2006/main">
            <a:r>
              <a:t/>
            </a:r>
          </a:p>
          <a:p xmlns:a="http://schemas.openxmlformats.org/drawingml/2006/main">
            <a:r>
              <a:t>Исходник: src/server/poll_server.hpp, строки 4-14.</a:t>
            </a:r>
          </a:p>
          <a:p xmlns:a="http://schemas.openxmlformats.org/drawingml/2006/main">
            <a:r>
              <a:t/>
            </a:r>
          </a:p>
          <a:p xmlns:a="http://schemas.openxmlformats.org/drawingml/2006/main">
            <a:r>
              <a:t>Зачем вспомогательные функции помещены в безымянное пространство имен?</a:t>
            </a:r>
          </a:p>
          <a:p xmlns:a="http://schemas.openxmlformats.org/drawingml/2006/main">
            <a:r>
              <a:t/>
            </a:r>
          </a:p>
          <a:p xmlns:a="http://schemas.openxmlformats.org/drawingml/2006/main">
            <a:r>
              <a:t>Чтобы ограничить их связь текущей единицей трансляции. set_nonblocking и would_block нужны реализации сервера. Безымянное namespace помогает не экспортировать эти имена в другие файлы при компоновке.</a:t>
            </a:r>
          </a:p>
          <a:p xmlns:a="http://schemas.openxmlformats.org/drawingml/2006/main">
            <a:r>
              <a:t/>
            </a:r>
          </a:p>
          <a:p xmlns:a="http://schemas.openxmlformats.org/drawingml/2006/main">
            <a:r>
              <a:t>Почему ошибочные ответы неверны: Чтобы они выполнялись без потока. Пространство имен не управляет исполнением. Чтобы они были доступны всем компьютерам сети. Это организация имен C++, не сетевое пространство.</a:t>
            </a:r>
          </a:p>
          <a:p xmlns:a="http://schemas.openxmlformats.org/drawingml/2006/main">
            <a:r>
              <a:t/>
            </a:r>
          </a:p>
          <a:p xmlns:a="http://schemas.openxmlformats.org/drawingml/2006/main">
            <a:r>
              <a:t>Для устного ответа: Почему это не то же самое, что private в классе?</a:t>
            </a:r>
          </a:p>
          <a:p xmlns:a="http://schemas.openxmlformats.org/drawingml/2006/main">
            <a:r>
              <a:t/>
            </a:r>
          </a:p>
          <a:p xmlns:a="http://schemas.openxmlformats.org/drawingml/2006/main">
            <a:r>
              <a:t>Исходник: src/server/poll_server.cpp, строки 19-27.</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Что означает static_cast&lt;size_t&gt;(count) после count &gt; 0?</a:t>
            </a:r>
          </a:p>
          <a:p xmlns:a="http://schemas.openxmlformats.org/drawingml/2006/main">
            <a:r>
              <a:t/>
            </a:r>
          </a:p>
          <a:p xmlns:a="http://schemas.openxmlformats.org/drawingml/2006/main">
            <a:r>
              <a:t>Явное преобразование уже проверенного положительного счетчика к типу размера. Сначала проверяется знак ssize_t, затем выполняется преобразование. Если поменять порядок, -1 станет большим беззнаковым значением.</a:t>
            </a:r>
          </a:p>
          <a:p xmlns:a="http://schemas.openxmlformats.org/drawingml/2006/main">
            <a:r>
              <a:t/>
            </a:r>
          </a:p>
          <a:p xmlns:a="http://schemas.openxmlformats.org/drawingml/2006/main">
            <a:r>
              <a:t>Почему ошибочные ответы неверны: Проверку границ буфера во время выполнения. Сам cast не проверяет размер памяти. Копирование принятых байтов. Копирование выполняет append.</a:t>
            </a:r>
          </a:p>
          <a:p xmlns:a="http://schemas.openxmlformats.org/drawingml/2006/main">
            <a:r>
              <a:t/>
            </a:r>
          </a:p>
          <a:p xmlns:a="http://schemas.openxmlformats.org/drawingml/2006/main">
            <a:r>
              <a:t>Для устного ответа: Почему важен порядок проверки и преобразования?</a:t>
            </a:r>
          </a:p>
          <a:p xmlns:a="http://schemas.openxmlformats.org/drawingml/2006/main">
            <a:r>
              <a:t/>
            </a:r>
          </a:p>
          <a:p xmlns:a="http://schemas.openxmlformats.org/drawingml/2006/main">
            <a:r>
              <a:t>Исходник: src/server/poll_server.cpp, строки 136-163.</a:t>
            </a:r>
          </a:p>
          <a:p xmlns:a="http://schemas.openxmlformats.org/drawingml/2006/main">
            <a:r>
              <a:t/>
            </a:r>
          </a:p>
          <a:p xmlns:a="http://schemas.openxmlformats.org/drawingml/2006/main">
            <a:r>
              <a:t>Почему std::string и vector удобнее ручного управления char* для накопления?</a:t>
            </a:r>
          </a:p>
          <a:p xmlns:a="http://schemas.openxmlformats.org/drawingml/2006/main">
            <a:r>
              <a:t/>
            </a:r>
          </a:p>
          <a:p xmlns:a="http://schemas.openxmlformats.org/drawingml/2006/main">
            <a:r>
              <a:t>Они владеют памятью и автоматически управляют ее размером в рамках своего интерфейса. Контейнеры снимают часть задач владения ресурсом, но программист отвечает за допустимые индексы, время жизни ссылок и ограничения объема.</a:t>
            </a:r>
          </a:p>
          <a:p xmlns:a="http://schemas.openxmlformats.org/drawingml/2006/main">
            <a:r>
              <a:t/>
            </a:r>
          </a:p>
          <a:p xmlns:a="http://schemas.openxmlformats.org/drawingml/2006/main">
            <a:r>
              <a:t>Почему ошибочные ответы неверны: Они полностью исключают любые ошибки индексов. operator[] у vector обычно не проверяет границы, ошибки все еще возможны. Их можно отправить по сети как готовый объект памяти. Нужно передавать содержимое, а не внутреннее представление контейнера.</a:t>
            </a:r>
          </a:p>
          <a:p xmlns:a="http://schemas.openxmlformats.org/drawingml/2006/main">
            <a:r>
              <a:t/>
            </a:r>
          </a:p>
          <a:p xmlns:a="http://schemas.openxmlformats.org/drawingml/2006/main">
            <a:r>
              <a:t>Для устного ответа: Почему наличие vector не предотвратило найденную ошибку сервера?</a:t>
            </a:r>
          </a:p>
          <a:p xmlns:a="http://schemas.openxmlformats.org/drawingml/2006/main">
            <a:r>
              <a:t/>
            </a:r>
          </a:p>
          <a:p xmlns:a="http://schemas.openxmlformats.org/drawingml/2006/main">
            <a:r>
              <a:t>Исходник: src/server/poll_server.hpp, строки 29-36.</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Какой дефект возникает после первого accept в текущем run?</a:t>
            </a:r>
          </a:p>
          <a:p xmlns:a="http://schemas.openxmlformats.org/drawingml/2006/main">
            <a:r>
              <a:t/>
            </a:r>
          </a:p>
          <a:p xmlns:a="http://schemas.openxmlformats.org/drawingml/2006/main">
            <a:r>
              <a:t>Размер _clients увеличивается раньше, чем перестраивается _poll_fds, и цикл читает вне массива событий. До подключения _poll_fds содержит только listener. accept добавляет клиента. Затем run читает _poll_fds[1], которого еще нет. Проверочная сборка с _GLIBCXX_DEBUG воспроизвела остановку.</a:t>
            </a:r>
          </a:p>
          <a:p xmlns:a="http://schemas.openxmlformats.org/drawingml/2006/main">
            <a:r>
              <a:t/>
            </a:r>
          </a:p>
          <a:p xmlns:a="http://schemas.openxmlformats.org/drawingml/2006/main">
            <a:r>
              <a:t>Почему ошибочные ответы неверны: accept сам возвращает отрицательный fd даже при успехе. Успешный accept возвращает неотрицательный fd. poll автоматически удаляет первый элемент _clients. poll ничего не знает о контейнере _clients.</a:t>
            </a:r>
          </a:p>
          <a:p xmlns:a="http://schemas.openxmlformats.org/drawingml/2006/main">
            <a:r>
              <a:t/>
            </a:r>
          </a:p>
          <a:p xmlns:a="http://schemas.openxmlformats.org/drawingml/2006/main">
            <a:r>
              <a:t>Для устного ответа: Как сохранить соответствие снимка событий и списка клиентов?</a:t>
            </a:r>
          </a:p>
          <a:p xmlns:a="http://schemas.openxmlformats.org/drawingml/2006/main">
            <a:r>
              <a:t/>
            </a:r>
          </a:p>
          <a:p xmlns:a="http://schemas.openxmlformats.org/drawingml/2006/main">
            <a:r>
              <a:t>Исходник: src/server/poll_server.cpp, строки 81-113.</a:t>
            </a:r>
          </a:p>
          <a:p xmlns:a="http://schemas.openxmlformats.org/drawingml/2006/main">
            <a:r>
              <a:t/>
            </a:r>
          </a:p>
          <a:p xmlns:a="http://schemas.openxmlformats.org/drawingml/2006/main">
            <a:r>
              <a:t>Почему нельзя просто вызвать rebuild_events сразу после poll и перед обработкой?</a:t>
            </a:r>
          </a:p>
          <a:p xmlns:a="http://schemas.openxmlformats.org/drawingml/2006/main">
            <a:r>
              <a:t/>
            </a:r>
          </a:p>
          <a:p xmlns:a="http://schemas.openxmlformats.org/drawingml/2006/main">
            <a:r>
              <a:t>Перестроение обнулит revents и потеряет только что полученный снимок событий. Надо обрабатывать события для тех fd, которые участвовали в ожидании, либо сохранять снимок. Новые соединения включаются в следующий корректный набор.</a:t>
            </a:r>
          </a:p>
          <a:p xmlns:a="http://schemas.openxmlformats.org/drawingml/2006/main">
            <a:r>
              <a:t/>
            </a:r>
          </a:p>
          <a:p xmlns:a="http://schemas.openxmlformats.org/drawingml/2006/main">
            <a:r>
              <a:t>Почему ошибочные ответы неверны: Потому что vector нельзя очищать после создания. Вектор очищать можно, проблема в потере информации. Потому что poll запрещает менять свои аргументы после возврата. После возврата память принадлежит программе, но события нужно сохранить.</a:t>
            </a:r>
          </a:p>
          <a:p xmlns:a="http://schemas.openxmlformats.org/drawingml/2006/main">
            <a:r>
              <a:t/>
            </a:r>
          </a:p>
          <a:p xmlns:a="http://schemas.openxmlformats.org/drawingml/2006/main">
            <a:r>
              <a:t>Для устного ответа: Предложи порядок обработки старых клиентов и новых подключений.</a:t>
            </a:r>
          </a:p>
          <a:p xmlns:a="http://schemas.openxmlformats.org/drawingml/2006/main">
            <a:r>
              <a:t/>
            </a:r>
          </a:p>
          <a:p xmlns:a="http://schemas.openxmlformats.org/drawingml/2006/main">
            <a:r>
              <a:t>Исходник: src/server/poll_server.cpp, строки 268-287.</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Что опасного в закрытии по POLLHUP до чтения POLLIN?</a:t>
            </a:r>
          </a:p>
          <a:p xmlns:a="http://schemas.openxmlformats.org/drawingml/2006/main">
            <a:r>
              <a:t/>
            </a:r>
          </a:p>
          <a:p xmlns:a="http://schemas.openxmlformats.org/drawingml/2006/main">
            <a:r>
              <a:t>В сокете могут оставаться непрочитанные данные, которые будут потеряны. В текущем run все события ошибки и hangup ведут к немедленному close. Корректная политика должна учитывать оставшиеся входные данные и требования протокола.</a:t>
            </a:r>
          </a:p>
          <a:p xmlns:a="http://schemas.openxmlformats.org/drawingml/2006/main">
            <a:r>
              <a:t/>
            </a:r>
          </a:p>
          <a:p xmlns:a="http://schemas.openxmlformats.org/drawingml/2006/main">
            <a:r>
              <a:t>Почему ошибочные ответы неверны: POLLHUP всегда означает неверное имя пользователя. Это транспортное событие. POLLHUP гарантирует отсутствие любых байтов в буфере. Hangup может сочетаться с доступными данными.</a:t>
            </a:r>
          </a:p>
          <a:p xmlns:a="http://schemas.openxmlformats.org/drawingml/2006/main">
            <a:r>
              <a:t/>
            </a:r>
          </a:p>
          <a:p xmlns:a="http://schemas.openxmlformats.org/drawingml/2006/main">
            <a:r>
              <a:t>Для устного ответа: Как проверить запрос, после которого клиент закрыл направление записи?</a:t>
            </a:r>
          </a:p>
          <a:p xmlns:a="http://schemas.openxmlformats.org/drawingml/2006/main">
            <a:r>
              <a:t/>
            </a:r>
          </a:p>
          <a:p xmlns:a="http://schemas.openxmlformats.org/drawingml/2006/main">
            <a:r>
              <a:t>Исходник: src/server/poll_server.cpp, строки 81-113.</a:t>
            </a:r>
          </a:p>
          <a:p xmlns:a="http://schemas.openxmlformats.org/drawingml/2006/main">
            <a:r>
              <a:t/>
            </a:r>
          </a:p>
          <a:p xmlns:a="http://schemas.openxmlformats.org/drawingml/2006/main">
            <a:r>
              <a:t>Будет ли доставлен ERR о слишком длинной команде в текущем read_client?</a:t>
            </a:r>
          </a:p>
          <a:p xmlns:a="http://schemas.openxmlformats.org/drawingml/2006/main">
            <a:r>
              <a:t/>
            </a:r>
          </a:p>
          <a:p xmlns:a="http://schemas.openxmlformats.org/drawingml/2006/main">
            <a:r>
              <a:t>Не гарантировано: ответ добавляется в output, затем соединение сразу закрывается. Неотправленная прикладная строка остается лишь в памяти. Чтобы завершить сеанс с объяснением, нужна политика отправки ответа перед закрытием.</a:t>
            </a:r>
          </a:p>
          <a:p xmlns:a="http://schemas.openxmlformats.org/drawingml/2006/main">
            <a:r>
              <a:t/>
            </a:r>
          </a:p>
          <a:p xmlns:a="http://schemas.openxmlformats.org/drawingml/2006/main">
            <a:r>
              <a:t>Почему ошибочные ответы неверны: Да, добавление в std::string само отправляет данные. Байты отправляются только в write_client. Да, close вызывает метод process_line. close не вызывает прикладной обработчик.</a:t>
            </a:r>
          </a:p>
          <a:p xmlns:a="http://schemas.openxmlformats.org/drawingml/2006/main">
            <a:r>
              <a:t/>
            </a:r>
          </a:p>
          <a:p xmlns:a="http://schemas.openxmlformats.org/drawingml/2006/main">
            <a:r>
              <a:t>Для устного ответа: Чем output программы отличается от отправного буфера ядра?</a:t>
            </a:r>
          </a:p>
          <a:p xmlns:a="http://schemas.openxmlformats.org/drawingml/2006/main">
            <a:r>
              <a:t/>
            </a:r>
          </a:p>
          <a:p xmlns:a="http://schemas.openxmlformats.org/drawingml/2006/main">
            <a:r>
              <a:t>Исходник: src/server/poll_server.cpp, строки 136-163.</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Гарантирует ли long long отсутствие переполнений?</a:t>
            </a:r>
          </a:p>
          <a:p xmlns:a="http://schemas.openxmlformats.org/drawingml/2006/main">
            <a:r>
              <a:t/>
            </a:r>
          </a:p>
          <a:p xmlns:a="http://schemas.openxmlformats.org/drawingml/2006/main">
            <a:r>
              <a:t>Нет, у него конечный диапазон, а знаковое переполнение арифметики недопустимо. Код проверяет деление на ноль, но не все границы: накопление числа, сложение, умножение и особое деление минимального значения на -1 требуют отдельных проверок.</a:t>
            </a:r>
          </a:p>
          <a:p xmlns:a="http://schemas.openxmlformats.org/drawingml/2006/main">
            <a:r>
              <a:t/>
            </a:r>
          </a:p>
          <a:p xmlns:a="http://schemas.openxmlformats.org/drawingml/2006/main">
            <a:r>
              <a:t>Почему ошибочные ответы неверны: Да, это число произвольной точности. long long имеет ограниченную разрядность. Да, std::to_string исправляет любое переполнение. Преобразование результата в текст происходит слишком поздно.</a:t>
            </a:r>
          </a:p>
          <a:p xmlns:a="http://schemas.openxmlformats.org/drawingml/2006/main">
            <a:r>
              <a:t/>
            </a:r>
          </a:p>
          <a:p xmlns:a="http://schemas.openxmlformats.org/drawingml/2006/main">
            <a:r>
              <a:t>Для устного ответа: Почему try/catch не ловит обычное знаковое переполнение автоматически?</a:t>
            </a:r>
          </a:p>
          <a:p xmlns:a="http://schemas.openxmlformats.org/drawingml/2006/main">
            <a:r>
              <a:t/>
            </a:r>
          </a:p>
          <a:p xmlns:a="http://schemas.openxmlformats.org/drawingml/2006/main">
            <a:r>
              <a:t>Исходник: src/model/calculator.cpp, строки 18-143.</a:t>
            </a:r>
          </a:p>
          <a:p xmlns:a="http://schemas.openxmlformats.org/drawingml/2006/main">
            <a:r>
              <a:t/>
            </a:r>
          </a:p>
          <a:p xmlns:a="http://schemas.openxmlformats.org/drawingml/2006/main">
            <a:r>
              <a:t>Гарантирует ли текущий save надежность при заполненном диске?</a:t>
            </a:r>
          </a:p>
          <a:p xmlns:a="http://schemas.openxmlformats.org/drawingml/2006/main">
            <a:r>
              <a:t/>
            </a:r>
          </a:p>
          <a:p xmlns:a="http://schemas.openxmlformats.org/drawingml/2006/main">
            <a:r>
              <a:t>Нет, после записи не проверяются все состояния потока, а файл открывается с trunc. Для надежности нужны проверки записи и закрытия, запись во временный файл и продуманная замена. Нельзя обещать транзакционность текущего хранилища.</a:t>
            </a:r>
          </a:p>
          <a:p xmlns:a="http://schemas.openxmlformats.org/drawingml/2006/main">
            <a:r>
              <a:t/>
            </a:r>
          </a:p>
          <a:p xmlns:a="http://schemas.openxmlformats.org/drawingml/2006/main">
            <a:r>
              <a:t>Почему ошибочные ответы неверны: Да, ofstream по умолчанию бросает исключение при любой ошибке записи. Стандартные потоки не обязаны бросать такие исключения без настройки. Да, backup в памяти автоматически восстанавливает файл. Резервная структура в памяти не восстанавливает содержимое файла.</a:t>
            </a:r>
          </a:p>
          <a:p xmlns:a="http://schemas.openxmlformats.org/drawingml/2006/main">
            <a:r>
              <a:t/>
            </a:r>
          </a:p>
          <a:p xmlns:a="http://schemas.openxmlformats.org/drawingml/2006/main">
            <a:r>
              <a:t>Для устного ответа: Почему ошибка открытия и ошибка после нескольких записей различаются?</a:t>
            </a:r>
          </a:p>
          <a:p xmlns:a="http://schemas.openxmlformats.org/drawingml/2006/main">
            <a:r>
              <a:t/>
            </a:r>
          </a:p>
          <a:p xmlns:a="http://schemas.openxmlformats.org/drawingml/2006/main">
            <a:r>
              <a:t>Исходник: src/model/calculator.cpp, строки 293-302.</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Может ли выходной буфер расти при медленно читающем клиенте?</a:t>
            </a:r>
          </a:p>
          <a:p xmlns:a="http://schemas.openxmlformats.org/drawingml/2006/main">
            <a:r>
              <a:t/>
            </a:r>
          </a:p>
          <a:p xmlns:a="http://schemas.openxmlformats.org/drawingml/2006/main">
            <a:r>
              <a:t>Да, если клиент присылает команды быстрее, чем забирает ответы. В коде нет явного ограничения output и политики обратного давления. Это полезно назвать как ограничение учебной реализации.</a:t>
            </a:r>
          </a:p>
          <a:p xmlns:a="http://schemas.openxmlformats.org/drawingml/2006/main">
            <a:r>
              <a:t/>
            </a:r>
          </a:p>
          <a:p xmlns:a="http://schemas.openxmlformats.org/drawingml/2006/main">
            <a:r>
              <a:t>Почему ошибочные ответы неверны: Нет, TCP автоматически ограничивает размер std::string. TCP ограничивает свои буферы, не произвольные прикладные строки. Нет, output имеет фиксированный размер 4096. 4096 относится к локальному входному массиву.</a:t>
            </a:r>
          </a:p>
          <a:p xmlns:a="http://schemas.openxmlformats.org/drawingml/2006/main">
            <a:r>
              <a:t/>
            </a:r>
          </a:p>
          <a:p xmlns:a="http://schemas.openxmlformats.org/drawingml/2006/main">
            <a:r>
              <a:t>Для устного ответа: Когда стоит перестать читать новые команды клиента?</a:t>
            </a:r>
          </a:p>
          <a:p xmlns:a="http://schemas.openxmlformats.org/drawingml/2006/main">
            <a:r>
              <a:t/>
            </a:r>
          </a:p>
          <a:p xmlns:a="http://schemas.openxmlformats.org/drawingml/2006/main">
            <a:r>
              <a:t>Исходник: src/server/poll_server.hpp, строки 29-36.</a:t>
            </a:r>
          </a:p>
          <a:p xmlns:a="http://schemas.openxmlformats.org/drawingml/2006/main">
            <a:r>
              <a:t/>
            </a:r>
          </a:p>
          <a:p xmlns:a="http://schemas.openxmlformats.org/drawingml/2006/main">
            <a:r>
              <a:t>Что означает требование обслуживать неограниченное число клиентов?</a:t>
            </a:r>
          </a:p>
          <a:p xmlns:a="http://schemas.openxmlformats.org/drawingml/2006/main">
            <a:r>
              <a:t/>
            </a:r>
          </a:p>
          <a:p xmlns:a="http://schemas.openxmlformats.org/drawingml/2006/main">
            <a:r>
              <a:t>В учебном условии нет малого фиксированного лимита, но реальные ресурсы ОС конечны. vector растет динамически, однако каждый клиент потребляет fd, буферы и время обхода. У poll есть стоимость просмотра массива.</a:t>
            </a:r>
          </a:p>
          <a:p xmlns:a="http://schemas.openxmlformats.org/drawingml/2006/main">
            <a:r>
              <a:t/>
            </a:r>
          </a:p>
          <a:p xmlns:a="http://schemas.openxmlformats.org/drawingml/2006/main">
            <a:r>
              <a:t>Почему ошибочные ответы неверны: Сервер может обслужить бесконечное число соединений. Память, дескрипторы и время процессора ограничены. SOMAXCONN снимает все системные ограничения. Он касается очереди listen, а не всех ресурсов.</a:t>
            </a:r>
          </a:p>
          <a:p xmlns:a="http://schemas.openxmlformats.org/drawingml/2006/main">
            <a:r>
              <a:t/>
            </a:r>
          </a:p>
          <a:p xmlns:a="http://schemas.openxmlformats.org/drawingml/2006/main">
            <a:r>
              <a:t>Для устного ответа: Какие три ресурса закончатся при росте числа клиентов?</a:t>
            </a:r>
          </a:p>
          <a:p xmlns:a="http://schemas.openxmlformats.org/drawingml/2006/main">
            <a:r>
              <a:t/>
            </a:r>
          </a:p>
          <a:p xmlns:a="http://schemas.openxmlformats.org/drawingml/2006/main">
            <a:r>
              <a:t>Исходник: src/server/poll_server.cpp, строки 81-113.</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Есть ли шифрование данных в текущем приложении?</a:t>
            </a:r>
          </a:p>
          <a:p xmlns:a="http://schemas.openxmlformats.org/drawingml/2006/main">
            <a:r>
              <a:t/>
            </a:r>
          </a:p>
          <a:p xmlns:a="http://schemas.openxmlformats.org/drawingml/2006/main">
            <a:r>
              <a:t>Нет, поверх обычного TCP передаются текстовые строки без TLS. Это учебный обмен в доверенной среде. Для защищенного канала понадобился бы отдельный протокол и реализация защиты, например TLS.</a:t>
            </a:r>
          </a:p>
          <a:p xmlns:a="http://schemas.openxmlformats.org/drawingml/2006/main">
            <a:r>
              <a:t/>
            </a:r>
          </a:p>
          <a:p xmlns:a="http://schemas.openxmlformats.org/drawingml/2006/main">
            <a:r>
              <a:t>Почему ошибочные ответы неверны: Да, TCP по умолчанию шифрует полезную нагрузку. TCP не предоставляет шифрование. Да, использование UTF-8 скрывает смысл сообщений. Кодировка не является шифрованием.</a:t>
            </a:r>
          </a:p>
          <a:p xmlns:a="http://schemas.openxmlformats.org/drawingml/2006/main">
            <a:r>
              <a:t/>
            </a:r>
          </a:p>
          <a:p xmlns:a="http://schemas.openxmlformats.org/drawingml/2006/main">
            <a:r>
              <a:t>Для устного ответа: Почему надежность доставки и конфиденциальность - разные свойства?</a:t>
            </a:r>
          </a:p>
          <a:p xmlns:a="http://schemas.openxmlformats.org/drawingml/2006/main">
            <a:r>
              <a:t/>
            </a:r>
          </a:p>
          <a:p xmlns:a="http://schemas.openxmlformats.org/drawingml/2006/main">
            <a:r>
              <a:t>Исходник: src/server/poll_server.cpp, строки 55-79.</a:t>
            </a:r>
          </a:p>
          <a:p xmlns:a="http://schemas.openxmlformats.org/drawingml/2006/main">
            <a:r>
              <a:t/>
            </a:r>
          </a:p>
          <a:p xmlns:a="http://schemas.openxmlformats.org/drawingml/2006/main">
            <a:r>
              <a:t>Как честно описать обнаруженный дефект на защите?</a:t>
            </a:r>
          </a:p>
          <a:p xmlns:a="http://schemas.openxmlformats.org/drawingml/2006/main">
            <a:r>
              <a:t/>
            </a:r>
          </a:p>
          <a:p xmlns:a="http://schemas.openxmlformats.org/drawingml/2006/main">
            <a:r>
              <a:t>Назвать условие, проблемную строку, последствия и способ исправления, не приписывая коду уже выполненную правку. Подготовка должна различать замысел алгоритма и фактическую реализацию. Проверочная сборка дает конкретное воспроизведение выхода за границы.</a:t>
            </a:r>
          </a:p>
          <a:p xmlns:a="http://schemas.openxmlformats.org/drawingml/2006/main">
            <a:r>
              <a:t/>
            </a:r>
          </a:p>
          <a:p xmlns:a="http://schemas.openxmlformats.org/drawingml/2006/main">
            <a:r>
              <a:t>Почему ошибочные ответы неверны: Сказать, что ошибка невозможна, потому что пример из отчета работает. Отчетный пример не отменяет дефект исходника. Называть любой сбой проблемой преподавательского компьютера. Причину нужно связывать с доказательствами.</a:t>
            </a:r>
          </a:p>
          <a:p xmlns:a="http://schemas.openxmlformats.org/drawingml/2006/main">
            <a:r>
              <a:t/>
            </a:r>
          </a:p>
          <a:p xmlns:a="http://schemas.openxmlformats.org/drawingml/2006/main">
            <a:r>
              <a:t>Для устного ответа: Объясни дефект run за 30 секунд без оправданий.</a:t>
            </a:r>
          </a:p>
          <a:p xmlns:a="http://schemas.openxmlformats.org/drawingml/2006/main">
            <a:r>
              <a:t/>
            </a:r>
          </a:p>
          <a:p xmlns:a="http://schemas.openxmlformats.org/drawingml/2006/main">
            <a:r>
              <a:t>Исходник: src/server/poll_server.cpp, строки 81-113.</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Какая последовательность демонстрации наиболее показательна?</a:t>
            </a:r>
          </a:p>
          <a:p xmlns:a="http://schemas.openxmlformats.org/drawingml/2006/main">
            <a:r>
              <a:t/>
            </a:r>
          </a:p>
          <a:p xmlns:a="http://schemas.openxmlformats.org/drawingml/2006/main">
            <a:r>
              <a:t>Запуск сервера, подключение клиента, присваивание, расчет, ошибка, повторный вход и проверка сохранения. Так проверяются транспорт, протокол, вычисления, обработка ошибки и хранение. До защиты обязательно прогнать именно ту версию исходников, которую студент показывает.</a:t>
            </a:r>
          </a:p>
          <a:p xmlns:a="http://schemas.openxmlformats.org/drawingml/2006/main">
            <a:r>
              <a:t/>
            </a:r>
          </a:p>
          <a:p xmlns:a="http://schemas.openxmlformats.org/drawingml/2006/main">
            <a:r>
              <a:t>Почему ошибочные ответы неверны: Только вывод справки клиента без соединения. Справка не демонстрирует сетевой обмен и модель. Только успешная компиляция без запуска. Сборка не доказывает поведение программы.</a:t>
            </a:r>
          </a:p>
          <a:p xmlns:a="http://schemas.openxmlformats.org/drawingml/2006/main">
            <a:r>
              <a:t/>
            </a:r>
          </a:p>
          <a:p xmlns:a="http://schemas.openxmlformats.org/drawingml/2006/main">
            <a:r>
              <a:t>Для устного ответа: Какие ожидаемые ответы должны быть у команд демонстрации?</a:t>
            </a:r>
          </a:p>
          <a:p xmlns:a="http://schemas.openxmlformats.org/drawingml/2006/main">
            <a:r>
              <a:t/>
            </a:r>
          </a:p>
          <a:p xmlns:a="http://schemas.openxmlformats.org/drawingml/2006/main">
            <a:r>
              <a:t>Исходник: src/server_main.cpp, строки 1-35.</a:t>
            </a:r>
          </a:p>
          <a:p xmlns:a="http://schemas.openxmlformats.org/drawingml/2006/main">
            <a:r>
              <a:t/>
            </a:r>
          </a:p>
          <a:p xmlns:a="http://schemas.openxmlformats.org/drawingml/2006/main">
            <a:r>
              <a:t>Достаточно ли ping, чтобы доказать работу TCP-порта 4040?</a:t>
            </a:r>
          </a:p>
          <a:p xmlns:a="http://schemas.openxmlformats.org/drawingml/2006/main">
            <a:r>
              <a:t/>
            </a:r>
          </a:p>
          <a:p xmlns:a="http://schemas.openxmlformats.org/drawingml/2006/main">
            <a:r>
              <a:t>Нет, отдельно нужно проверить подключение к порту или запустить клиент. ping проверяет часть сетевой достижимости с помощью ICMP и может быть запрещен отдельно. Состояние TCP-службы проверяется отдельно.</a:t>
            </a:r>
          </a:p>
          <a:p xmlns:a="http://schemas.openxmlformats.org/drawingml/2006/main">
            <a:r>
              <a:t/>
            </a:r>
          </a:p>
          <a:p xmlns:a="http://schemas.openxmlformats.org/drawingml/2006/main">
            <a:r>
              <a:t>Почему ошибочные ответы неверны: Да, ping выполняет accept на сервере. ping не использует прикладной TCP-сервер. Да, успешный ping подтверждает правильность парсера. Сеть не проверяет арифметический код.</a:t>
            </a:r>
          </a:p>
          <a:p xmlns:a="http://schemas.openxmlformats.org/drawingml/2006/main">
            <a:r>
              <a:t/>
            </a:r>
          </a:p>
          <a:p xmlns:a="http://schemas.openxmlformats.org/drawingml/2006/main">
            <a:r>
              <a:t>Для устного ответа: Что проверить, если ping есть, но connect получает отказ?</a:t>
            </a:r>
          </a:p>
          <a:p xmlns:a="http://schemas.openxmlformats.org/drawingml/2006/main">
            <a:r>
              <a:t/>
            </a:r>
          </a:p>
          <a:p xmlns:a="http://schemas.openxmlformats.org/drawingml/2006/main">
            <a:r>
              <a:t>Исходник: src/client/console_client.cpp, строки 46-74.</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Почему клиент с другого компьютера должен использовать IP сервера?</a:t>
            </a:r>
          </a:p>
          <a:p xmlns:a="http://schemas.openxmlformats.org/drawingml/2006/main">
            <a:r>
              <a:t/>
            </a:r>
          </a:p>
          <a:p xmlns:a="http://schemas.openxmlformats.org/drawingml/2006/main">
            <a:r>
              <a:t>Потому что loopback клиента указывает на сам клиентский компьютер. На сервере узнают подходящий адрес интерфейса, затем используют его и нужный порт на клиенте. Нужна фактическая проверка связи между двумя машинами.</a:t>
            </a:r>
          </a:p>
          <a:p xmlns:a="http://schemas.openxmlformats.org/drawingml/2006/main">
            <a:r>
              <a:t/>
            </a:r>
          </a:p>
          <a:p xmlns:a="http://schemas.openxmlformats.org/drawingml/2006/main">
            <a:r>
              <a:t>Почему ошибочные ответы неверны: Потому что TCP запрещает имена DNS в локальной сети. getaddrinfo поддерживает имена. Потому что имя пользователя заменяет IP только на одном компьютере. Имя пользователя не участвует в маршрутизации TCP.</a:t>
            </a:r>
          </a:p>
          <a:p xmlns:a="http://schemas.openxmlformats.org/drawingml/2006/main">
            <a:r>
              <a:t/>
            </a:r>
          </a:p>
          <a:p xmlns:a="http://schemas.openxmlformats.org/drawingml/2006/main">
            <a:r>
              <a:t>Для устного ответа: Покажи пример команд запуска с условными адресами.</a:t>
            </a:r>
          </a:p>
          <a:p xmlns:a="http://schemas.openxmlformats.org/drawingml/2006/main">
            <a:r>
              <a:t/>
            </a:r>
          </a:p>
          <a:p xmlns:a="http://schemas.openxmlformats.org/drawingml/2006/main">
            <a:r>
              <a:t>Исходник: src/client/console_client.cpp, строки 46-74.</a:t>
            </a:r>
          </a:p>
          <a:p xmlns:a="http://schemas.openxmlformats.org/drawingml/2006/main">
            <a:r>
              <a:t/>
            </a:r>
          </a:p>
          <a:p xmlns:a="http://schemas.openxmlformats.org/drawingml/2006/main">
            <a:r>
              <a:t>Как показать независимость разных пользователей?</a:t>
            </a:r>
          </a:p>
          <a:p xmlns:a="http://schemas.openxmlformats.org/drawingml/2006/main">
            <a:r>
              <a:t/>
            </a:r>
          </a:p>
          <a:p xmlns:a="http://schemas.openxmlformats.org/drawingml/2006/main">
            <a:r>
              <a:t>Подключить два имени, изменить X у одного и прочитать X у другого. Тест должен различать состояние соединения и состояние пользователя. После перезапуска сервера проверяют восстановление из файла.</a:t>
            </a:r>
          </a:p>
          <a:p xmlns:a="http://schemas.openxmlformats.org/drawingml/2006/main">
            <a:r>
              <a:t/>
            </a:r>
          </a:p>
          <a:p xmlns:a="http://schemas.openxmlformats.org/drawingml/2006/main">
            <a:r>
              <a:t>Почему ошибочные ответы неверны: Открыть два окна с одним именем и ожидать разные X. Одинаковое имя ведет к одному ключу модели. Изменить номер локального дескриптора. Идентичность пользователя не определяется fd.</a:t>
            </a:r>
          </a:p>
          <a:p xmlns:a="http://schemas.openxmlformats.org/drawingml/2006/main">
            <a:r>
              <a:t/>
            </a:r>
          </a:p>
          <a:p xmlns:a="http://schemas.openxmlformats.org/drawingml/2006/main">
            <a:r>
              <a:t>Для устного ответа: Какой отдельный тест нужен для одинаковых имен?</a:t>
            </a:r>
          </a:p>
          <a:p xmlns:a="http://schemas.openxmlformats.org/drawingml/2006/main">
            <a:r>
              <a:t/>
            </a:r>
          </a:p>
          <a:p xmlns:a="http://schemas.openxmlformats.org/drawingml/2006/main">
            <a:r>
              <a:t>Исходник: src/model/calculator.cpp, строки 223-277.</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Как убедиться, что сервер действительно однопоточный?</a:t>
            </a:r>
          </a:p>
          <a:p xmlns:a="http://schemas.openxmlformats.org/drawingml/2006/main">
            <a:r>
              <a:t/>
            </a:r>
          </a:p>
          <a:p xmlns:a="http://schemas.openxmlformats.org/drawingml/2006/main">
            <a:r>
              <a:t>Посмотреть код создания исполнителей и список потоков работающего процесса. В коде нет fork/std::thread. При запуске можно посмотреть ps -Lf -p PID, учитывая заголовок вывода и фактические строки потоков.</a:t>
            </a:r>
          </a:p>
          <a:p xmlns:a="http://schemas.openxmlformats.org/drawingml/2006/main">
            <a:r>
              <a:t/>
            </a:r>
          </a:p>
          <a:p xmlns:a="http://schemas.openxmlformats.org/drawingml/2006/main">
            <a:r>
              <a:t>Почему ошибочные ответы неверны: Посчитать количество клиентских окон. Клиентские окна могут принадлежать другим процессам. Проверить, что в проекте ровно один .cpp файл. Число исходных файлов не задает число потоков.</a:t>
            </a:r>
          </a:p>
          <a:p xmlns:a="http://schemas.openxmlformats.org/drawingml/2006/main">
            <a:r>
              <a:t/>
            </a:r>
          </a:p>
          <a:p xmlns:a="http://schemas.openxmlformats.org/drawingml/2006/main">
            <a:r>
              <a:t>Для устного ответа: Почему несколько клиентских процессов не нарушают условие об одном серверном потоке?</a:t>
            </a:r>
          </a:p>
          <a:p xmlns:a="http://schemas.openxmlformats.org/drawingml/2006/main">
            <a:r>
              <a:t/>
            </a:r>
          </a:p>
          <a:p xmlns:a="http://schemas.openxmlformats.org/drawingml/2006/main">
            <a:r>
              <a:t>Исходник: src/server/poll_server.cpp, строки 81-113.</a:t>
            </a:r>
          </a:p>
          <a:p xmlns:a="http://schemas.openxmlformats.org/drawingml/2006/main">
            <a:r>
              <a:t/>
            </a:r>
          </a:p>
          <a:p xmlns:a="http://schemas.openxmlformats.org/drawingml/2006/main">
            <a:r>
              <a:t>Что ответить на вопрос «почему char*, а не int* для recv»?</a:t>
            </a:r>
          </a:p>
          <a:p xmlns:a="http://schemas.openxmlformats.org/drawingml/2006/main">
            <a:r>
              <a:t/>
            </a:r>
          </a:p>
          <a:p xmlns:a="http://schemas.openxmlformats.org/drawingml/2006/main">
            <a:r>
              <a:t>Принимается последовательность байтов; char-буфер удобен, а фактический API допускает void*. Формат числа определяется прикладным протоколом. Если принимать бинарные числа, придется договориться о длине, порядке байтов и представлении, а не просто заменить тип указателя.</a:t>
            </a:r>
          </a:p>
          <a:p xmlns:a="http://schemas.openxmlformats.org/drawingml/2006/main">
            <a:r>
              <a:t/>
            </a:r>
          </a:p>
          <a:p xmlns:a="http://schemas.openxmlformats.org/drawingml/2006/main">
            <a:r>
              <a:t>Почему ошибочные ответы неверны: Потому что TCP умеет передавать только символы. TCP передает байты любого содержания. Потому что int всегда содержит IP-адрес. Тип int не имеет такого обязательного смысла.</a:t>
            </a:r>
          </a:p>
          <a:p xmlns:a="http://schemas.openxmlformats.org/drawingml/2006/main">
            <a:r>
              <a:t/>
            </a:r>
          </a:p>
          <a:p xmlns:a="http://schemas.openxmlformats.org/drawingml/2006/main">
            <a:r>
              <a:t>Для устного ответа: Почему указатель и количество байтов необходимы вместе?</a:t>
            </a:r>
          </a:p>
          <a:p xmlns:a="http://schemas.openxmlformats.org/drawingml/2006/main">
            <a:r>
              <a:t/>
            </a:r>
          </a:p>
          <a:p xmlns:a="http://schemas.openxmlformats.org/drawingml/2006/main">
            <a:r>
              <a:t>Исходник: src/server/poll_server.cpp, строки 136-163.</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Каким ответом лучше объяснить отсутствие seq?</a:t>
            </a:r>
          </a:p>
          <a:p xmlns:a="http://schemas.openxmlformats.org/drawingml/2006/main">
            <a:r>
              <a:t/>
            </a:r>
          </a:p>
          <a:p xmlns:a="http://schemas.openxmlformats.org/drawingml/2006/main">
            <a:r>
              <a:t>Один незавершенный запрос плюс последовательный ответ позволяют обойтись без прикладного ID в этой версии. Обоснование должно включать ограничение применимости. Порядок байтов TCP сам по себе не задает порядок завершения вычислений в произвольной архитектуре.</a:t>
            </a:r>
          </a:p>
          <a:p xmlns:a="http://schemas.openxmlformats.org/drawingml/2006/main">
            <a:r>
              <a:t/>
            </a:r>
          </a:p>
          <a:p xmlns:a="http://schemas.openxmlformats.org/drawingml/2006/main">
            <a:r>
              <a:t>Почему ошибочные ответы неверны: TCP распознает команды калькулятора и сопоставляет ответы. TCP не знает прикладных команд. Протокол без seq подходит для любого параллельного сервера. При ответах вне порядка это уже не так.</a:t>
            </a:r>
          </a:p>
          <a:p xmlns:a="http://schemas.openxmlformats.org/drawingml/2006/main">
            <a:r>
              <a:t/>
            </a:r>
          </a:p>
          <a:p xmlns:a="http://schemas.openxmlformats.org/drawingml/2006/main">
            <a:r>
              <a:t>Для устного ответа: Как изменится ответ при добавлении нескольких одновременно ожидающих команд?</a:t>
            </a:r>
          </a:p>
          <a:p xmlns:a="http://schemas.openxmlformats.org/drawingml/2006/main">
            <a:r>
              <a:t/>
            </a:r>
          </a:p>
          <a:p xmlns:a="http://schemas.openxmlformats.org/drawingml/2006/main">
            <a:r>
              <a:t>Исходник: src/client/console_client.cpp, строки 114-117.</a:t>
            </a:r>
          </a:p>
          <a:p xmlns:a="http://schemas.openxmlformats.org/drawingml/2006/main">
            <a:r>
              <a:t/>
            </a:r>
          </a:p>
          <a:p xmlns:a="http://schemas.openxmlformats.org/drawingml/2006/main">
            <a:r>
              <a:t>Что означает «готовность к чтению» в терминах poll?</a:t>
            </a:r>
          </a:p>
          <a:p xmlns:a="http://schemas.openxmlformats.org/drawingml/2006/main">
            <a:r>
              <a:t/>
            </a:r>
          </a:p>
          <a:p xmlns:a="http://schemas.openxmlformats.org/drawingml/2006/main">
            <a:r>
              <a:t>Операция может продвинуться без обычного ожидания, в том числе вернуть данные или EOF. После события нужно выполнить recv и обработать его результат. Даже готовность не освобождает от проверки ошибок и неполного сообщения.</a:t>
            </a:r>
          </a:p>
          <a:p xmlns:a="http://schemas.openxmlformats.org/drawingml/2006/main">
            <a:r>
              <a:t/>
            </a:r>
          </a:p>
          <a:p xmlns:a="http://schemas.openxmlformats.org/drawingml/2006/main">
            <a:r>
              <a:t>Почему ошибочные ответы неверны: Гарантированно пришла целая команда калькулятора. Готовность не знает границ прикладной строки. Гарантированно пришло ровно 4096 байт. Размер доступных данных может быть другим.</a:t>
            </a:r>
          </a:p>
          <a:p xmlns:a="http://schemas.openxmlformats.org/drawingml/2006/main">
            <a:r>
              <a:t/>
            </a:r>
          </a:p>
          <a:p xmlns:a="http://schemas.openxmlformats.org/drawingml/2006/main">
            <a:r>
              <a:t>Для устного ответа: Почему при POLLIN все равно нужен входной буфер?</a:t>
            </a:r>
          </a:p>
          <a:p xmlns:a="http://schemas.openxmlformats.org/drawingml/2006/main">
            <a:r>
              <a:t/>
            </a:r>
          </a:p>
          <a:p xmlns:a="http://schemas.openxmlformats.org/drawingml/2006/main">
            <a:r>
              <a:t>Исходник: src/server/poll_server.cpp, строки 136-163.</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Как различить программу, процесс и поток на примере работы?</a:t>
            </a:r>
          </a:p>
          <a:p xmlns:a="http://schemas.openxmlformats.org/drawingml/2006/main">
            <a:r>
              <a:t/>
            </a:r>
          </a:p>
          <a:p xmlns:a="http://schemas.openxmlformats.org/drawingml/2006/main">
            <a:r>
              <a:t>Программа - исполняемый код, процесс - запущенный экземпляр с ресурсами, поток - последовательность исполнения внутри него. Один файл клиента можно запустить несколько раз и получить несколько процессов. У сервера в этой реализации один прикладной поток и много сокетов.</a:t>
            </a:r>
          </a:p>
          <a:p xmlns:a="http://schemas.openxmlformats.org/drawingml/2006/main">
            <a:r>
              <a:t/>
            </a:r>
          </a:p>
          <a:p xmlns:a="http://schemas.openxmlformats.org/drawingml/2006/main">
            <a:r>
              <a:t>Почему ошибочные ответы неверны: Это три названия одного TCP-сокета. Сокет является отдельным ресурсом процесса. Каждый метод класса автоматически является потоком. Методы исполняются тем потоком, который их вызывает.</a:t>
            </a:r>
          </a:p>
          <a:p xmlns:a="http://schemas.openxmlformats.org/drawingml/2006/main">
            <a:r>
              <a:t/>
            </a:r>
          </a:p>
          <a:p xmlns:a="http://schemas.openxmlformats.org/drawingml/2006/main">
            <a:r>
              <a:t>Для устного ответа: Что изменится при запуске трех клиентов?</a:t>
            </a:r>
          </a:p>
          <a:p xmlns:a="http://schemas.openxmlformats.org/drawingml/2006/main">
            <a:r>
              <a:t/>
            </a:r>
          </a:p>
          <a:p xmlns:a="http://schemas.openxmlformats.org/drawingml/2006/main">
            <a:r>
              <a:t>Исходник: CMakeLists.txt, строки 1-27.</a:t>
            </a:r>
          </a:p>
          <a:p xmlns:a="http://schemas.openxmlformats.org/drawingml/2006/main">
            <a:r>
              <a:t/>
            </a:r>
          </a:p>
          <a:p xmlns:a="http://schemas.openxmlformats.org/drawingml/2006/main">
            <a:r>
              <a:t>Как проверить понимание после всех карточек?</a:t>
            </a:r>
          </a:p>
          <a:p xmlns:a="http://schemas.openxmlformats.org/drawingml/2006/main">
            <a:r>
              <a:t/>
            </a:r>
          </a:p>
          <a:p xmlns:a="http://schemas.openxmlformats.org/drawingml/2006/main">
            <a:r>
              <a:t>Без вариантов ответа объяснить путь команды, найти функции и предсказать поведение при изменении условия. После темы полезно произнести ответ: термин, место в коде, пример и ограничение. Итоговая проверка должна включать связь нескольких частей программы.</a:t>
            </a:r>
          </a:p>
          <a:p xmlns:a="http://schemas.openxmlformats.org/drawingml/2006/main">
            <a:r>
              <a:t/>
            </a:r>
          </a:p>
          <a:p xmlns:a="http://schemas.openxmlformats.org/drawingml/2006/main">
            <a:r>
              <a:t>Почему ошибочные ответы неверны: Только повторно нажать уже запомнившиеся номера вариантов. Номера не проверяют перенос знания на ситуацию. Считать понимание доказанным одним зеленым счетчиком. Счетчик фиксирует ответы, но не полностью измеряет устное объяснение.</a:t>
            </a:r>
          </a:p>
          <a:p xmlns:a="http://schemas.openxmlformats.org/drawingml/2006/main">
            <a:r>
              <a:t/>
            </a:r>
          </a:p>
          <a:p xmlns:a="http://schemas.openxmlformats.org/drawingml/2006/main">
            <a:r>
              <a:t>Для устного ответа: Объясни весь путь CMD X = 2 + 3 * 4 за две минуты.</a:t>
            </a:r>
          </a:p>
          <a:p xmlns:a="http://schemas.openxmlformats.org/drawingml/2006/main">
            <a:r>
              <a:t/>
            </a:r>
          </a:p>
          <a:p xmlns:a="http://schemas.openxmlformats.org/drawingml/2006/main">
            <a:r>
              <a:t>Исходник: src/client/console_client.cpp, строки 114-117.</a:t>
            </a:r>
          </a:p>
          <a:p xmlns:a="http://schemas.openxmlformats.org/drawingml/2006/main">
            <a:r>
              <a:t/>
            </a:r>
          </a:p>
          <a:p xmlns:a="http://schemas.openxmlformats.org/drawingml/2006/main">
            <a:r>
              <a:t>На слайде показаны отдельные фрагменты. Номера слева относятся к исходным строкам. Длинные строки перенесены между лексемами для чтения.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Команды соответствуют CMakeLists.txt и точкам входа присланного проекта. На другой машине вместо 127.0.0.1 нужен адрес сервера. Ввод пользователя передается клиентом как CMD с переводом строки. Подтвержденный дефект после accept нужно исправить в отдельно согласованной рабочей версии до показа. В исходном архиве он сохранен. После исправления отдельно проверить повторный вход, разные имена, два клиента, разделение запроса на части, два запроса в одной передаче и перезапуск с тем же файлом.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Первый проход по материалу лучше разделить на блоки с короткими паузами. На созвоне приоритет: архитектура, TCP, адреса, recv/send, poll и исходная ошибка. Парсер и C++ разобрать затем или по слабым местам. После созвона - смешанные подходы тренажера. Если студент узнает ответ по кнопкам, попросить закрыть варианты и объяснить механизм. К защите нужен уверенный устный ответ и фактически проверенная рабочая версия. Процент тренажера сам по себе этого не доказывает.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e1c10527806423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b1063939884e5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9863edd4fe340f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cca3f9d84a745e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88854e429b6459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425d279ed974e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25E7F8-6156-4768-9A89-9077D7C16AF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20BDDC4-6846-4E68-ABE2-8EED1D4FD1E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513BAE-A9ED-4DDC-A0FE-D70571E5805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380509-06DF-4599-9983-8A1C59566AD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293E480-E2C4-4CF0-8FDA-0DD5FFF2507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64BF14B-56E0-4FBC-80E6-D807098949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CD2BF3-4F41-41E5-BFEF-8B963C84F7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B6317A1-62E5-4A6C-A670-FA8152590FD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326C76-04CD-4E4E-9114-0ECE0E51835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6DA91D4-E2BA-4AC9-9F44-C371F0793E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f1687eb9e74b67" /><Relationship Type="http://schemas.openxmlformats.org/officeDocument/2006/relationships/slideLayout" Target="/ppt/slideLayouts/slideLayout1.xml" Id="Ra29eab572019434e" /><Relationship Type="http://schemas.openxmlformats.org/officeDocument/2006/relationships/slideLayout" Target="/ppt/slideLayouts/slideLayout2.xml" Id="R19a9b4de1b1043f7" /><Relationship Type="http://schemas.openxmlformats.org/officeDocument/2006/relationships/slideLayout" Target="/ppt/slideLayouts/slideLayout3.xml" Id="R9a424d3871f34a0d" /><Relationship Type="http://schemas.openxmlformats.org/officeDocument/2006/relationships/slideLayout" Target="/ppt/slideLayouts/slideLayout4.xml" Id="R55eace17463e4559" /><Relationship Type="http://schemas.openxmlformats.org/officeDocument/2006/relationships/slideLayout" Target="/ppt/slideLayouts/slideLayout5.xml" Id="Rb2d86fefd6344f3b" /><Relationship Type="http://schemas.openxmlformats.org/officeDocument/2006/relationships/slideLayout" Target="/ppt/slideLayouts/slideLayout6.xml" Id="Rc613f86559824d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9eab572019434e"/>
    <p:sldLayoutId xmlns:r="http://schemas.openxmlformats.org/officeDocument/2006/relationships" id="2147483650" r:id="R19a9b4de1b1043f7"/>
    <p:sldLayoutId xmlns:r="http://schemas.openxmlformats.org/officeDocument/2006/relationships" id="2147483651" r:id="R9a424d3871f34a0d"/>
    <p:sldLayoutId xmlns:r="http://schemas.openxmlformats.org/officeDocument/2006/relationships" id="2147483652" r:id="R55eace17463e4559"/>
    <p:sldLayoutId xmlns:r="http://schemas.openxmlformats.org/officeDocument/2006/relationships" id="2147483653" r:id="Rb2d86fefd6344f3b"/>
    <p:sldLayoutId xmlns:r="http://schemas.openxmlformats.org/officeDocument/2006/relationships" id="2147483654" r:id="Rc613f86559824d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41fb80d8d104c5e" /><Relationship Type="http://schemas.openxmlformats.org/officeDocument/2006/relationships/notesSlide" Target="/ppt/notesSlides/notesSlide1.xml" Id="Rdf0e344f557f46f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11930db636749ee" /><Relationship Type="http://schemas.openxmlformats.org/officeDocument/2006/relationships/notesSlide" Target="/ppt/notesSlides/notesSlide2.xml" Id="Rda576d638df94c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9e6bd51540d4d4e" /><Relationship Type="http://schemas.openxmlformats.org/officeDocument/2006/relationships/notesSlide" Target="/ppt/notesSlides/notesSlide3.xml" Id="Rd54d31b690c141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af99dc04c8e4e65" /><Relationship Type="http://schemas.openxmlformats.org/officeDocument/2006/relationships/notesSlide" Target="/ppt/notesSlides/notesSlide4.xml" Id="R4e169e55ac9544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3b4661878044b51" /><Relationship Type="http://schemas.openxmlformats.org/officeDocument/2006/relationships/notesSlide" Target="/ppt/notesSlides/notesSlide5.xml" Id="R82123b700be94c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107c062ddaa4930" /><Relationship Type="http://schemas.openxmlformats.org/officeDocument/2006/relationships/notesSlide" Target="/ppt/notesSlides/notesSlide6.xml" Id="R316d3a0b936745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4dee83867b54469" /><Relationship Type="http://schemas.openxmlformats.org/officeDocument/2006/relationships/notesSlide" Target="/ppt/notesSlides/notesSlide7.xml" Id="R3bd7874ecc0c494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1e0b6be3de848a7" /><Relationship Type="http://schemas.openxmlformats.org/officeDocument/2006/relationships/notesSlide" Target="/ppt/notesSlides/notesSlide8.xml" Id="Rc8c4a0ab7734407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b4ffb4ba5604641" /><Relationship Type="http://schemas.openxmlformats.org/officeDocument/2006/relationships/notesSlide" Target="/ppt/notesSlides/notesSlide9.xml" Id="R22c7870e0c954c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0fb303faa8a459e" /><Relationship Type="http://schemas.openxmlformats.org/officeDocument/2006/relationships/notesSlide" Target="/ppt/notesSlides/notesSlide10.xml" Id="R0709e9d0add5420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8bb77a4203b44c5" /><Relationship Type="http://schemas.openxmlformats.org/officeDocument/2006/relationships/notesSlide" Target="/ppt/notesSlides/notesSlide11.xml" Id="Rfb75838262ea4d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f400d2a6c354ec3" /><Relationship Type="http://schemas.openxmlformats.org/officeDocument/2006/relationships/notesSlide" Target="/ppt/notesSlides/notesSlide12.xml" Id="R22d5d0b8f65f44d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7b6bd3fe3594ba4" /><Relationship Type="http://schemas.openxmlformats.org/officeDocument/2006/relationships/notesSlide" Target="/ppt/notesSlides/notesSlide13.xml" Id="R52ecb3549afe47d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2d8d8b4bbc64682" /><Relationship Type="http://schemas.openxmlformats.org/officeDocument/2006/relationships/notesSlide" Target="/ppt/notesSlides/notesSlide14.xml" Id="R0723fcdcff494c9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e89fe3213584846" /><Relationship Type="http://schemas.openxmlformats.org/officeDocument/2006/relationships/notesSlide" Target="/ppt/notesSlides/notesSlide15.xml" Id="R738f9d7ae7d34e0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84fb6c272dc4b28" /><Relationship Type="http://schemas.openxmlformats.org/officeDocument/2006/relationships/notesSlide" Target="/ppt/notesSlides/notesSlide16.xml" Id="R780179a58e67487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c6c43109301422a" /><Relationship Type="http://schemas.openxmlformats.org/officeDocument/2006/relationships/notesSlide" Target="/ppt/notesSlides/notesSlide17.xml" Id="Rebb9aa519fde400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d4c7dc0177146fc" /><Relationship Type="http://schemas.openxmlformats.org/officeDocument/2006/relationships/notesSlide" Target="/ppt/notesSlides/notesSlide18.xml" Id="Rd05ea8aa49a149d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e28cd8efe384c5d" /><Relationship Type="http://schemas.openxmlformats.org/officeDocument/2006/relationships/notesSlide" Target="/ppt/notesSlides/notesSlide19.xml" Id="Rb99ae38256424a3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a48064d452e4933" /><Relationship Type="http://schemas.openxmlformats.org/officeDocument/2006/relationships/notesSlide" Target="/ppt/notesSlides/notesSlide20.xml" Id="Rb0110804b087450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4a715929db948e2" /><Relationship Type="http://schemas.openxmlformats.org/officeDocument/2006/relationships/notesSlide" Target="/ppt/notesSlides/notesSlide21.xml" Id="R08d9c0622b9845e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79cef39a0a74078" /><Relationship Type="http://schemas.openxmlformats.org/officeDocument/2006/relationships/notesSlide" Target="/ppt/notesSlides/notesSlide22.xml" Id="R7b799e2d47a44c9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aaf0dcd3ed44b9a" /><Relationship Type="http://schemas.openxmlformats.org/officeDocument/2006/relationships/notesSlide" Target="/ppt/notesSlides/notesSlide23.xml" Id="R9eb1499a2e6e4ef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a7c2725bc2948a5" /><Relationship Type="http://schemas.openxmlformats.org/officeDocument/2006/relationships/notesSlide" Target="/ppt/notesSlides/notesSlide24.xml" Id="Rdb763f0370a54a3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757196712554f5a" /><Relationship Type="http://schemas.openxmlformats.org/officeDocument/2006/relationships/notesSlide" Target="/ppt/notesSlides/notesSlide25.xml" Id="Re28c44e6827047e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2d3e5fd2073400e" /><Relationship Type="http://schemas.openxmlformats.org/officeDocument/2006/relationships/notesSlide" Target="/ppt/notesSlides/notesSlide26.xml" Id="Ra05c81d5d20c48b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e5b4e1a18c454e88" /><Relationship Type="http://schemas.openxmlformats.org/officeDocument/2006/relationships/notesSlide" Target="/ppt/notesSlides/notesSlide27.xml" Id="Ra5273178b16a422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e25f7f9f4a449c3" /><Relationship Type="http://schemas.openxmlformats.org/officeDocument/2006/relationships/notesSlide" Target="/ppt/notesSlides/notesSlide28.xml" Id="R11daa35156354a0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44969e8d8604260" /><Relationship Type="http://schemas.openxmlformats.org/officeDocument/2006/relationships/notesSlide" Target="/ppt/notesSlides/notesSlide29.xml" Id="Ra3d035c7bb9842d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ab8e303f120488a" /><Relationship Type="http://schemas.openxmlformats.org/officeDocument/2006/relationships/notesSlide" Target="/ppt/notesSlides/notesSlide30.xml" Id="R467eaf6e1b1047a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ccd57d6eab249ec" /><Relationship Type="http://schemas.openxmlformats.org/officeDocument/2006/relationships/notesSlide" Target="/ppt/notesSlides/notesSlide31.xml" Id="R7949a0d22a6e4c3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b4ca4a9c1fc24e03" /><Relationship Type="http://schemas.openxmlformats.org/officeDocument/2006/relationships/notesSlide" Target="/ppt/notesSlides/notesSlide32.xml" Id="R6eaf2fafb47e4d0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c35464164b7d47ef" /><Relationship Type="http://schemas.openxmlformats.org/officeDocument/2006/relationships/notesSlide" Target="/ppt/notesSlides/notesSlide33.xml" Id="Rfeb9b030c11d450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2a6a289643ab4bab" /><Relationship Type="http://schemas.openxmlformats.org/officeDocument/2006/relationships/notesSlide" Target="/ppt/notesSlides/notesSlide34.xml" Id="R2148eadc212245d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f18b60245d7c43c9" /><Relationship Type="http://schemas.openxmlformats.org/officeDocument/2006/relationships/notesSlide" Target="/ppt/notesSlides/notesSlide35.xml" Id="Rb1de14cd07ff4c6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db10680a10634419" /><Relationship Type="http://schemas.openxmlformats.org/officeDocument/2006/relationships/notesSlide" Target="/ppt/notesSlides/notesSlide36.xml" Id="R545398f377cf40d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cbe6e24f55464c67" /><Relationship Type="http://schemas.openxmlformats.org/officeDocument/2006/relationships/notesSlide" Target="/ppt/notesSlides/notesSlide37.xml" Id="R8f206879c97e4fb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345ddd9952394a1f" /><Relationship Type="http://schemas.openxmlformats.org/officeDocument/2006/relationships/notesSlide" Target="/ppt/notesSlides/notesSlide38.xml" Id="R0ed4abae36b64b7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a624e4f10e284f63" /><Relationship Type="http://schemas.openxmlformats.org/officeDocument/2006/relationships/notesSlide" Target="/ppt/notesSlides/notesSlide39.xml" Id="Rc983b5e363474da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b028689f9e6f43f3" /><Relationship Type="http://schemas.openxmlformats.org/officeDocument/2006/relationships/notesSlide" Target="/ppt/notesSlides/notesSlide40.xml" Id="Ra867cde8458e427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070279259fdc4adb" /><Relationship Type="http://schemas.openxmlformats.org/officeDocument/2006/relationships/notesSlide" Target="/ppt/notesSlides/notesSlide41.xml" Id="Ref960f53614d471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becabbd71bf348ba" /><Relationship Type="http://schemas.openxmlformats.org/officeDocument/2006/relationships/notesSlide" Target="/ppt/notesSlides/notesSlide42.xml" Id="Rf6f7e9e5417a4d9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fc70ac22d2bf4c35" /><Relationship Type="http://schemas.openxmlformats.org/officeDocument/2006/relationships/notesSlide" Target="/ppt/notesSlides/notesSlide43.xml" Id="R10534519257941bd"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f46a164daf7a4e8f" /><Relationship Type="http://schemas.openxmlformats.org/officeDocument/2006/relationships/notesSlide" Target="/ppt/notesSlides/notesSlide44.xml" Id="R50524f58a4e2436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e736461ccc2a4bb2" /><Relationship Type="http://schemas.openxmlformats.org/officeDocument/2006/relationships/notesSlide" Target="/ppt/notesSlides/notesSlide45.xml" Id="R748d747099144669"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32a6f78219254bc8" /><Relationship Type="http://schemas.openxmlformats.org/officeDocument/2006/relationships/notesSlide" Target="/ppt/notesSlides/notesSlide46.xml" Id="Rb16dbadb09444ae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9d9f7638547247a5" /><Relationship Type="http://schemas.openxmlformats.org/officeDocument/2006/relationships/notesSlide" Target="/ppt/notesSlides/notesSlide47.xml" Id="R0e74a1b8f052427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278ab687f2184c99" /><Relationship Type="http://schemas.openxmlformats.org/officeDocument/2006/relationships/notesSlide" Target="/ppt/notesSlides/notesSlide48.xml" Id="R260b1c87598c459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ea3d278b792249fe" /><Relationship Type="http://schemas.openxmlformats.org/officeDocument/2006/relationships/notesSlide" Target="/ppt/notesSlides/notesSlide49.xml" Id="Raf8e74cceb054383"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13d00d8775c343e4" /><Relationship Type="http://schemas.openxmlformats.org/officeDocument/2006/relationships/notesSlide" Target="/ppt/notesSlides/notesSlide50.xml" Id="R5165903e472443a4"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3c51203046bb4822" /><Relationship Type="http://schemas.openxmlformats.org/officeDocument/2006/relationships/notesSlide" Target="/ppt/notesSlides/notesSlide51.xml" Id="Rf0d8f0abbc2649b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ba81e6e6bdf4459b" /><Relationship Type="http://schemas.openxmlformats.org/officeDocument/2006/relationships/notesSlide" Target="/ppt/notesSlides/notesSlide52.xml" Id="R8b490df6597e426d"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5abfae38acde414f" /><Relationship Type="http://schemas.openxmlformats.org/officeDocument/2006/relationships/notesSlide" Target="/ppt/notesSlides/notesSlide53.xml" Id="Ra10e1cbaf1084162"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918cc2e3c0024861" /><Relationship Type="http://schemas.openxmlformats.org/officeDocument/2006/relationships/notesSlide" Target="/ppt/notesSlides/notesSlide54.xml" Id="Re1d00766b1414d35"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f8d3095c286e4617" /><Relationship Type="http://schemas.openxmlformats.org/officeDocument/2006/relationships/notesSlide" Target="/ppt/notesSlides/notesSlide55.xml" Id="R9d0f0ec1ff5143f2"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d7085bc7bdec4633" /><Relationship Type="http://schemas.openxmlformats.org/officeDocument/2006/relationships/notesSlide" Target="/ppt/notesSlides/notesSlide56.xml" Id="R002689b8117c49d3"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f032098e10974c2e" /><Relationship Type="http://schemas.openxmlformats.org/officeDocument/2006/relationships/notesSlide" Target="/ppt/notesSlides/notesSlide57.xml" Id="R90659823a4cf426d"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94ce4cad422d4154" /><Relationship Type="http://schemas.openxmlformats.org/officeDocument/2006/relationships/notesSlide" Target="/ppt/notesSlides/notesSlide58.xml" Id="R0b9ae9e54d4446b6"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3b376e041f2f43e8" /><Relationship Type="http://schemas.openxmlformats.org/officeDocument/2006/relationships/notesSlide" Target="/ppt/notesSlides/notesSlide59.xml" Id="R241b6f89eba948b5"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fc5a3bc181d1412a" /><Relationship Type="http://schemas.openxmlformats.org/officeDocument/2006/relationships/notesSlide" Target="/ppt/notesSlides/notesSlide60.xml" Id="R318531cffb174433"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7dbf87e424eb4293" /><Relationship Type="http://schemas.openxmlformats.org/officeDocument/2006/relationships/notesSlide" Target="/ppt/notesSlides/notesSlide61.xml" Id="R939ba111d70b42b2"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b47c2a83a17043ae" /><Relationship Type="http://schemas.openxmlformats.org/officeDocument/2006/relationships/notesSlide" Target="/ppt/notesSlides/notesSlide62.xml" Id="Rc4e9a9d2e9c446d1"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365feebf0dec443c" /><Relationship Type="http://schemas.openxmlformats.org/officeDocument/2006/relationships/notesSlide" Target="/ppt/notesSlides/notesSlide63.xml" Id="Ra145e14dbc3c4847"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00f132657ecb456d" /><Relationship Type="http://schemas.openxmlformats.org/officeDocument/2006/relationships/notesSlide" Target="/ppt/notesSlides/notesSlide64.xml" Id="R9de98396dbb344eb"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557a3bb176014ddc" /><Relationship Type="http://schemas.openxmlformats.org/officeDocument/2006/relationships/notesSlide" Target="/ppt/notesSlides/notesSlide65.xml" Id="R527705d89c32458f"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ad1a647887ea46db" /><Relationship Type="http://schemas.openxmlformats.org/officeDocument/2006/relationships/notesSlide" Target="/ppt/notesSlides/notesSlide66.xml" Id="Rd0b9c69198194320" /></Relationships>
</file>

<file path=ppt/slides/slide1.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191B6C7-2770-4FF2-BAB1-3CCDDBD36ABC}"/>
              </a:ext>
            </a:extLst>
          </p:cNvPr>
          <p:cNvSpPr>
            <a:spLocks xmlns:a="http://schemas.openxmlformats.org/drawingml/2006/main" noGrp="1"/>
          </p:cNvSpPr>
          <p:nvPr/>
        </p:nvSpPr>
        <p:spPr>
          <a:xfrm xmlns:a="http://schemas.openxmlformats.org/drawingml/2006/main">
            <a:off x="685800" y="1571625"/>
            <a:ext cx="10382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800" b="1">
                <a:solidFill>
                  <a:srgbClr val="182E30"/>
                </a:solidFill>
                <a:latin typeface="Arial"/>
                <a:ea typeface="Arial"/>
                <a:cs typeface="Arial"/>
              </a:defRPr>
            </a:defPPr>
          </a:lstStyle>
          <a:p xmlns:a="http://schemas.openxmlformats.org/drawingml/2006/main">
            <a:pPr>
              <a:defRPr sz="4800" b="1">
                <a:solidFill>
                  <a:srgbClr val="182E30"/>
                </a:solidFill>
                <a:latin typeface="Arial"/>
                <a:ea typeface="Arial"/>
                <a:cs typeface="Arial"/>
              </a:defRPr>
            </a:pPr>
            <a:r>
              <a:rPr sz="4800" b="1">
                <a:solidFill>
                  <a:srgbClr val="182E30"/>
                </a:solidFill>
                <a:latin typeface="Arial"/>
                <a:ea typeface="Arial"/>
                <a:cs typeface="Arial"/>
              </a:rPr>
              <a:t>Защита сетевого калькулятора</a:t>
            </a:r>
          </a:p>
        </p:txBody>
      </p:sp>
      <p:sp>
        <p:nvSpPr>
          <p:cNvPr id="2" name="">
            <a:extLst xmlns:a="http://schemas.openxmlformats.org/drawingml/2006/main">
              <a:ext uri="{FF2B5EF4-FFF2-40B4-BE49-F238E27FC236}">
                <a16:creationId xmlns:a16="http://schemas.microsoft.com/office/drawing/2014/main" id="{B9142688-AB93-4725-8C93-F730D8BEBBC1}"/>
              </a:ext>
            </a:extLst>
          </p:cNvPr>
          <p:cNvSpPr>
            <a:spLocks xmlns:a="http://schemas.openxmlformats.org/drawingml/2006/main" noGrp="1"/>
          </p:cNvSpPr>
          <p:nvPr/>
        </p:nvSpPr>
        <p:spPr>
          <a:xfrm xmlns:a="http://schemas.openxmlformats.org/drawingml/2006/main">
            <a:off x="723900" y="3857625"/>
            <a:ext cx="1028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82E30"/>
                </a:solidFill>
                <a:latin typeface="Arial"/>
                <a:ea typeface="Arial"/>
                <a:cs typeface="Arial"/>
              </a:defRPr>
            </a:defPPr>
          </a:lstStyle>
          <a:p xmlns:a="http://schemas.openxmlformats.org/drawingml/2006/main">
            <a:pPr>
              <a:defRPr sz="2400" b="0">
                <a:solidFill>
                  <a:srgbClr val="182E30"/>
                </a:solidFill>
                <a:latin typeface="Arial"/>
                <a:ea typeface="Arial"/>
                <a:cs typeface="Arial"/>
              </a:defRPr>
            </a:pPr>
            <a:r>
              <a:rPr sz="2400" b="0">
                <a:solidFill>
                  <a:srgbClr val="182E30"/>
                </a:solidFill>
                <a:latin typeface="Arial"/>
                <a:ea typeface="Arial"/>
                <a:cs typeface="Arial"/>
              </a:rPr>
              <a:t>TCP, сокеты, poll и C++</a:t>
            </a:r>
          </a:p>
          <a:p xmlns:a="http://schemas.openxmlformats.org/drawingml/2006/main">
            <a:pPr>
              <a:defRPr sz="2400" b="0">
                <a:solidFill>
                  <a:srgbClr val="182E30"/>
                </a:solidFill>
                <a:latin typeface="Arial"/>
                <a:ea typeface="Arial"/>
                <a:cs typeface="Arial"/>
              </a:defRPr>
            </a:pPr>
            <a:r>
              <a:rPr sz="2400" b="0">
                <a:solidFill>
                  <a:srgbClr val="182E30"/>
                </a:solidFill>
                <a:latin typeface="Arial"/>
                <a:ea typeface="Arial"/>
                <a:cs typeface="Arial"/>
              </a:rPr>
              <a:t>Теория на конкретных строках присланной работы</a:t>
            </a:r>
          </a:p>
        </p:txBody>
      </p:sp>
      <p:sp>
        <p:nvSpPr>
          <p:cNvPr id="3" name="">
            <a:extLst xmlns:a="http://schemas.openxmlformats.org/drawingml/2006/main">
              <a:ext uri="{FF2B5EF4-FFF2-40B4-BE49-F238E27FC236}">
                <a16:creationId xmlns:a16="http://schemas.microsoft.com/office/drawing/2014/main" id="{A75390C6-B2D0-4811-9215-4CA529E79953}"/>
              </a:ext>
            </a:extLst>
          </p:cNvPr>
          <p:cNvSpPr>
            <a:spLocks xmlns:a="http://schemas.openxmlformats.org/drawingml/2006/main" noGrp="1"/>
          </p:cNvSpPr>
          <p:nvPr/>
        </p:nvSpPr>
        <p:spPr>
          <a:xfrm xmlns:a="http://schemas.openxmlformats.org/drawingml/2006/main">
            <a:off x="723900" y="5953125"/>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06667"/>
                </a:solidFill>
                <a:latin typeface="Arial"/>
                <a:ea typeface="Arial"/>
                <a:cs typeface="Arial"/>
              </a:defRPr>
            </a:defPPr>
          </a:lstStyle>
          <a:p xmlns:a="http://schemas.openxmlformats.org/drawingml/2006/main">
            <a:pPr>
              <a:defRPr sz="1500" b="0">
                <a:solidFill>
                  <a:srgbClr val="506667"/>
                </a:solidFill>
                <a:latin typeface="Arial"/>
                <a:ea typeface="Arial"/>
                <a:cs typeface="Arial"/>
              </a:defRPr>
            </a:pPr>
            <a:r>
              <a:rPr sz="1500" b="0">
                <a:solidFill>
                  <a:srgbClr val="506667"/>
                </a:solidFill>
                <a:latin typeface="Arial"/>
                <a:ea typeface="Arial"/>
                <a:cs typeface="Arial"/>
              </a:rPr>
              <a:t>Алексей · подготовка к 2 октября</a:t>
            </a:r>
          </a:p>
        </p:txBody>
      </p:sp>
    </p:spTree>
    <p:extLst>
      <p:ext uri="{BB962C8B-B14F-4D97-AF65-F5344CB8AC3E}">
        <p14:creationId xmlns:p14="http://schemas.microsoft.com/office/powerpoint/2010/main" val="1780337692"/>
      </p:ext>
    </p:extLst>
  </p:cSld>
</p:sld>
</file>

<file path=ppt/slides/slide2.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A50E3CE-F7BD-4B7A-B915-9BCA13951DDD}"/>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Как строить ответ на защите</a:t>
            </a:r>
          </a:p>
        </p:txBody>
      </p:sp>
      <p:sp>
        <p:nvSpPr>
          <p:cNvPr id="2" name="">
            <a:extLst xmlns:a="http://schemas.openxmlformats.org/drawingml/2006/main">
              <a:ext uri="{FF2B5EF4-FFF2-40B4-BE49-F238E27FC236}">
                <a16:creationId xmlns:a16="http://schemas.microsoft.com/office/drawing/2014/main" id="{8C180FE9-224D-4508-BF3D-DC5A75F7FED0}"/>
              </a:ext>
            </a:extLst>
          </p:cNvPr>
          <p:cNvSpPr>
            <a:spLocks xmlns:a="http://schemas.openxmlformats.org/drawingml/2006/main" noGrp="1"/>
          </p:cNvSpPr>
          <p:nvPr/>
        </p:nvSpPr>
        <p:spPr>
          <a:xfrm xmlns:a="http://schemas.openxmlformats.org/drawingml/2006/main">
            <a:off x="723900" y="18192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E30"/>
                </a:solidFill>
                <a:latin typeface="Arial"/>
                <a:ea typeface="Arial"/>
                <a:cs typeface="Arial"/>
              </a:defRPr>
            </a:defPPr>
          </a:lstStyle>
          <a:p xmlns:a="http://schemas.openxmlformats.org/drawingml/2006/main">
            <a:pPr>
              <a:defRPr sz="2175" b="0">
                <a:solidFill>
                  <a:srgbClr val="182E30"/>
                </a:solidFill>
                <a:latin typeface="Arial"/>
                <a:ea typeface="Arial"/>
                <a:cs typeface="Arial"/>
              </a:defRPr>
            </a:pPr>
            <a:r>
              <a:rPr sz="2175" b="0">
                <a:solidFill>
                  <a:srgbClr val="182E30"/>
                </a:solidFill>
                <a:latin typeface="Arial"/>
                <a:ea typeface="Arial"/>
                <a:cs typeface="Arial"/>
              </a:rPr>
              <a:t>Термин, место в коде, пример и ограничение - каркас устного ответа.</a:t>
            </a:r>
          </a:p>
        </p:txBody>
      </p:sp>
      <p:sp>
        <p:nvSpPr>
          <p:cNvPr id="3" name="">
            <a:extLst xmlns:a="http://schemas.openxmlformats.org/drawingml/2006/main">
              <a:ext uri="{FF2B5EF4-FFF2-40B4-BE49-F238E27FC236}">
                <a16:creationId xmlns:a16="http://schemas.microsoft.com/office/drawing/2014/main" id="{77D5F8C4-5B5A-4166-A8E3-59DFAE21DEB5}"/>
              </a:ext>
            </a:extLst>
          </p:cNvPr>
          <p:cNvSpPr>
            <a:spLocks xmlns:a="http://schemas.openxmlformats.org/drawingml/2006/main" noGrp="1"/>
          </p:cNvSpPr>
          <p:nvPr/>
        </p:nvSpPr>
        <p:spPr>
          <a:xfrm xmlns:a="http://schemas.openxmlformats.org/drawingml/2006/main">
            <a:off x="723900" y="27908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E30"/>
                </a:solidFill>
                <a:latin typeface="Arial"/>
                <a:ea typeface="Arial"/>
                <a:cs typeface="Arial"/>
              </a:defRPr>
            </a:defPPr>
          </a:lstStyle>
          <a:p xmlns:a="http://schemas.openxmlformats.org/drawingml/2006/main">
            <a:pPr>
              <a:defRPr sz="2175" b="0">
                <a:solidFill>
                  <a:srgbClr val="182E30"/>
                </a:solidFill>
                <a:latin typeface="Arial"/>
                <a:ea typeface="Arial"/>
                <a:cs typeface="Arial"/>
              </a:defRPr>
            </a:pPr>
            <a:r>
              <a:rPr sz="2175" b="0">
                <a:solidFill>
                  <a:srgbClr val="182E30"/>
                </a:solidFill>
                <a:latin typeface="Arial"/>
                <a:ea typeface="Arial"/>
                <a:cs typeface="Arial"/>
              </a:rPr>
              <a:t>В исходнике подтвержден выход за границы _poll_fds после accept. Разбор: слайд 55.</a:t>
            </a:r>
          </a:p>
        </p:txBody>
      </p:sp>
      <p:sp>
        <p:nvSpPr>
          <p:cNvPr id="4" name="">
            <a:extLst xmlns:a="http://schemas.openxmlformats.org/drawingml/2006/main">
              <a:ext uri="{FF2B5EF4-FFF2-40B4-BE49-F238E27FC236}">
                <a16:creationId xmlns:a16="http://schemas.microsoft.com/office/drawing/2014/main" id="{2FC729E0-0A31-4291-9845-35C609E0974F}"/>
              </a:ext>
            </a:extLst>
          </p:cNvPr>
          <p:cNvSpPr>
            <a:spLocks xmlns:a="http://schemas.openxmlformats.org/drawingml/2006/main" noGrp="1"/>
          </p:cNvSpPr>
          <p:nvPr/>
        </p:nvSpPr>
        <p:spPr>
          <a:xfrm xmlns:a="http://schemas.openxmlformats.org/drawingml/2006/main">
            <a:off x="723900" y="3762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E30"/>
                </a:solidFill>
                <a:latin typeface="Arial"/>
                <a:ea typeface="Arial"/>
                <a:cs typeface="Arial"/>
              </a:defRPr>
            </a:defPPr>
          </a:lstStyle>
          <a:p xmlns:a="http://schemas.openxmlformats.org/drawingml/2006/main">
            <a:pPr>
              <a:defRPr sz="2175" b="0">
                <a:solidFill>
                  <a:srgbClr val="182E30"/>
                </a:solidFill>
                <a:latin typeface="Arial"/>
                <a:ea typeface="Arial"/>
                <a:cs typeface="Arial"/>
              </a:defRPr>
            </a:pPr>
            <a:r>
              <a:rPr sz="2175" b="0">
                <a:solidFill>
                  <a:srgbClr val="182E30"/>
                </a:solidFill>
                <a:latin typeface="Arial"/>
                <a:ea typeface="Arial"/>
                <a:cs typeface="Arial"/>
              </a:rPr>
              <a:t>До живой демонстрации нужна исправленная и проверенная версия. Исходный архив сохранен без изменений.</a:t>
            </a:r>
          </a:p>
        </p:txBody>
      </p:sp>
      <p:sp>
        <p:nvSpPr>
          <p:cNvPr id="5" name="">
            <a:extLst xmlns:a="http://schemas.openxmlformats.org/drawingml/2006/main">
              <a:ext uri="{FF2B5EF4-FFF2-40B4-BE49-F238E27FC236}">
                <a16:creationId xmlns:a16="http://schemas.microsoft.com/office/drawing/2014/main" id="{9DDEAD0C-C147-4F00-9BF7-DBA4E244D00C}"/>
              </a:ext>
            </a:extLst>
          </p:cNvPr>
          <p:cNvSpPr>
            <a:spLocks xmlns:a="http://schemas.openxmlformats.org/drawingml/2006/main" noGrp="1"/>
          </p:cNvSpPr>
          <p:nvPr/>
        </p:nvSpPr>
        <p:spPr>
          <a:xfrm xmlns:a="http://schemas.openxmlformats.org/drawingml/2006/main">
            <a:off x="723900" y="47339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E30"/>
                </a:solidFill>
                <a:latin typeface="Arial"/>
                <a:ea typeface="Arial"/>
                <a:cs typeface="Arial"/>
              </a:defRPr>
            </a:defPPr>
          </a:lstStyle>
          <a:p xmlns:a="http://schemas.openxmlformats.org/drawingml/2006/main">
            <a:pPr>
              <a:defRPr sz="2175" b="0">
                <a:solidFill>
                  <a:srgbClr val="182E30"/>
                </a:solidFill>
                <a:latin typeface="Arial"/>
                <a:ea typeface="Arial"/>
                <a:cs typeface="Arial"/>
              </a:defRPr>
            </a:pPr>
            <a:r>
              <a:rPr sz="2175" b="0">
                <a:solidFill>
                  <a:srgbClr val="182E30"/>
                </a:solidFill>
                <a:latin typeface="Arial"/>
                <a:ea typeface="Arial"/>
                <a:cs typeface="Arial"/>
              </a:rPr>
              <a:t>Материал объясняет замысел программы и отдельно отмечает фактические дефекты.</a:t>
            </a:r>
          </a:p>
        </p:txBody>
      </p:sp>
      <p:sp>
        <p:nvSpPr>
          <p:cNvPr id="6" name="">
            <a:extLst xmlns:a="http://schemas.openxmlformats.org/drawingml/2006/main">
              <a:ext uri="{FF2B5EF4-FFF2-40B4-BE49-F238E27FC236}">
                <a16:creationId xmlns:a16="http://schemas.microsoft.com/office/drawing/2014/main" id="{B527A1AA-DCD5-4109-B7CA-49B779378608}"/>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Порядок объяснения</a:t>
            </a:r>
          </a:p>
        </p:txBody>
      </p:sp>
      <p:sp>
        <p:nvSpPr>
          <p:cNvPr id="7" name="">
            <a:extLst xmlns:a="http://schemas.openxmlformats.org/drawingml/2006/main">
              <a:ext uri="{FF2B5EF4-FFF2-40B4-BE49-F238E27FC236}">
                <a16:creationId xmlns:a16="http://schemas.microsoft.com/office/drawing/2014/main" id="{333FF517-0B51-42A5-A578-29AFDEB3B23C}"/>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02 / 66</a:t>
            </a:r>
          </a:p>
        </p:txBody>
      </p:sp>
    </p:spTree>
    <p:extLst>
      <p:ext uri="{BB962C8B-B14F-4D97-AF65-F5344CB8AC3E}">
        <p14:creationId xmlns:p14="http://schemas.microsoft.com/office/powerpoint/2010/main" val="1029103748"/>
      </p:ext>
    </p:extLst>
  </p:cSld>
</p:sld>
</file>

<file path=ppt/slides/slide3.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8A3CCDB-CE2F-424B-860B-AB0F37A6F8F3}"/>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Устройство сетевого калькулятора</a:t>
            </a:r>
          </a:p>
        </p:txBody>
      </p:sp>
      <p:sp>
        <p:nvSpPr>
          <p:cNvPr id="2" name="">
            <a:extLst xmlns:a="http://schemas.openxmlformats.org/drawingml/2006/main">
              <a:ext uri="{FF2B5EF4-FFF2-40B4-BE49-F238E27FC236}">
                <a16:creationId xmlns:a16="http://schemas.microsoft.com/office/drawing/2014/main" id="{D970835F-8B5A-4843-8750-1ABEE0F02353}"/>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Какую задачу решает вся программа?</a:t>
            </a:r>
          </a:p>
        </p:txBody>
      </p:sp>
      <p:sp>
        <p:nvSpPr>
          <p:cNvPr id="3" name="">
            <a:extLst xmlns:a="http://schemas.openxmlformats.org/drawingml/2006/main">
              <a:ext uri="{FF2B5EF4-FFF2-40B4-BE49-F238E27FC236}">
                <a16:creationId xmlns:a16="http://schemas.microsoft.com/office/drawing/2014/main" id="{7074CF23-A3D5-4C05-ADA2-CDEACFB3B6A7}"/>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Клиенты отправляют выражения, сервер вычисляет их и хранит X, Y, Z по имени пользователя.</a:t>
            </a:r>
          </a:p>
        </p:txBody>
      </p:sp>
      <p:sp>
        <p:nvSpPr>
          <p:cNvPr id="4" name="">
            <a:extLst xmlns:a="http://schemas.openxmlformats.org/drawingml/2006/main">
              <a:ext uri="{FF2B5EF4-FFF2-40B4-BE49-F238E27FC236}">
                <a16:creationId xmlns:a16="http://schemas.microsoft.com/office/drawing/2014/main" id="{0B89913A-894B-4235-8587-DD5ED3179617}"/>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259  std::string result = _model.execute(client.user,</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command);</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260  client.output += protocol::response("OK", result)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a:t>
            </a:r>
          </a:p>
        </p:txBody>
      </p:sp>
      <p:sp>
        <p:nvSpPr>
          <p:cNvPr id="5" name="">
            <a:extLst xmlns:a="http://schemas.openxmlformats.org/drawingml/2006/main">
              <a:ext uri="{FF2B5EF4-FFF2-40B4-BE49-F238E27FC236}">
                <a16:creationId xmlns:a16="http://schemas.microsoft.com/office/drawing/2014/main" id="{07A321B3-BB07-4AB9-8D16-137C3444C645}"/>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src/server/poll_server.cpp:259,260</a:t>
            </a:r>
          </a:p>
        </p:txBody>
      </p:sp>
      <p:sp>
        <p:nvSpPr>
          <p:cNvPr id="6" name="">
            <a:extLst xmlns:a="http://schemas.openxmlformats.org/drawingml/2006/main">
              <a:ext uri="{FF2B5EF4-FFF2-40B4-BE49-F238E27FC236}">
                <a16:creationId xmlns:a16="http://schemas.microsoft.com/office/drawing/2014/main" id="{501F6972-409A-464E-B81C-3C907BB04854}"/>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Почему выделены common, model, server и client?</a:t>
            </a:r>
          </a:p>
        </p:txBody>
      </p:sp>
      <p:sp>
        <p:nvSpPr>
          <p:cNvPr id="7" name="">
            <a:extLst xmlns:a="http://schemas.openxmlformats.org/drawingml/2006/main">
              <a:ext uri="{FF2B5EF4-FFF2-40B4-BE49-F238E27FC236}">
                <a16:creationId xmlns:a16="http://schemas.microsoft.com/office/drawing/2014/main" id="{619020B1-DB29-4B07-8C9C-9340D4EFAD76}"/>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У частей разные обязанности, поэтому их проще объяснять, проверять и изменять.</a:t>
            </a:r>
          </a:p>
        </p:txBody>
      </p:sp>
      <p:sp>
        <p:nvSpPr>
          <p:cNvPr id="8" name="">
            <a:extLst xmlns:a="http://schemas.openxmlformats.org/drawingml/2006/main">
              <a:ext uri="{FF2B5EF4-FFF2-40B4-BE49-F238E27FC236}">
                <a16:creationId xmlns:a16="http://schemas.microsoft.com/office/drawing/2014/main" id="{70BC3D82-E32A-4246-9338-F67F295E6A91}"/>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12  add_library(calc_common</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13  src/common/protocol.cpp</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14  src/model/calculator.cpp</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15  )</a:t>
            </a:r>
          </a:p>
        </p:txBody>
      </p:sp>
      <p:sp>
        <p:nvSpPr>
          <p:cNvPr id="9" name="">
            <a:extLst xmlns:a="http://schemas.openxmlformats.org/drawingml/2006/main">
              <a:ext uri="{FF2B5EF4-FFF2-40B4-BE49-F238E27FC236}">
                <a16:creationId xmlns:a16="http://schemas.microsoft.com/office/drawing/2014/main" id="{013509A2-8AEF-4BC1-8ED5-90E427B028DE}"/>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CMakeLists.txt:12,13,14,15</a:t>
            </a:r>
          </a:p>
        </p:txBody>
      </p:sp>
      <p:sp>
        <p:nvSpPr>
          <p:cNvPr id="10" name="">
            <a:extLst xmlns:a="http://schemas.openxmlformats.org/drawingml/2006/main">
              <a:ext uri="{FF2B5EF4-FFF2-40B4-BE49-F238E27FC236}">
                <a16:creationId xmlns:a16="http://schemas.microsoft.com/office/drawing/2014/main" id="{907B5C74-7772-48D5-99ED-93665DAB695A}"/>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Проследи команду X = 2 + 3 * 4 от ввода до ответа.</a:t>
            </a:r>
          </a:p>
        </p:txBody>
      </p:sp>
      <p:sp>
        <p:nvSpPr>
          <p:cNvPr id="11" name="">
            <a:extLst xmlns:a="http://schemas.openxmlformats.org/drawingml/2006/main">
              <a:ext uri="{FF2B5EF4-FFF2-40B4-BE49-F238E27FC236}">
                <a16:creationId xmlns:a16="http://schemas.microsoft.com/office/drawing/2014/main" id="{A6BB62F2-BAA1-4990-97BC-2EB787795C58}"/>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Устройство программы</a:t>
            </a:r>
          </a:p>
        </p:txBody>
      </p:sp>
      <p:sp>
        <p:nvSpPr>
          <p:cNvPr id="12" name="">
            <a:extLst xmlns:a="http://schemas.openxmlformats.org/drawingml/2006/main">
              <a:ext uri="{FF2B5EF4-FFF2-40B4-BE49-F238E27FC236}">
                <a16:creationId xmlns:a16="http://schemas.microsoft.com/office/drawing/2014/main" id="{E98500EB-58E9-4454-91E0-5F8C2F952F96}"/>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03 / 66</a:t>
            </a:r>
          </a:p>
        </p:txBody>
      </p:sp>
    </p:spTree>
    <p:extLst>
      <p:ext uri="{BB962C8B-B14F-4D97-AF65-F5344CB8AC3E}">
        <p14:creationId xmlns:p14="http://schemas.microsoft.com/office/powerpoint/2010/main" val="676926973"/>
      </p:ext>
    </p:extLst>
  </p:cSld>
</p:sld>
</file>

<file path=ppt/slides/slide4.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10807D5-D380-4CED-B2F9-2CB742489974}"/>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Один поток и несколько клиентов</a:t>
            </a:r>
          </a:p>
        </p:txBody>
      </p:sp>
      <p:sp>
        <p:nvSpPr>
          <p:cNvPr id="2" name="">
            <a:extLst xmlns:a="http://schemas.openxmlformats.org/drawingml/2006/main">
              <a:ext uri="{FF2B5EF4-FFF2-40B4-BE49-F238E27FC236}">
                <a16:creationId xmlns:a16="http://schemas.microsoft.com/office/drawing/2014/main" id="{DAE40389-5ED2-46F6-88AB-E79C23C381E9}"/>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Сколько потоков обслуживает клиентов внутри сервера?</a:t>
            </a:r>
          </a:p>
        </p:txBody>
      </p:sp>
      <p:sp>
        <p:nvSpPr>
          <p:cNvPr id="3" name="">
            <a:extLst xmlns:a="http://schemas.openxmlformats.org/drawingml/2006/main">
              <a:ext uri="{FF2B5EF4-FFF2-40B4-BE49-F238E27FC236}">
                <a16:creationId xmlns:a16="http://schemas.microsoft.com/office/drawing/2014/main" id="{85B9CEE9-2CEA-4402-B047-D0BD92873BB0}"/>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Один поток в одном серверном процессе.</a:t>
            </a:r>
          </a:p>
        </p:txBody>
      </p:sp>
      <p:sp>
        <p:nvSpPr>
          <p:cNvPr id="4" name="">
            <a:extLst xmlns:a="http://schemas.openxmlformats.org/drawingml/2006/main">
              <a:ext uri="{FF2B5EF4-FFF2-40B4-BE49-F238E27FC236}">
                <a16:creationId xmlns:a16="http://schemas.microsoft.com/office/drawing/2014/main" id="{2EB460CE-5259-409B-B693-B021E9BE0A97}"/>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84  int ready = poll(_poll_fds.data(), _poll_fds.size(</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 -1);</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85  if (ready &lt; 0) {</a:t>
            </a:r>
          </a:p>
        </p:txBody>
      </p:sp>
      <p:sp>
        <p:nvSpPr>
          <p:cNvPr id="5" name="">
            <a:extLst xmlns:a="http://schemas.openxmlformats.org/drawingml/2006/main">
              <a:ext uri="{FF2B5EF4-FFF2-40B4-BE49-F238E27FC236}">
                <a16:creationId xmlns:a16="http://schemas.microsoft.com/office/drawing/2014/main" id="{6128BFA0-5985-418A-8722-3E61FA181287}"/>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src/server/poll_server.cpp:84,85</a:t>
            </a:r>
          </a:p>
        </p:txBody>
      </p:sp>
      <p:sp>
        <p:nvSpPr>
          <p:cNvPr id="6" name="">
            <a:extLst xmlns:a="http://schemas.openxmlformats.org/drawingml/2006/main">
              <a:ext uri="{FF2B5EF4-FFF2-40B4-BE49-F238E27FC236}">
                <a16:creationId xmlns:a16="http://schemas.microsoft.com/office/drawing/2014/main" id="{0BA38FA9-EC78-4659-AB09-E486F0C8B17E}"/>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Чем конкурентность здесь отличается от параллелизма?</a:t>
            </a:r>
          </a:p>
        </p:txBody>
      </p:sp>
      <p:sp>
        <p:nvSpPr>
          <p:cNvPr id="7" name="">
            <a:extLst xmlns:a="http://schemas.openxmlformats.org/drawingml/2006/main">
              <a:ext uri="{FF2B5EF4-FFF2-40B4-BE49-F238E27FC236}">
                <a16:creationId xmlns:a16="http://schemas.microsoft.com/office/drawing/2014/main" id="{4F58C84D-8726-45B0-A544-ECB6171834FC}"/>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Сервер продвигает несколько соединений по очереди, не исполняя их обработчики одновременно.</a:t>
            </a:r>
          </a:p>
        </p:txBody>
      </p:sp>
      <p:sp>
        <p:nvSpPr>
          <p:cNvPr id="8" name="">
            <a:extLst xmlns:a="http://schemas.openxmlformats.org/drawingml/2006/main">
              <a:ext uri="{FF2B5EF4-FFF2-40B4-BE49-F238E27FC236}">
                <a16:creationId xmlns:a16="http://schemas.microsoft.com/office/drawing/2014/main" id="{898B22CC-AC76-4C7E-90DB-67D790E11F97}"/>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104  read_client(index);</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105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106  if (index &lt; _clients.size() &amp;&amp; (events &amp; POLLOUT)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107  write_client(index);</a:t>
            </a:r>
          </a:p>
        </p:txBody>
      </p:sp>
      <p:sp>
        <p:nvSpPr>
          <p:cNvPr id="9" name="">
            <a:extLst xmlns:a="http://schemas.openxmlformats.org/drawingml/2006/main">
              <a:ext uri="{FF2B5EF4-FFF2-40B4-BE49-F238E27FC236}">
                <a16:creationId xmlns:a16="http://schemas.microsoft.com/office/drawing/2014/main" id="{54BB27CE-E20D-45F1-8230-B1BCB49F33D3}"/>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src/server/poll_server.cpp:104,105,106,107</a:t>
            </a:r>
          </a:p>
        </p:txBody>
      </p:sp>
      <p:sp>
        <p:nvSpPr>
          <p:cNvPr id="10" name="">
            <a:extLst xmlns:a="http://schemas.openxmlformats.org/drawingml/2006/main">
              <a:ext uri="{FF2B5EF4-FFF2-40B4-BE49-F238E27FC236}">
                <a16:creationId xmlns:a16="http://schemas.microsoft.com/office/drawing/2014/main" id="{8A7469A4-5022-45CA-905E-454FD3E13520}"/>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Как сервер обслуживает десять клиентов одним потоком?</a:t>
            </a:r>
          </a:p>
        </p:txBody>
      </p:sp>
      <p:sp>
        <p:nvSpPr>
          <p:cNvPr id="11" name="">
            <a:extLst xmlns:a="http://schemas.openxmlformats.org/drawingml/2006/main">
              <a:ext uri="{FF2B5EF4-FFF2-40B4-BE49-F238E27FC236}">
                <a16:creationId xmlns:a16="http://schemas.microsoft.com/office/drawing/2014/main" id="{4FE4F2B4-DA7E-4F6E-8573-B48DB9848925}"/>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Устройство программы</a:t>
            </a:r>
          </a:p>
        </p:txBody>
      </p:sp>
      <p:sp>
        <p:nvSpPr>
          <p:cNvPr id="12" name="">
            <a:extLst xmlns:a="http://schemas.openxmlformats.org/drawingml/2006/main">
              <a:ext uri="{FF2B5EF4-FFF2-40B4-BE49-F238E27FC236}">
                <a16:creationId xmlns:a16="http://schemas.microsoft.com/office/drawing/2014/main" id="{74D7639A-F109-4663-9786-DA2F2009BCAA}"/>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04 / 66</a:t>
            </a:r>
          </a:p>
        </p:txBody>
      </p:sp>
    </p:spTree>
    <p:extLst>
      <p:ext uri="{BB962C8B-B14F-4D97-AF65-F5344CB8AC3E}">
        <p14:creationId xmlns:p14="http://schemas.microsoft.com/office/powerpoint/2010/main" val="61680429"/>
      </p:ext>
    </p:extLst>
  </p:cSld>
</p:sld>
</file>

<file path=ppt/slides/slide5.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7575FAC-F976-45BF-A120-C215BC4F6638}"/>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Модель и служебный запрос PERF</a:t>
            </a:r>
          </a:p>
        </p:txBody>
      </p:sp>
      <p:sp>
        <p:nvSpPr>
          <p:cNvPr id="2" name="">
            <a:extLst xmlns:a="http://schemas.openxmlformats.org/drawingml/2006/main">
              <a:ext uri="{FF2B5EF4-FFF2-40B4-BE49-F238E27FC236}">
                <a16:creationId xmlns:a16="http://schemas.microsoft.com/office/drawing/2014/main" id="{7437789F-1368-4B47-8B6C-68BA5099C274}"/>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Почему модель не использует мьютекс?</a:t>
            </a:r>
          </a:p>
        </p:txBody>
      </p:sp>
      <p:sp>
        <p:nvSpPr>
          <p:cNvPr id="3" name="">
            <a:extLst xmlns:a="http://schemas.openxmlformats.org/drawingml/2006/main">
              <a:ext uri="{FF2B5EF4-FFF2-40B4-BE49-F238E27FC236}">
                <a16:creationId xmlns:a16="http://schemas.microsoft.com/office/drawing/2014/main" id="{378320E4-D61E-450D-9AC6-A2ED6E504C25}"/>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Доступ к модели из этого сервера выполняется одним потоком.</a:t>
            </a:r>
          </a:p>
        </p:txBody>
      </p:sp>
      <p:sp>
        <p:nvSpPr>
          <p:cNvPr id="4" name="">
            <a:extLst xmlns:a="http://schemas.openxmlformats.org/drawingml/2006/main">
              <a:ext uri="{FF2B5EF4-FFF2-40B4-BE49-F238E27FC236}">
                <a16:creationId xmlns:a16="http://schemas.microsoft.com/office/drawing/2014/main" id="{28B28993-C408-4002-A824-DC43EF60CED6}"/>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229  Variables&amp; current = _vars[user];</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230  std::string text = protocol::trim(command);</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231  if (text.empty()) {</a:t>
            </a:r>
          </a:p>
        </p:txBody>
      </p:sp>
      <p:sp>
        <p:nvSpPr>
          <p:cNvPr id="5" name="">
            <a:extLst xmlns:a="http://schemas.openxmlformats.org/drawingml/2006/main">
              <a:ext uri="{FF2B5EF4-FFF2-40B4-BE49-F238E27FC236}">
                <a16:creationId xmlns:a16="http://schemas.microsoft.com/office/drawing/2014/main" id="{F1C9C615-6610-45F3-BE81-F6D0AE1A7D79}"/>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src/model/calculator.cpp:229,230,231</a:t>
            </a:r>
          </a:p>
        </p:txBody>
      </p:sp>
      <p:sp>
        <p:nvSpPr>
          <p:cNvPr id="6" name="">
            <a:extLst xmlns:a="http://schemas.openxmlformats.org/drawingml/2006/main">
              <a:ext uri="{FF2B5EF4-FFF2-40B4-BE49-F238E27FC236}">
                <a16:creationId xmlns:a16="http://schemas.microsoft.com/office/drawing/2014/main" id="{F4F85EAC-78EF-44DE-A822-9A9DD960257E}"/>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означает PERF в этой работе?</a:t>
            </a:r>
          </a:p>
        </p:txBody>
      </p:sp>
      <p:sp>
        <p:nvSpPr>
          <p:cNvPr id="7" name="">
            <a:extLst xmlns:a="http://schemas.openxmlformats.org/drawingml/2006/main">
              <a:ext uri="{FF2B5EF4-FFF2-40B4-BE49-F238E27FC236}">
                <a16:creationId xmlns:a16="http://schemas.microsoft.com/office/drawing/2014/main" id="{6130F9A5-9CB1-4256-8E81-1713559B2BFA}"/>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Отдельный тип запроса, который обходит вычисление выражения.</a:t>
            </a:r>
          </a:p>
        </p:txBody>
      </p:sp>
      <p:sp>
        <p:nvSpPr>
          <p:cNvPr id="8" name="">
            <a:extLst xmlns:a="http://schemas.openxmlformats.org/drawingml/2006/main">
              <a:ext uri="{FF2B5EF4-FFF2-40B4-BE49-F238E27FC236}">
                <a16:creationId xmlns:a16="http://schemas.microsoft.com/office/drawing/2014/main" id="{57D214D9-1B99-4B0A-B795-9A337037E85F}"/>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246  if (verb == "PERF")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247  client.output += protocol::response("OK", "PERF")</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248  return;</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249  }</a:t>
            </a:r>
          </a:p>
        </p:txBody>
      </p:sp>
      <p:sp>
        <p:nvSpPr>
          <p:cNvPr id="9" name="">
            <a:extLst xmlns:a="http://schemas.openxmlformats.org/drawingml/2006/main">
              <a:ext uri="{FF2B5EF4-FFF2-40B4-BE49-F238E27FC236}">
                <a16:creationId xmlns:a16="http://schemas.microsoft.com/office/drawing/2014/main" id="{5F5328F2-FC8F-4B51-A602-EC2914D3D550}"/>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src/server/poll_server.cpp:246,247,248,249</a:t>
            </a:r>
          </a:p>
        </p:txBody>
      </p:sp>
      <p:sp>
        <p:nvSpPr>
          <p:cNvPr id="10" name="">
            <a:extLst xmlns:a="http://schemas.openxmlformats.org/drawingml/2006/main">
              <a:ext uri="{FF2B5EF4-FFF2-40B4-BE49-F238E27FC236}">
                <a16:creationId xmlns:a16="http://schemas.microsoft.com/office/drawing/2014/main" id="{37DF1E28-D804-47D2-A52E-5FE9C2B9F220}"/>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Что изменится при добавлении пула рабочих потоков?</a:t>
            </a:r>
          </a:p>
        </p:txBody>
      </p:sp>
      <p:sp>
        <p:nvSpPr>
          <p:cNvPr id="11" name="">
            <a:extLst xmlns:a="http://schemas.openxmlformats.org/drawingml/2006/main">
              <a:ext uri="{FF2B5EF4-FFF2-40B4-BE49-F238E27FC236}">
                <a16:creationId xmlns:a16="http://schemas.microsoft.com/office/drawing/2014/main" id="{C9CFF28C-3D40-4485-B021-96BEB78B5E9B}"/>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Устройство программы</a:t>
            </a:r>
          </a:p>
        </p:txBody>
      </p:sp>
      <p:sp>
        <p:nvSpPr>
          <p:cNvPr id="12" name="">
            <a:extLst xmlns:a="http://schemas.openxmlformats.org/drawingml/2006/main">
              <a:ext uri="{FF2B5EF4-FFF2-40B4-BE49-F238E27FC236}">
                <a16:creationId xmlns:a16="http://schemas.microsoft.com/office/drawing/2014/main" id="{097F8D95-4779-4F90-B429-939327C11F4F}"/>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05 / 66</a:t>
            </a:r>
          </a:p>
        </p:txBody>
      </p:sp>
    </p:spTree>
    <p:extLst>
      <p:ext uri="{BB962C8B-B14F-4D97-AF65-F5344CB8AC3E}">
        <p14:creationId xmlns:p14="http://schemas.microsoft.com/office/powerpoint/2010/main" val="893927997"/>
      </p:ext>
    </p:extLst>
  </p:cSld>
</p:sld>
</file>

<file path=ppt/slides/slide6.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6918064-B34C-4C3B-9838-EE6803A2C585}"/>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Состояние соединения и история команд</a:t>
            </a:r>
          </a:p>
        </p:txBody>
      </p:sp>
      <p:sp>
        <p:nvSpPr>
          <p:cNvPr id="2" name="">
            <a:extLst xmlns:a="http://schemas.openxmlformats.org/drawingml/2006/main">
              <a:ext uri="{FF2B5EF4-FFF2-40B4-BE49-F238E27FC236}">
                <a16:creationId xmlns:a16="http://schemas.microsoft.com/office/drawing/2014/main" id="{E61CCFD8-F052-4EB3-9A76-B523A1F87822}"/>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Зачем состоянию соединения нужны input и output?</a:t>
            </a:r>
          </a:p>
        </p:txBody>
      </p:sp>
      <p:sp>
        <p:nvSpPr>
          <p:cNvPr id="3" name="">
            <a:extLst xmlns:a="http://schemas.openxmlformats.org/drawingml/2006/main">
              <a:ext uri="{FF2B5EF4-FFF2-40B4-BE49-F238E27FC236}">
                <a16:creationId xmlns:a16="http://schemas.microsoft.com/office/drawing/2014/main" id="{E53722EE-702B-4DE8-9D01-EA41F29D4419}"/>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Для накопления неполного запроса и хранения еще не отправленной части ответа.</a:t>
            </a:r>
          </a:p>
        </p:txBody>
      </p:sp>
      <p:sp>
        <p:nvSpPr>
          <p:cNvPr id="4" name="">
            <a:extLst xmlns:a="http://schemas.openxmlformats.org/drawingml/2006/main">
              <a:ext uri="{FF2B5EF4-FFF2-40B4-BE49-F238E27FC236}">
                <a16:creationId xmlns:a16="http://schemas.microsoft.com/office/drawing/2014/main" id="{4154729B-4BCD-4A5B-A18F-13023810DB0D}"/>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32  std::string input;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33  std::string output;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34  std::string user;</a:t>
            </a:r>
          </a:p>
        </p:txBody>
      </p:sp>
      <p:sp>
        <p:nvSpPr>
          <p:cNvPr id="5" name="">
            <a:extLst xmlns:a="http://schemas.openxmlformats.org/drawingml/2006/main">
              <a:ext uri="{FF2B5EF4-FFF2-40B4-BE49-F238E27FC236}">
                <a16:creationId xmlns:a16="http://schemas.microsoft.com/office/drawing/2014/main" id="{8156B50E-3A1E-41E9-9037-0125A0041B3C}"/>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src/server/poll_server.hpp:32,33,34</a:t>
            </a:r>
          </a:p>
        </p:txBody>
      </p:sp>
      <p:sp>
        <p:nvSpPr>
          <p:cNvPr id="6" name="">
            <a:extLst xmlns:a="http://schemas.openxmlformats.org/drawingml/2006/main">
              <a:ext uri="{FF2B5EF4-FFF2-40B4-BE49-F238E27FC236}">
                <a16:creationId xmlns:a16="http://schemas.microsoft.com/office/drawing/2014/main" id="{3B69D7FF-6B48-478A-847F-EB9544709757}"/>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Где находится история введенных команд?</a:t>
            </a:r>
          </a:p>
        </p:txBody>
      </p:sp>
      <p:sp>
        <p:nvSpPr>
          <p:cNvPr id="7" name="">
            <a:extLst xmlns:a="http://schemas.openxmlformats.org/drawingml/2006/main">
              <a:ext uri="{FF2B5EF4-FFF2-40B4-BE49-F238E27FC236}">
                <a16:creationId xmlns:a16="http://schemas.microsoft.com/office/drawing/2014/main" id="{1D419D1D-D8F7-43DE-B443-2E89A23A4F59}"/>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В векторе _history консольного клиента.</a:t>
            </a:r>
          </a:p>
        </p:txBody>
      </p:sp>
      <p:sp>
        <p:nvSpPr>
          <p:cNvPr id="8" name="">
            <a:extLst xmlns:a="http://schemas.openxmlformats.org/drawingml/2006/main">
              <a:ext uri="{FF2B5EF4-FFF2-40B4-BE49-F238E27FC236}">
                <a16:creationId xmlns:a16="http://schemas.microsoft.com/office/drawing/2014/main" id="{B5D6C802-E774-422E-BD45-B6AA61AD8572}"/>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186  _history.push_back(command);</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187  std::string packet;</a:t>
            </a:r>
          </a:p>
        </p:txBody>
      </p:sp>
      <p:sp>
        <p:nvSpPr>
          <p:cNvPr id="9" name="">
            <a:extLst xmlns:a="http://schemas.openxmlformats.org/drawingml/2006/main">
              <a:ext uri="{FF2B5EF4-FFF2-40B4-BE49-F238E27FC236}">
                <a16:creationId xmlns:a16="http://schemas.microsoft.com/office/drawing/2014/main" id="{3549BC43-7603-4674-B964-E23BC61CD732}"/>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src/client/console_client.cpp:186,187</a:t>
            </a:r>
          </a:p>
        </p:txBody>
      </p:sp>
      <p:sp>
        <p:nvSpPr>
          <p:cNvPr id="10" name="">
            <a:extLst xmlns:a="http://schemas.openxmlformats.org/drawingml/2006/main">
              <a:ext uri="{FF2B5EF4-FFF2-40B4-BE49-F238E27FC236}">
                <a16:creationId xmlns:a16="http://schemas.microsoft.com/office/drawing/2014/main" id="{3D3DB485-0312-4E37-BB47-145351C804FE}"/>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Что будет в input после приема только CMD X = ?</a:t>
            </a:r>
          </a:p>
        </p:txBody>
      </p:sp>
      <p:sp>
        <p:nvSpPr>
          <p:cNvPr id="11" name="">
            <a:extLst xmlns:a="http://schemas.openxmlformats.org/drawingml/2006/main">
              <a:ext uri="{FF2B5EF4-FFF2-40B4-BE49-F238E27FC236}">
                <a16:creationId xmlns:a16="http://schemas.microsoft.com/office/drawing/2014/main" id="{697D1967-A622-46C0-A765-04231BFB7DF0}"/>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Устройство программы</a:t>
            </a:r>
          </a:p>
        </p:txBody>
      </p:sp>
      <p:sp>
        <p:nvSpPr>
          <p:cNvPr id="12" name="">
            <a:extLst xmlns:a="http://schemas.openxmlformats.org/drawingml/2006/main">
              <a:ext uri="{FF2B5EF4-FFF2-40B4-BE49-F238E27FC236}">
                <a16:creationId xmlns:a16="http://schemas.microsoft.com/office/drawing/2014/main" id="{05E5A7E9-1E29-4221-B64D-BDFFD01AE895}"/>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06 / 66</a:t>
            </a:r>
          </a:p>
        </p:txBody>
      </p:sp>
    </p:spTree>
    <p:extLst>
      <p:ext uri="{BB962C8B-B14F-4D97-AF65-F5344CB8AC3E}">
        <p14:creationId xmlns:p14="http://schemas.microsoft.com/office/powerpoint/2010/main" val="1068530706"/>
      </p:ext>
    </p:extLst>
  </p:cSld>
</p:sld>
</file>

<file path=ppt/slides/slide7.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495A29A-D85F-47F6-99AE-91CE55BDD3AB}"/>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Сборка и альтернативные архитектуры</a:t>
            </a:r>
          </a:p>
        </p:txBody>
      </p:sp>
      <p:sp>
        <p:nvSpPr>
          <p:cNvPr id="2" name="">
            <a:extLst xmlns:a="http://schemas.openxmlformats.org/drawingml/2006/main">
              <a:ext uri="{FF2B5EF4-FFF2-40B4-BE49-F238E27FC236}">
                <a16:creationId xmlns:a16="http://schemas.microsoft.com/office/drawing/2014/main" id="{B156BB72-A963-493A-B487-EBD91C55AF94}"/>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общий модуль calc_common означает при сборке?</a:t>
            </a:r>
          </a:p>
        </p:txBody>
      </p:sp>
      <p:sp>
        <p:nvSpPr>
          <p:cNvPr id="3" name="">
            <a:extLst xmlns:a="http://schemas.openxmlformats.org/drawingml/2006/main">
              <a:ext uri="{FF2B5EF4-FFF2-40B4-BE49-F238E27FC236}">
                <a16:creationId xmlns:a16="http://schemas.microsoft.com/office/drawing/2014/main" id="{145A9925-8F3E-4458-89D4-9D8A84A1D0A0}"/>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Библиотеку, с которой связываются исполняемые программы.</a:t>
            </a:r>
          </a:p>
        </p:txBody>
      </p:sp>
      <p:sp>
        <p:nvSpPr>
          <p:cNvPr id="4" name="">
            <a:extLst xmlns:a="http://schemas.openxmlformats.org/drawingml/2006/main">
              <a:ext uri="{FF2B5EF4-FFF2-40B4-BE49-F238E27FC236}">
                <a16:creationId xmlns:a16="http://schemas.microsoft.com/office/drawing/2014/main" id="{0291913C-8B4D-40AF-A286-174EF8456B6A}"/>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21  target_link_libraries(calculator_server</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calc_common)</a:t>
            </a:r>
          </a:p>
        </p:txBody>
      </p:sp>
      <p:sp>
        <p:nvSpPr>
          <p:cNvPr id="5" name="">
            <a:extLst xmlns:a="http://schemas.openxmlformats.org/drawingml/2006/main">
              <a:ext uri="{FF2B5EF4-FFF2-40B4-BE49-F238E27FC236}">
                <a16:creationId xmlns:a16="http://schemas.microsoft.com/office/drawing/2014/main" id="{2D40767D-7456-4C0F-843C-CA0252F533C6}"/>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CMakeLists.txt:21</a:t>
            </a:r>
          </a:p>
        </p:txBody>
      </p:sp>
      <p:sp>
        <p:nvSpPr>
          <p:cNvPr id="6" name="">
            <a:extLst xmlns:a="http://schemas.openxmlformats.org/drawingml/2006/main">
              <a:ext uri="{FF2B5EF4-FFF2-40B4-BE49-F238E27FC236}">
                <a16:creationId xmlns:a16="http://schemas.microsoft.com/office/drawing/2014/main" id="{1F4332AA-CFBD-4544-88DA-68A3A674D25E}"/>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Зачем в защите знать о fork и MPI, если их нет в коде?</a:t>
            </a:r>
          </a:p>
        </p:txBody>
      </p:sp>
      <p:sp>
        <p:nvSpPr>
          <p:cNvPr id="7" name="">
            <a:extLst xmlns:a="http://schemas.openxmlformats.org/drawingml/2006/main">
              <a:ext uri="{FF2B5EF4-FFF2-40B4-BE49-F238E27FC236}">
                <a16:creationId xmlns:a16="http://schemas.microsoft.com/office/drawing/2014/main" id="{3BEDB46B-3AC5-4A6B-8F9F-C2270C269159}"/>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Чтобы сравнить альтернативные модели и обосновать выбор событийного сервера.</a:t>
            </a:r>
          </a:p>
        </p:txBody>
      </p:sp>
      <p:sp>
        <p:nvSpPr>
          <p:cNvPr id="8" name="">
            <a:extLst xmlns:a="http://schemas.openxmlformats.org/drawingml/2006/main">
              <a:ext uri="{FF2B5EF4-FFF2-40B4-BE49-F238E27FC236}">
                <a16:creationId xmlns:a16="http://schemas.microsoft.com/office/drawing/2014/main" id="{87DA5124-1013-4683-8201-B5B91CFAD13F}"/>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84  int ready = poll(_poll_fds.data(), _poll_fds.size(</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 -1);</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85  if (ready &lt; 0) {</a:t>
            </a:r>
          </a:p>
        </p:txBody>
      </p:sp>
      <p:sp>
        <p:nvSpPr>
          <p:cNvPr id="9" name="">
            <a:extLst xmlns:a="http://schemas.openxmlformats.org/drawingml/2006/main">
              <a:ext uri="{FF2B5EF4-FFF2-40B4-BE49-F238E27FC236}">
                <a16:creationId xmlns:a16="http://schemas.microsoft.com/office/drawing/2014/main" id="{0E1C637F-9C83-4A3C-BE85-AC8F18A3953D}"/>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src/server/poll_server.cpp:84,85</a:t>
            </a:r>
          </a:p>
        </p:txBody>
      </p:sp>
      <p:sp>
        <p:nvSpPr>
          <p:cNvPr id="10" name="">
            <a:extLst xmlns:a="http://schemas.openxmlformats.org/drawingml/2006/main">
              <a:ext uri="{FF2B5EF4-FFF2-40B4-BE49-F238E27FC236}">
                <a16:creationId xmlns:a16="http://schemas.microsoft.com/office/drawing/2014/main" id="{B1DE4EDD-60D0-4EE8-913B-282CA7074FF1}"/>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Чем библиотека отличается от исполняемого файла?</a:t>
            </a:r>
          </a:p>
        </p:txBody>
      </p:sp>
      <p:sp>
        <p:nvSpPr>
          <p:cNvPr id="11" name="">
            <a:extLst xmlns:a="http://schemas.openxmlformats.org/drawingml/2006/main">
              <a:ext uri="{FF2B5EF4-FFF2-40B4-BE49-F238E27FC236}">
                <a16:creationId xmlns:a16="http://schemas.microsoft.com/office/drawing/2014/main" id="{4F8C075D-0CF5-437A-A107-71AE36267A0F}"/>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Устройство программы</a:t>
            </a:r>
          </a:p>
        </p:txBody>
      </p:sp>
      <p:sp>
        <p:nvSpPr>
          <p:cNvPr id="12" name="">
            <a:extLst xmlns:a="http://schemas.openxmlformats.org/drawingml/2006/main">
              <a:ext uri="{FF2B5EF4-FFF2-40B4-BE49-F238E27FC236}">
                <a16:creationId xmlns:a16="http://schemas.microsoft.com/office/drawing/2014/main" id="{EDF3D984-36D9-41B8-9046-DF78A0398F20}"/>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07 / 66</a:t>
            </a:r>
          </a:p>
        </p:txBody>
      </p:sp>
    </p:spTree>
    <p:extLst>
      <p:ext uri="{BB962C8B-B14F-4D97-AF65-F5344CB8AC3E}">
        <p14:creationId xmlns:p14="http://schemas.microsoft.com/office/powerpoint/2010/main" val="1432429758"/>
      </p:ext>
    </p:extLst>
  </p:cSld>
</p:sld>
</file>

<file path=ppt/slides/slide8.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A6AD031-0387-4786-B1F9-8E528E702A1F}"/>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Сокет и файловый дескриптор</a:t>
            </a:r>
          </a:p>
        </p:txBody>
      </p:sp>
      <p:sp>
        <p:nvSpPr>
          <p:cNvPr id="2" name="">
            <a:extLst xmlns:a="http://schemas.openxmlformats.org/drawingml/2006/main">
              <a:ext uri="{FF2B5EF4-FFF2-40B4-BE49-F238E27FC236}">
                <a16:creationId xmlns:a16="http://schemas.microsoft.com/office/drawing/2014/main" id="{7CD35DE4-F093-4FFA-8FC9-E4A0BC436A3B}"/>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такое сокет в этой программе?</a:t>
            </a:r>
          </a:p>
        </p:txBody>
      </p:sp>
      <p:sp>
        <p:nvSpPr>
          <p:cNvPr id="3" name="">
            <a:extLst xmlns:a="http://schemas.openxmlformats.org/drawingml/2006/main">
              <a:ext uri="{FF2B5EF4-FFF2-40B4-BE49-F238E27FC236}">
                <a16:creationId xmlns:a16="http://schemas.microsoft.com/office/drawing/2014/main" id="{BD970B76-1110-41F5-877D-6F8755FE6F3F}"/>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Объект ОС для обмена данными, доступный программе через дескриптор.</a:t>
            </a:r>
          </a:p>
        </p:txBody>
      </p:sp>
      <p:sp>
        <p:nvSpPr>
          <p:cNvPr id="4" name="">
            <a:extLst xmlns:a="http://schemas.openxmlformats.org/drawingml/2006/main">
              <a:ext uri="{FF2B5EF4-FFF2-40B4-BE49-F238E27FC236}">
                <a16:creationId xmlns:a16="http://schemas.microsoft.com/office/drawing/2014/main" id="{BEDF666C-3373-4A86-B61A-05FB0EE4F2A2}"/>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56  _listen_fd = socket(AF_INET, SOCK_STREAM, 0);</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57  if (_listen_fd &lt; 0)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58  throw std::runtime_error(errno_message(</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"socket(2) error"));</a:t>
            </a:r>
          </a:p>
        </p:txBody>
      </p:sp>
      <p:sp>
        <p:nvSpPr>
          <p:cNvPr id="5" name="">
            <a:extLst xmlns:a="http://schemas.openxmlformats.org/drawingml/2006/main">
              <a:ext uri="{FF2B5EF4-FFF2-40B4-BE49-F238E27FC236}">
                <a16:creationId xmlns:a16="http://schemas.microsoft.com/office/drawing/2014/main" id="{C1111E16-049C-4525-9DAD-669041DDEE94}"/>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src/server/poll_server.cpp:56,57,58</a:t>
            </a:r>
          </a:p>
        </p:txBody>
      </p:sp>
      <p:sp>
        <p:nvSpPr>
          <p:cNvPr id="6" name="">
            <a:extLst xmlns:a="http://schemas.openxmlformats.org/drawingml/2006/main">
              <a:ext uri="{FF2B5EF4-FFF2-40B4-BE49-F238E27FC236}">
                <a16:creationId xmlns:a16="http://schemas.microsoft.com/office/drawing/2014/main" id="{51DAA046-129D-4E72-BEB6-625DA2955B7F}"/>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возвращает успешный socket(AF_INET, SOCK_STREAM, 0)?</a:t>
            </a:r>
          </a:p>
        </p:txBody>
      </p:sp>
      <p:sp>
        <p:nvSpPr>
          <p:cNvPr id="7" name="">
            <a:extLst xmlns:a="http://schemas.openxmlformats.org/drawingml/2006/main">
              <a:ext uri="{FF2B5EF4-FFF2-40B4-BE49-F238E27FC236}">
                <a16:creationId xmlns:a16="http://schemas.microsoft.com/office/drawing/2014/main" id="{EBCDE33B-0B02-4680-8AA8-767FFBA4AC1A}"/>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Неотрицательный файловый дескриптор типа int.</a:t>
            </a:r>
          </a:p>
        </p:txBody>
      </p:sp>
      <p:sp>
        <p:nvSpPr>
          <p:cNvPr id="8" name="">
            <a:extLst xmlns:a="http://schemas.openxmlformats.org/drawingml/2006/main">
              <a:ext uri="{FF2B5EF4-FFF2-40B4-BE49-F238E27FC236}">
                <a16:creationId xmlns:a16="http://schemas.microsoft.com/office/drawing/2014/main" id="{8251F596-74AF-4A8C-A567-70123550316B}"/>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56  _listen_fd = socket(AF_INET, SOCK_STREAM, 0);</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57  if (_listen_fd &lt; 0)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58  throw std::runtime_error(errno_message(</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"socket(2) error"));</a:t>
            </a:r>
          </a:p>
        </p:txBody>
      </p:sp>
      <p:sp>
        <p:nvSpPr>
          <p:cNvPr id="9" name="">
            <a:extLst xmlns:a="http://schemas.openxmlformats.org/drawingml/2006/main">
              <a:ext uri="{FF2B5EF4-FFF2-40B4-BE49-F238E27FC236}">
                <a16:creationId xmlns:a16="http://schemas.microsoft.com/office/drawing/2014/main" id="{738FBF78-A8E4-4BE9-A7C1-014832F936B6}"/>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src/server/poll_server.cpp:56,57,58</a:t>
            </a:r>
          </a:p>
        </p:txBody>
      </p:sp>
      <p:sp>
        <p:nvSpPr>
          <p:cNvPr id="10" name="">
            <a:extLst xmlns:a="http://schemas.openxmlformats.org/drawingml/2006/main">
              <a:ext uri="{FF2B5EF4-FFF2-40B4-BE49-F238E27FC236}">
                <a16:creationId xmlns:a16="http://schemas.microsoft.com/office/drawing/2014/main" id="{C5C44AD7-801B-4C69-94AD-E38A32EE116E}"/>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Различи сокет, дескриптор, порт и буфер.</a:t>
            </a:r>
          </a:p>
        </p:txBody>
      </p:sp>
      <p:sp>
        <p:nvSpPr>
          <p:cNvPr id="11" name="">
            <a:extLst xmlns:a="http://schemas.openxmlformats.org/drawingml/2006/main">
              <a:ext uri="{FF2B5EF4-FFF2-40B4-BE49-F238E27FC236}">
                <a16:creationId xmlns:a16="http://schemas.microsoft.com/office/drawing/2014/main" id="{171265C6-FABE-41E1-AE02-A3A7FA09E328}"/>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Сокеты и протоколы</a:t>
            </a:r>
          </a:p>
        </p:txBody>
      </p:sp>
      <p:sp>
        <p:nvSpPr>
          <p:cNvPr id="12" name="">
            <a:extLst xmlns:a="http://schemas.openxmlformats.org/drawingml/2006/main">
              <a:ext uri="{FF2B5EF4-FFF2-40B4-BE49-F238E27FC236}">
                <a16:creationId xmlns:a16="http://schemas.microsoft.com/office/drawing/2014/main" id="{797DB77C-5AFA-480E-883D-D02EF6DEBF27}"/>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08 / 66</a:t>
            </a:r>
          </a:p>
        </p:txBody>
      </p:sp>
    </p:spTree>
    <p:extLst>
      <p:ext uri="{BB962C8B-B14F-4D97-AF65-F5344CB8AC3E}">
        <p14:creationId xmlns:p14="http://schemas.microsoft.com/office/powerpoint/2010/main" val="150981828"/>
      </p:ext>
    </p:extLst>
  </p:cSld>
</p:sld>
</file>

<file path=ppt/slides/slide9.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3350AB8-527F-4362-BAE5-E9A962EDDB6B}"/>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Адресное семейство и транспорт</a:t>
            </a:r>
          </a:p>
        </p:txBody>
      </p:sp>
      <p:sp>
        <p:nvSpPr>
          <p:cNvPr id="2" name="">
            <a:extLst xmlns:a="http://schemas.openxmlformats.org/drawingml/2006/main">
              <a:ext uri="{FF2B5EF4-FFF2-40B4-BE49-F238E27FC236}">
                <a16:creationId xmlns:a16="http://schemas.microsoft.com/office/drawing/2014/main" id="{A6B5F685-F36E-4387-8A42-271473E6BDE2}"/>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означает AF_INET?</a:t>
            </a:r>
          </a:p>
        </p:txBody>
      </p:sp>
      <p:sp>
        <p:nvSpPr>
          <p:cNvPr id="3" name="">
            <a:extLst xmlns:a="http://schemas.openxmlformats.org/drawingml/2006/main">
              <a:ext uri="{FF2B5EF4-FFF2-40B4-BE49-F238E27FC236}">
                <a16:creationId xmlns:a16="http://schemas.microsoft.com/office/drawing/2014/main" id="{E2F6BE1A-6419-4CC2-B99B-41AE31F95653}"/>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Семейство адресов IPv4.</a:t>
            </a:r>
          </a:p>
        </p:txBody>
      </p:sp>
      <p:sp>
        <p:nvSpPr>
          <p:cNvPr id="4" name="">
            <a:extLst xmlns:a="http://schemas.openxmlformats.org/drawingml/2006/main">
              <a:ext uri="{FF2B5EF4-FFF2-40B4-BE49-F238E27FC236}">
                <a16:creationId xmlns:a16="http://schemas.microsoft.com/office/drawing/2014/main" id="{F11D08BF-28C9-4800-83D3-E4FBF78630D8}"/>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56  _listen_fd = socket(AF_INET, SOCK_STREAM, 0);</a:t>
            </a:r>
          </a:p>
        </p:txBody>
      </p:sp>
      <p:sp>
        <p:nvSpPr>
          <p:cNvPr id="5" name="">
            <a:extLst xmlns:a="http://schemas.openxmlformats.org/drawingml/2006/main">
              <a:ext uri="{FF2B5EF4-FFF2-40B4-BE49-F238E27FC236}">
                <a16:creationId xmlns:a16="http://schemas.microsoft.com/office/drawing/2014/main" id="{CE33DF14-F9CC-48CB-8DE9-93CBEF70EEB9}"/>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src/server/poll_server.cpp:56</a:t>
            </a:r>
          </a:p>
        </p:txBody>
      </p:sp>
      <p:sp>
        <p:nvSpPr>
          <p:cNvPr id="6" name="">
            <a:extLst xmlns:a="http://schemas.openxmlformats.org/drawingml/2006/main">
              <a:ext uri="{FF2B5EF4-FFF2-40B4-BE49-F238E27FC236}">
                <a16:creationId xmlns:a16="http://schemas.microsoft.com/office/drawing/2014/main" id="{8A3CF69E-7B9F-410A-B2A2-377F82D12B2B}"/>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Какой протокол обычно выбирает сочетание AF_INET, SOCK_STREAM, 0?</a:t>
            </a:r>
          </a:p>
        </p:txBody>
      </p:sp>
      <p:sp>
        <p:nvSpPr>
          <p:cNvPr id="7" name="">
            <a:extLst xmlns:a="http://schemas.openxmlformats.org/drawingml/2006/main">
              <a:ext uri="{FF2B5EF4-FFF2-40B4-BE49-F238E27FC236}">
                <a16:creationId xmlns:a16="http://schemas.microsoft.com/office/drawing/2014/main" id="{573B6002-E78C-4817-BAB3-6A83125D578B}"/>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TCP для потокового сокета IPv4.</a:t>
            </a:r>
          </a:p>
        </p:txBody>
      </p:sp>
      <p:sp>
        <p:nvSpPr>
          <p:cNvPr id="8" name="">
            <a:extLst xmlns:a="http://schemas.openxmlformats.org/drawingml/2006/main">
              <a:ext uri="{FF2B5EF4-FFF2-40B4-BE49-F238E27FC236}">
                <a16:creationId xmlns:a16="http://schemas.microsoft.com/office/drawing/2014/main" id="{3E9D8C97-B435-4A91-ACC6-2671B4BEC97E}"/>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56  _listen_fd = socket(AF_INET, SOCK_STREAM, 0);</a:t>
            </a:r>
          </a:p>
        </p:txBody>
      </p:sp>
      <p:sp>
        <p:nvSpPr>
          <p:cNvPr id="9" name="">
            <a:extLst xmlns:a="http://schemas.openxmlformats.org/drawingml/2006/main">
              <a:ext uri="{FF2B5EF4-FFF2-40B4-BE49-F238E27FC236}">
                <a16:creationId xmlns:a16="http://schemas.microsoft.com/office/drawing/2014/main" id="{0E414C2A-92B1-47B4-A5AB-3F2B9DE640DB}"/>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src/server/poll_server.cpp:56</a:t>
            </a:r>
          </a:p>
        </p:txBody>
      </p:sp>
      <p:sp>
        <p:nvSpPr>
          <p:cNvPr id="10" name="">
            <a:extLst xmlns:a="http://schemas.openxmlformats.org/drawingml/2006/main">
              <a:ext uri="{FF2B5EF4-FFF2-40B4-BE49-F238E27FC236}">
                <a16:creationId xmlns:a16="http://schemas.microsoft.com/office/drawing/2014/main" id="{9EAE2536-35D6-4EEA-AB27-3EB66F209B16}"/>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Чем AF_INET отличается от SOCK_STREAM?</a:t>
            </a:r>
          </a:p>
        </p:txBody>
      </p:sp>
      <p:sp>
        <p:nvSpPr>
          <p:cNvPr id="11" name="">
            <a:extLst xmlns:a="http://schemas.openxmlformats.org/drawingml/2006/main">
              <a:ext uri="{FF2B5EF4-FFF2-40B4-BE49-F238E27FC236}">
                <a16:creationId xmlns:a16="http://schemas.microsoft.com/office/drawing/2014/main" id="{4AA8FD48-04A2-4138-B967-B599EF2F19D5}"/>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Сокеты и протоколы</a:t>
            </a:r>
          </a:p>
        </p:txBody>
      </p:sp>
      <p:sp>
        <p:nvSpPr>
          <p:cNvPr id="12" name="">
            <a:extLst xmlns:a="http://schemas.openxmlformats.org/drawingml/2006/main">
              <a:ext uri="{FF2B5EF4-FFF2-40B4-BE49-F238E27FC236}">
                <a16:creationId xmlns:a16="http://schemas.microsoft.com/office/drawing/2014/main" id="{2C5FBCFE-089E-4FF2-937C-9A369A20C7A9}"/>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09 / 66</a:t>
            </a:r>
          </a:p>
        </p:txBody>
      </p:sp>
    </p:spTree>
    <p:extLst>
      <p:ext uri="{BB962C8B-B14F-4D97-AF65-F5344CB8AC3E}">
        <p14:creationId xmlns:p14="http://schemas.microsoft.com/office/powerpoint/2010/main" val="1998916692"/>
      </p:ext>
    </p:extLst>
  </p:cSld>
</p:sld>
</file>

<file path=ppt/slides/slide10.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9AB5826-5A51-4D74-A324-5C9ABC0B1C0C}"/>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Гарантии TCP и свойства UDP</a:t>
            </a:r>
          </a:p>
        </p:txBody>
      </p:sp>
      <p:sp>
        <p:nvSpPr>
          <p:cNvPr id="2" name="">
            <a:extLst xmlns:a="http://schemas.openxmlformats.org/drawingml/2006/main">
              <a:ext uri="{FF2B5EF4-FFF2-40B4-BE49-F238E27FC236}">
                <a16:creationId xmlns:a16="http://schemas.microsoft.com/office/drawing/2014/main" id="{6F53DD13-BB1A-4C7D-9E73-5F2F6BD38687}"/>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TCP предоставляет приложению?</a:t>
            </a:r>
          </a:p>
        </p:txBody>
      </p:sp>
      <p:sp>
        <p:nvSpPr>
          <p:cNvPr id="3" name="">
            <a:extLst xmlns:a="http://schemas.openxmlformats.org/drawingml/2006/main">
              <a:ext uri="{FF2B5EF4-FFF2-40B4-BE49-F238E27FC236}">
                <a16:creationId xmlns:a16="http://schemas.microsoft.com/office/drawing/2014/main" id="{8D729AFB-C38D-4EAF-83D5-14AF1898948F}"/>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Упорядоченный поток байтов без границ прикладных сообщений.</a:t>
            </a:r>
          </a:p>
        </p:txBody>
      </p:sp>
      <p:sp>
        <p:nvSpPr>
          <p:cNvPr id="4" name="">
            <a:extLst xmlns:a="http://schemas.openxmlformats.org/drawingml/2006/main">
              <a:ext uri="{FF2B5EF4-FFF2-40B4-BE49-F238E27FC236}">
                <a16:creationId xmlns:a16="http://schemas.microsoft.com/office/drawing/2014/main" id="{E4B15E1E-3C7F-4E4F-AB72-0BC7B6DAFC15}"/>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196  std::size_t pos = client.input.find('\n');</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197  if (pos == std::string::npos)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198  break;</a:t>
            </a:r>
          </a:p>
        </p:txBody>
      </p:sp>
      <p:sp>
        <p:nvSpPr>
          <p:cNvPr id="5" name="">
            <a:extLst xmlns:a="http://schemas.openxmlformats.org/drawingml/2006/main">
              <a:ext uri="{FF2B5EF4-FFF2-40B4-BE49-F238E27FC236}">
                <a16:creationId xmlns:a16="http://schemas.microsoft.com/office/drawing/2014/main" id="{D6E0ED51-B3D0-4FF7-8240-59E8BE7294BD}"/>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src/server/poll_server.cpp:196,197,198</a:t>
            </a:r>
          </a:p>
        </p:txBody>
      </p:sp>
      <p:sp>
        <p:nvSpPr>
          <p:cNvPr id="6" name="">
            <a:extLst xmlns:a="http://schemas.openxmlformats.org/drawingml/2006/main">
              <a:ext uri="{FF2B5EF4-FFF2-40B4-BE49-F238E27FC236}">
                <a16:creationId xmlns:a16="http://schemas.microsoft.com/office/drawing/2014/main" id="{4A0DD733-D5FA-4DE0-B575-F46673686F10}"/>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Чем UDP принципиально отличается от TCP для прикладного кода?</a:t>
            </a:r>
          </a:p>
        </p:txBody>
      </p:sp>
      <p:sp>
        <p:nvSpPr>
          <p:cNvPr id="7" name="">
            <a:extLst xmlns:a="http://schemas.openxmlformats.org/drawingml/2006/main">
              <a:ext uri="{FF2B5EF4-FFF2-40B4-BE49-F238E27FC236}">
                <a16:creationId xmlns:a16="http://schemas.microsoft.com/office/drawing/2014/main" id="{BAEA3DB7-BF47-4FE4-B08D-6F8E7574B8B3}"/>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Сохраняет границы датаграмм, но не гарантирует доставку и порядок.</a:t>
            </a:r>
          </a:p>
        </p:txBody>
      </p:sp>
      <p:sp>
        <p:nvSpPr>
          <p:cNvPr id="8" name="">
            <a:extLst xmlns:a="http://schemas.openxmlformats.org/drawingml/2006/main">
              <a:ext uri="{FF2B5EF4-FFF2-40B4-BE49-F238E27FC236}">
                <a16:creationId xmlns:a16="http://schemas.microsoft.com/office/drawing/2014/main" id="{69265269-F544-448D-B997-2A816EB78AED}"/>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56  _listen_fd = socket(AF_INET, SOCK_STREAM, 0);</a:t>
            </a:r>
          </a:p>
        </p:txBody>
      </p:sp>
      <p:sp>
        <p:nvSpPr>
          <p:cNvPr id="9" name="">
            <a:extLst xmlns:a="http://schemas.openxmlformats.org/drawingml/2006/main">
              <a:ext uri="{FF2B5EF4-FFF2-40B4-BE49-F238E27FC236}">
                <a16:creationId xmlns:a16="http://schemas.microsoft.com/office/drawing/2014/main" id="{578C636E-85C5-4C4C-8D30-DDBC047B4DA5}"/>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src/server/poll_server.cpp:56</a:t>
            </a:r>
          </a:p>
        </p:txBody>
      </p:sp>
      <p:sp>
        <p:nvSpPr>
          <p:cNvPr id="10" name="">
            <a:extLst xmlns:a="http://schemas.openxmlformats.org/drawingml/2006/main">
              <a:ext uri="{FF2B5EF4-FFF2-40B4-BE49-F238E27FC236}">
                <a16:creationId xmlns:a16="http://schemas.microsoft.com/office/drawing/2014/main" id="{642FBD3B-D519-4659-8273-CC9FF7814221}"/>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Почему TCP не заменяет символ конца команды?</a:t>
            </a:r>
          </a:p>
        </p:txBody>
      </p:sp>
      <p:sp>
        <p:nvSpPr>
          <p:cNvPr id="11" name="">
            <a:extLst xmlns:a="http://schemas.openxmlformats.org/drawingml/2006/main">
              <a:ext uri="{FF2B5EF4-FFF2-40B4-BE49-F238E27FC236}">
                <a16:creationId xmlns:a16="http://schemas.microsoft.com/office/drawing/2014/main" id="{F479B1AA-33AE-44CE-9B3F-1EC00CC0E0D5}"/>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Сокеты и протоколы</a:t>
            </a:r>
          </a:p>
        </p:txBody>
      </p:sp>
      <p:sp>
        <p:nvSpPr>
          <p:cNvPr id="12" name="">
            <a:extLst xmlns:a="http://schemas.openxmlformats.org/drawingml/2006/main">
              <a:ext uri="{FF2B5EF4-FFF2-40B4-BE49-F238E27FC236}">
                <a16:creationId xmlns:a16="http://schemas.microsoft.com/office/drawing/2014/main" id="{C16998D2-0BCC-47F9-AB93-F7472E07DE79}"/>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10 / 66</a:t>
            </a:r>
          </a:p>
        </p:txBody>
      </p:sp>
    </p:spTree>
    <p:extLst>
      <p:ext uri="{BB962C8B-B14F-4D97-AF65-F5344CB8AC3E}">
        <p14:creationId xmlns:p14="http://schemas.microsoft.com/office/powerpoint/2010/main" val="1114688890"/>
      </p:ext>
    </p:extLst>
  </p:cSld>
</p:sld>
</file>

<file path=ppt/slides/slide11.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859566E-D95C-4AA5-981C-5252DD83F432}"/>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Границы сообщений в потоке байтов</a:t>
            </a:r>
          </a:p>
        </p:txBody>
      </p:sp>
      <p:sp>
        <p:nvSpPr>
          <p:cNvPr id="2" name="">
            <a:extLst xmlns:a="http://schemas.openxmlformats.org/drawingml/2006/main">
              <a:ext uri="{FF2B5EF4-FFF2-40B4-BE49-F238E27FC236}">
                <a16:creationId xmlns:a16="http://schemas.microsoft.com/office/drawing/2014/main" id="{3CE84F56-070B-4642-8160-760B85CCBE52}"/>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Может ли один recv получить две отправленные команды?</a:t>
            </a:r>
          </a:p>
        </p:txBody>
      </p:sp>
      <p:sp>
        <p:nvSpPr>
          <p:cNvPr id="3" name="">
            <a:extLst xmlns:a="http://schemas.openxmlformats.org/drawingml/2006/main">
              <a:ext uri="{FF2B5EF4-FFF2-40B4-BE49-F238E27FC236}">
                <a16:creationId xmlns:a16="http://schemas.microsoft.com/office/drawing/2014/main" id="{97FE1813-91A0-4BC8-B311-EDE142B66101}"/>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Да, если их байты уже доступны в потоке.</a:t>
            </a:r>
          </a:p>
        </p:txBody>
      </p:sp>
      <p:sp>
        <p:nvSpPr>
          <p:cNvPr id="4" name="">
            <a:extLst xmlns:a="http://schemas.openxmlformats.org/drawingml/2006/main">
              <a:ext uri="{FF2B5EF4-FFF2-40B4-BE49-F238E27FC236}">
                <a16:creationId xmlns:a16="http://schemas.microsoft.com/office/drawing/2014/main" id="{87430FC9-C662-48D6-8754-2CEDC2609102}"/>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195  while (true)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196  std::size_t pos = client.input.find('\n');</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197  if (pos == std::string::npos)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198  break;</a:t>
            </a:r>
          </a:p>
        </p:txBody>
      </p:sp>
      <p:sp>
        <p:nvSpPr>
          <p:cNvPr id="5" name="">
            <a:extLst xmlns:a="http://schemas.openxmlformats.org/drawingml/2006/main">
              <a:ext uri="{FF2B5EF4-FFF2-40B4-BE49-F238E27FC236}">
                <a16:creationId xmlns:a16="http://schemas.microsoft.com/office/drawing/2014/main" id="{95C4DD86-7FC9-419A-AD7B-956910BEA1B5}"/>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src/server/poll_server.cpp:195,196,197,198</a:t>
            </a:r>
          </a:p>
        </p:txBody>
      </p:sp>
      <p:sp>
        <p:nvSpPr>
          <p:cNvPr id="6" name="">
            <a:extLst xmlns:a="http://schemas.openxmlformats.org/drawingml/2006/main">
              <a:ext uri="{FF2B5EF4-FFF2-40B4-BE49-F238E27FC236}">
                <a16:creationId xmlns:a16="http://schemas.microsoft.com/office/drawing/2014/main" id="{B1832320-CCD6-4E7E-8011-4A1FED14F73C}"/>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Может ли один запрос прийти в нескольких recv?</a:t>
            </a:r>
          </a:p>
        </p:txBody>
      </p:sp>
      <p:sp>
        <p:nvSpPr>
          <p:cNvPr id="7" name="">
            <a:extLst xmlns:a="http://schemas.openxmlformats.org/drawingml/2006/main">
              <a:ext uri="{FF2B5EF4-FFF2-40B4-BE49-F238E27FC236}">
                <a16:creationId xmlns:a16="http://schemas.microsoft.com/office/drawing/2014/main" id="{770DEF34-42DE-4643-A07B-6E5F5E493F15}"/>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Да, поэтому сервер накапливает данные до перевода строки.</a:t>
            </a:r>
          </a:p>
        </p:txBody>
      </p:sp>
      <p:sp>
        <p:nvSpPr>
          <p:cNvPr id="8" name="">
            <a:extLst xmlns:a="http://schemas.openxmlformats.org/drawingml/2006/main">
              <a:ext uri="{FF2B5EF4-FFF2-40B4-BE49-F238E27FC236}">
                <a16:creationId xmlns:a16="http://schemas.microsoft.com/office/drawing/2014/main" id="{BB837765-489A-428B-A899-8E0440EF51CA}"/>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142  client.input.append(buffer, static_cast&lt;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std::size_t&gt;(count));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143  if (client.input.size() &gt; protocol::max_line_size</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 {</a:t>
            </a:r>
          </a:p>
        </p:txBody>
      </p:sp>
      <p:sp>
        <p:nvSpPr>
          <p:cNvPr id="9" name="">
            <a:extLst xmlns:a="http://schemas.openxmlformats.org/drawingml/2006/main">
              <a:ext uri="{FF2B5EF4-FFF2-40B4-BE49-F238E27FC236}">
                <a16:creationId xmlns:a16="http://schemas.microsoft.com/office/drawing/2014/main" id="{5EB5B8B3-A296-4425-A884-00C56CBED8D5}"/>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src/server/poll_server.cpp:142,143</a:t>
            </a:r>
          </a:p>
        </p:txBody>
      </p:sp>
      <p:sp>
        <p:nvSpPr>
          <p:cNvPr id="10" name="">
            <a:extLst xmlns:a="http://schemas.openxmlformats.org/drawingml/2006/main">
              <a:ext uri="{FF2B5EF4-FFF2-40B4-BE49-F238E27FC236}">
                <a16:creationId xmlns:a16="http://schemas.microsoft.com/office/drawing/2014/main" id="{F26F365A-ED8C-466E-A465-CDD20CBDEE0F}"/>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Покажи разбор двух строк и половины третьей.</a:t>
            </a:r>
          </a:p>
        </p:txBody>
      </p:sp>
      <p:sp>
        <p:nvSpPr>
          <p:cNvPr id="11" name="">
            <a:extLst xmlns:a="http://schemas.openxmlformats.org/drawingml/2006/main">
              <a:ext uri="{FF2B5EF4-FFF2-40B4-BE49-F238E27FC236}">
                <a16:creationId xmlns:a16="http://schemas.microsoft.com/office/drawing/2014/main" id="{1C5023D4-6D04-4D84-B24C-60A019A89148}"/>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Сокеты и протоколы</a:t>
            </a:r>
          </a:p>
        </p:txBody>
      </p:sp>
      <p:sp>
        <p:nvSpPr>
          <p:cNvPr id="12" name="">
            <a:extLst xmlns:a="http://schemas.openxmlformats.org/drawingml/2006/main">
              <a:ext uri="{FF2B5EF4-FFF2-40B4-BE49-F238E27FC236}">
                <a16:creationId xmlns:a16="http://schemas.microsoft.com/office/drawing/2014/main" id="{2E73D6F7-2BE2-4E41-A542-229F3F972F29}"/>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11 / 66</a:t>
            </a:r>
          </a:p>
        </p:txBody>
      </p:sp>
    </p:spTree>
    <p:extLst>
      <p:ext uri="{BB962C8B-B14F-4D97-AF65-F5344CB8AC3E}">
        <p14:creationId xmlns:p14="http://schemas.microsoft.com/office/powerpoint/2010/main" val="1582211029"/>
      </p:ext>
    </p:extLst>
  </p:cSld>
</p:sld>
</file>

<file path=ppt/slides/slide12.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A4D40CB-0DE8-40F3-A640-C5583663052F}"/>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Двунаправленный обмен и текстовые числа</a:t>
            </a:r>
          </a:p>
        </p:txBody>
      </p:sp>
      <p:sp>
        <p:nvSpPr>
          <p:cNvPr id="2" name="">
            <a:extLst xmlns:a="http://schemas.openxmlformats.org/drawingml/2006/main">
              <a:ext uri="{FF2B5EF4-FFF2-40B4-BE49-F238E27FC236}">
                <a16:creationId xmlns:a16="http://schemas.microsoft.com/office/drawing/2014/main" id="{E915E30A-A5EE-478A-8854-80A7BA2AF811}"/>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означает двунаправленность TCP-соединения?</a:t>
            </a:r>
          </a:p>
        </p:txBody>
      </p:sp>
      <p:sp>
        <p:nvSpPr>
          <p:cNvPr id="3" name="">
            <a:extLst xmlns:a="http://schemas.openxmlformats.org/drawingml/2006/main">
              <a:ext uri="{FF2B5EF4-FFF2-40B4-BE49-F238E27FC236}">
                <a16:creationId xmlns:a16="http://schemas.microsoft.com/office/drawing/2014/main" id="{0E582915-8534-403C-A2C4-5B94029D72AE}"/>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Оба участника могут отправлять и принимать данные.</a:t>
            </a:r>
          </a:p>
        </p:txBody>
      </p:sp>
      <p:sp>
        <p:nvSpPr>
          <p:cNvPr id="4" name="">
            <a:extLst xmlns:a="http://schemas.openxmlformats.org/drawingml/2006/main">
              <a:ext uri="{FF2B5EF4-FFF2-40B4-BE49-F238E27FC236}">
                <a16:creationId xmlns:a16="http://schemas.microsoft.com/office/drawing/2014/main" id="{976AB7BB-F3B3-4A18-9060-1103A0D15637}"/>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115  send_line(line);</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116  return receive_line();</a:t>
            </a:r>
          </a:p>
        </p:txBody>
      </p:sp>
      <p:sp>
        <p:nvSpPr>
          <p:cNvPr id="5" name="">
            <a:extLst xmlns:a="http://schemas.openxmlformats.org/drawingml/2006/main">
              <a:ext uri="{FF2B5EF4-FFF2-40B4-BE49-F238E27FC236}">
                <a16:creationId xmlns:a16="http://schemas.microsoft.com/office/drawing/2014/main" id="{D497E854-8FEB-4D01-88C6-103FFB4688C5}"/>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src/client/console_client.cpp:115,116</a:t>
            </a:r>
          </a:p>
        </p:txBody>
      </p:sp>
      <p:sp>
        <p:nvSpPr>
          <p:cNvPr id="6" name="">
            <a:extLst xmlns:a="http://schemas.openxmlformats.org/drawingml/2006/main">
              <a:ext uri="{FF2B5EF4-FFF2-40B4-BE49-F238E27FC236}">
                <a16:creationId xmlns:a16="http://schemas.microsoft.com/office/drawing/2014/main" id="{E3C20E61-8FBA-4CD1-BD30-37DEB9B4A9E5}"/>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Нужно ли TCP передавать C++-тип long long вместе с каждым байтом?</a:t>
            </a:r>
          </a:p>
        </p:txBody>
      </p:sp>
      <p:sp>
        <p:nvSpPr>
          <p:cNvPr id="7" name="">
            <a:extLst xmlns:a="http://schemas.openxmlformats.org/drawingml/2006/main">
              <a:ext uri="{FF2B5EF4-FFF2-40B4-BE49-F238E27FC236}">
                <a16:creationId xmlns:a16="http://schemas.microsoft.com/office/drawing/2014/main" id="{92862486-5B5D-4AAF-AC76-3FFD638217DF}"/>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Нет, здесь число сначала превращается в текст прикладного протокола.</a:t>
            </a:r>
          </a:p>
        </p:txBody>
      </p:sp>
      <p:sp>
        <p:nvSpPr>
          <p:cNvPr id="8" name="">
            <a:extLst xmlns:a="http://schemas.openxmlformats.org/drawingml/2006/main">
              <a:ext uri="{FF2B5EF4-FFF2-40B4-BE49-F238E27FC236}">
                <a16:creationId xmlns:a16="http://schemas.microsoft.com/office/drawing/2014/main" id="{471F6E92-65FF-42BE-A67C-C84F9C230060}"/>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243  long long value = evaluate_expression(expression,</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current);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244  return std::to_string(value);</a:t>
            </a:r>
          </a:p>
        </p:txBody>
      </p:sp>
      <p:sp>
        <p:nvSpPr>
          <p:cNvPr id="9" name="">
            <a:extLst xmlns:a="http://schemas.openxmlformats.org/drawingml/2006/main">
              <a:ext uri="{FF2B5EF4-FFF2-40B4-BE49-F238E27FC236}">
                <a16:creationId xmlns:a16="http://schemas.microsoft.com/office/drawing/2014/main" id="{2B77D1B6-D0FF-4D54-8F1A-36A3D726D24A}"/>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src/model/calculator.cpp:243,244</a:t>
            </a:r>
          </a:p>
        </p:txBody>
      </p:sp>
      <p:sp>
        <p:nvSpPr>
          <p:cNvPr id="10" name="">
            <a:extLst xmlns:a="http://schemas.openxmlformats.org/drawingml/2006/main">
              <a:ext uri="{FF2B5EF4-FFF2-40B4-BE49-F238E27FC236}">
                <a16:creationId xmlns:a16="http://schemas.microsoft.com/office/drawing/2014/main" id="{8CB007AF-0147-4C05-8E47-7BDE5016D130}"/>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Чем двунаправленность транспорта отличается от синхронности клиента?</a:t>
            </a:r>
          </a:p>
        </p:txBody>
      </p:sp>
      <p:sp>
        <p:nvSpPr>
          <p:cNvPr id="11" name="">
            <a:extLst xmlns:a="http://schemas.openxmlformats.org/drawingml/2006/main">
              <a:ext uri="{FF2B5EF4-FFF2-40B4-BE49-F238E27FC236}">
                <a16:creationId xmlns:a16="http://schemas.microsoft.com/office/drawing/2014/main" id="{F79AA874-0C4B-4EC5-A81B-C54EECCFD8BA}"/>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Сокеты и протоколы</a:t>
            </a:r>
          </a:p>
        </p:txBody>
      </p:sp>
      <p:sp>
        <p:nvSpPr>
          <p:cNvPr id="12" name="">
            <a:extLst xmlns:a="http://schemas.openxmlformats.org/drawingml/2006/main">
              <a:ext uri="{FF2B5EF4-FFF2-40B4-BE49-F238E27FC236}">
                <a16:creationId xmlns:a16="http://schemas.microsoft.com/office/drawing/2014/main" id="{BAFE6D6F-78AA-4879-8AE3-DF91678495C1}"/>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12 / 66</a:t>
            </a:r>
          </a:p>
        </p:txBody>
      </p:sp>
    </p:spTree>
    <p:extLst>
      <p:ext uri="{BB962C8B-B14F-4D97-AF65-F5344CB8AC3E}">
        <p14:creationId xmlns:p14="http://schemas.microsoft.com/office/powerpoint/2010/main" val="604500080"/>
      </p:ext>
    </p:extLst>
  </p:cSld>
</p:sld>
</file>

<file path=ppt/slides/slide13.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01F372E-C446-45D7-94B6-80D146715636}"/>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IP-адрес, порт и INADDR_ANY</a:t>
            </a:r>
          </a:p>
        </p:txBody>
      </p:sp>
      <p:sp>
        <p:nvSpPr>
          <p:cNvPr id="2" name="">
            <a:extLst xmlns:a="http://schemas.openxmlformats.org/drawingml/2006/main">
              <a:ext uri="{FF2B5EF4-FFF2-40B4-BE49-F238E27FC236}">
                <a16:creationId xmlns:a16="http://schemas.microsoft.com/office/drawing/2014/main" id="{9CAB063F-9B54-4D5D-AE42-91A1915A76DE}"/>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Из чего состоит адрес IPv4-сокета для TCP?</a:t>
            </a:r>
          </a:p>
        </p:txBody>
      </p:sp>
      <p:sp>
        <p:nvSpPr>
          <p:cNvPr id="3" name="">
            <a:extLst xmlns:a="http://schemas.openxmlformats.org/drawingml/2006/main">
              <a:ext uri="{FF2B5EF4-FFF2-40B4-BE49-F238E27FC236}">
                <a16:creationId xmlns:a16="http://schemas.microsoft.com/office/drawing/2014/main" id="{03918262-5A62-4F2B-9986-BA3BE0227424}"/>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Семейство адресов, IPv4-адрес и номер порта.</a:t>
            </a:r>
          </a:p>
        </p:txBody>
      </p:sp>
      <p:sp>
        <p:nvSpPr>
          <p:cNvPr id="4" name="">
            <a:extLst xmlns:a="http://schemas.openxmlformats.org/drawingml/2006/main">
              <a:ext uri="{FF2B5EF4-FFF2-40B4-BE49-F238E27FC236}">
                <a16:creationId xmlns:a16="http://schemas.microsoft.com/office/drawing/2014/main" id="{ACF2E20E-F8D2-469F-8487-4CACC0C0F901}"/>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68  address.sin_family = AF_INET;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69  address.sin_addr.s_addr = htonl(INADDR_ANY);</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70  address.sin_port = htons(port);</a:t>
            </a:r>
          </a:p>
        </p:txBody>
      </p:sp>
      <p:sp>
        <p:nvSpPr>
          <p:cNvPr id="5" name="">
            <a:extLst xmlns:a="http://schemas.openxmlformats.org/drawingml/2006/main">
              <a:ext uri="{FF2B5EF4-FFF2-40B4-BE49-F238E27FC236}">
                <a16:creationId xmlns:a16="http://schemas.microsoft.com/office/drawing/2014/main" id="{564718D9-4554-4B92-8C8D-4F52C1042F00}"/>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src/server/poll_server.cpp:68,69,70</a:t>
            </a:r>
          </a:p>
        </p:txBody>
      </p:sp>
      <p:sp>
        <p:nvSpPr>
          <p:cNvPr id="6" name="">
            <a:extLst xmlns:a="http://schemas.openxmlformats.org/drawingml/2006/main">
              <a:ext uri="{FF2B5EF4-FFF2-40B4-BE49-F238E27FC236}">
                <a16:creationId xmlns:a16="http://schemas.microsoft.com/office/drawing/2014/main" id="{94FBFA47-5FF6-4476-B508-5E70616EBBBE}"/>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означает INADDR_ANY при bind сервера?</a:t>
            </a:r>
          </a:p>
        </p:txBody>
      </p:sp>
      <p:sp>
        <p:nvSpPr>
          <p:cNvPr id="7" name="">
            <a:extLst xmlns:a="http://schemas.openxmlformats.org/drawingml/2006/main">
              <a:ext uri="{FF2B5EF4-FFF2-40B4-BE49-F238E27FC236}">
                <a16:creationId xmlns:a16="http://schemas.microsoft.com/office/drawing/2014/main" id="{895414C4-3453-4436-938B-E1DEAC697371}"/>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Привязку ко всем подходящим локальным IPv4-интерфейсам.</a:t>
            </a:r>
          </a:p>
        </p:txBody>
      </p:sp>
      <p:sp>
        <p:nvSpPr>
          <p:cNvPr id="8" name="">
            <a:extLst xmlns:a="http://schemas.openxmlformats.org/drawingml/2006/main">
              <a:ext uri="{FF2B5EF4-FFF2-40B4-BE49-F238E27FC236}">
                <a16:creationId xmlns:a16="http://schemas.microsoft.com/office/drawing/2014/main" id="{741AC3E9-BE88-4382-B678-88AE684DA00B}"/>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69  address.sin_addr.s_addr = htonl(INADDR_ANY);</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70  address.sin_port = htons(port);</a:t>
            </a:r>
          </a:p>
        </p:txBody>
      </p:sp>
      <p:sp>
        <p:nvSpPr>
          <p:cNvPr id="9" name="">
            <a:extLst xmlns:a="http://schemas.openxmlformats.org/drawingml/2006/main">
              <a:ext uri="{FF2B5EF4-FFF2-40B4-BE49-F238E27FC236}">
                <a16:creationId xmlns:a16="http://schemas.microsoft.com/office/drawing/2014/main" id="{0BA9C5D4-9A45-4B23-AE14-FBF29F5F84CA}"/>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src/server/poll_server.cpp:69,70</a:t>
            </a:r>
          </a:p>
        </p:txBody>
      </p:sp>
      <p:sp>
        <p:nvSpPr>
          <p:cNvPr id="10" name="">
            <a:extLst xmlns:a="http://schemas.openxmlformats.org/drawingml/2006/main">
              <a:ext uri="{FF2B5EF4-FFF2-40B4-BE49-F238E27FC236}">
                <a16:creationId xmlns:a16="http://schemas.microsoft.com/office/drawing/2014/main" id="{06E1AEAF-CA9C-4683-86D4-71B6D826F284}"/>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Почему на одном IP могут работать несколько серверов?</a:t>
            </a:r>
          </a:p>
        </p:txBody>
      </p:sp>
      <p:sp>
        <p:nvSpPr>
          <p:cNvPr id="11" name="">
            <a:extLst xmlns:a="http://schemas.openxmlformats.org/drawingml/2006/main">
              <a:ext uri="{FF2B5EF4-FFF2-40B4-BE49-F238E27FC236}">
                <a16:creationId xmlns:a16="http://schemas.microsoft.com/office/drawing/2014/main" id="{F42150BF-FC04-478F-974C-ADA268AB12D8}"/>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Адреса и типы данных</a:t>
            </a:r>
          </a:p>
        </p:txBody>
      </p:sp>
      <p:sp>
        <p:nvSpPr>
          <p:cNvPr id="12" name="">
            <a:extLst xmlns:a="http://schemas.openxmlformats.org/drawingml/2006/main">
              <a:ext uri="{FF2B5EF4-FFF2-40B4-BE49-F238E27FC236}">
                <a16:creationId xmlns:a16="http://schemas.microsoft.com/office/drawing/2014/main" id="{56FBF61E-477D-4858-960E-E4E6340ADBF6}"/>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13 / 66</a:t>
            </a:r>
          </a:p>
        </p:txBody>
      </p:sp>
    </p:spTree>
    <p:extLst>
      <p:ext uri="{BB962C8B-B14F-4D97-AF65-F5344CB8AC3E}">
        <p14:creationId xmlns:p14="http://schemas.microsoft.com/office/powerpoint/2010/main" val="250717929"/>
      </p:ext>
    </p:extLst>
  </p:cSld>
</p:sld>
</file>

<file path=ppt/slides/slide14.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0197CB8-91BE-40E4-ACE2-623CFCAB6DA2}"/>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Loopback и сетевой порядок байтов</a:t>
            </a:r>
          </a:p>
        </p:txBody>
      </p:sp>
      <p:sp>
        <p:nvSpPr>
          <p:cNvPr id="2" name="">
            <a:extLst xmlns:a="http://schemas.openxmlformats.org/drawingml/2006/main">
              <a:ext uri="{FF2B5EF4-FFF2-40B4-BE49-F238E27FC236}">
                <a16:creationId xmlns:a16="http://schemas.microsoft.com/office/drawing/2014/main" id="{D3431EE4-B609-40CF-A6A7-245FFC507FEC}"/>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Куда ведет адрес 127.0.0.1 на клиентском компьютере?</a:t>
            </a:r>
          </a:p>
        </p:txBody>
      </p:sp>
      <p:sp>
        <p:nvSpPr>
          <p:cNvPr id="3" name="">
            <a:extLst xmlns:a="http://schemas.openxmlformats.org/drawingml/2006/main">
              <a:ext uri="{FF2B5EF4-FFF2-40B4-BE49-F238E27FC236}">
                <a16:creationId xmlns:a16="http://schemas.microsoft.com/office/drawing/2014/main" id="{46190EB2-1C46-46E3-A761-6CD74371476D}"/>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На этот же компьютер через loopback.</a:t>
            </a:r>
          </a:p>
        </p:txBody>
      </p:sp>
      <p:sp>
        <p:nvSpPr>
          <p:cNvPr id="4" name="">
            <a:extLst xmlns:a="http://schemas.openxmlformats.org/drawingml/2006/main">
              <a:ext uri="{FF2B5EF4-FFF2-40B4-BE49-F238E27FC236}">
                <a16:creationId xmlns:a16="http://schemas.microsoft.com/office/drawing/2014/main" id="{86DAC66F-9C46-4651-AFC0-3F95B64F40A7}"/>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53  int code = getaddrinfo(host.c_str(), port.c_str(),</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&amp;hints, &amp;result);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54  if (code != 0) {</a:t>
            </a:r>
          </a:p>
        </p:txBody>
      </p:sp>
      <p:sp>
        <p:nvSpPr>
          <p:cNvPr id="5" name="">
            <a:extLst xmlns:a="http://schemas.openxmlformats.org/drawingml/2006/main">
              <a:ext uri="{FF2B5EF4-FFF2-40B4-BE49-F238E27FC236}">
                <a16:creationId xmlns:a16="http://schemas.microsoft.com/office/drawing/2014/main" id="{621B0B4A-460B-48D4-AF94-861A41D86EC9}"/>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src/client/console_client.cpp:53,54</a:t>
            </a:r>
          </a:p>
        </p:txBody>
      </p:sp>
      <p:sp>
        <p:nvSpPr>
          <p:cNvPr id="6" name="">
            <a:extLst xmlns:a="http://schemas.openxmlformats.org/drawingml/2006/main">
              <a:ext uri="{FF2B5EF4-FFF2-40B4-BE49-F238E27FC236}">
                <a16:creationId xmlns:a16="http://schemas.microsoft.com/office/drawing/2014/main" id="{693A6093-DCD0-47E8-BDE2-67D7ABB537AB}"/>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Зачем сервер вызывает htons(port)?</a:t>
            </a:r>
          </a:p>
        </p:txBody>
      </p:sp>
      <p:sp>
        <p:nvSpPr>
          <p:cNvPr id="7" name="">
            <a:extLst xmlns:a="http://schemas.openxmlformats.org/drawingml/2006/main">
              <a:ext uri="{FF2B5EF4-FFF2-40B4-BE49-F238E27FC236}">
                <a16:creationId xmlns:a16="http://schemas.microsoft.com/office/drawing/2014/main" id="{C0BB5DE0-618C-4F77-BD32-C92186485294}"/>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Чтобы представить 16-битный порт в сетевом порядке байтов.</a:t>
            </a:r>
          </a:p>
        </p:txBody>
      </p:sp>
      <p:sp>
        <p:nvSpPr>
          <p:cNvPr id="8" name="">
            <a:extLst xmlns:a="http://schemas.openxmlformats.org/drawingml/2006/main">
              <a:ext uri="{FF2B5EF4-FFF2-40B4-BE49-F238E27FC236}">
                <a16:creationId xmlns:a16="http://schemas.microsoft.com/office/drawing/2014/main" id="{8D25E990-2420-4ABD-8BEA-6DEADB86B44A}"/>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70  address.sin_port = htons(port);</a:t>
            </a:r>
          </a:p>
        </p:txBody>
      </p:sp>
      <p:sp>
        <p:nvSpPr>
          <p:cNvPr id="9" name="">
            <a:extLst xmlns:a="http://schemas.openxmlformats.org/drawingml/2006/main">
              <a:ext uri="{FF2B5EF4-FFF2-40B4-BE49-F238E27FC236}">
                <a16:creationId xmlns:a16="http://schemas.microsoft.com/office/drawing/2014/main" id="{1B530C52-EE94-4A12-9FDC-1B93E73B9F7B}"/>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src/server/poll_server.cpp:70</a:t>
            </a:r>
          </a:p>
        </p:txBody>
      </p:sp>
      <p:sp>
        <p:nvSpPr>
          <p:cNvPr id="10" name="">
            <a:extLst xmlns:a="http://schemas.openxmlformats.org/drawingml/2006/main">
              <a:ext uri="{FF2B5EF4-FFF2-40B4-BE49-F238E27FC236}">
                <a16:creationId xmlns:a16="http://schemas.microsoft.com/office/drawing/2014/main" id="{02D9FF7E-BA43-4C6A-A746-4A4C1C444AC8}"/>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Почему локальный запуск успешен, а второй компьютер не подключается?</a:t>
            </a:r>
          </a:p>
        </p:txBody>
      </p:sp>
      <p:sp>
        <p:nvSpPr>
          <p:cNvPr id="11" name="">
            <a:extLst xmlns:a="http://schemas.openxmlformats.org/drawingml/2006/main">
              <a:ext uri="{FF2B5EF4-FFF2-40B4-BE49-F238E27FC236}">
                <a16:creationId xmlns:a16="http://schemas.microsoft.com/office/drawing/2014/main" id="{134FD9F2-383E-41D0-BA2A-8B814F3CE72E}"/>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Адреса и типы данных</a:t>
            </a:r>
          </a:p>
        </p:txBody>
      </p:sp>
      <p:sp>
        <p:nvSpPr>
          <p:cNvPr id="12" name="">
            <a:extLst xmlns:a="http://schemas.openxmlformats.org/drawingml/2006/main">
              <a:ext uri="{FF2B5EF4-FFF2-40B4-BE49-F238E27FC236}">
                <a16:creationId xmlns:a16="http://schemas.microsoft.com/office/drawing/2014/main" id="{09A1E63F-6A27-4B87-AE8D-BA8A070DFDCB}"/>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14 / 66</a:t>
            </a:r>
          </a:p>
        </p:txBody>
      </p:sp>
    </p:spTree>
    <p:extLst>
      <p:ext uri="{BB962C8B-B14F-4D97-AF65-F5344CB8AC3E}">
        <p14:creationId xmlns:p14="http://schemas.microsoft.com/office/powerpoint/2010/main" val="1557379051"/>
      </p:ext>
    </p:extLst>
  </p:cSld>
</p:sld>
</file>

<file path=ppt/slides/slide15.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EFAF51D-30E5-48B1-86B1-E58C0BEA91D9}"/>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Адрес клиента и getaddrinfo</a:t>
            </a:r>
          </a:p>
        </p:txBody>
      </p:sp>
      <p:sp>
        <p:nvSpPr>
          <p:cNvPr id="2" name="">
            <a:extLst xmlns:a="http://schemas.openxmlformats.org/drawingml/2006/main">
              <a:ext uri="{FF2B5EF4-FFF2-40B4-BE49-F238E27FC236}">
                <a16:creationId xmlns:a16="http://schemas.microsoft.com/office/drawing/2014/main" id="{0D5DF847-2817-46FD-A9CC-2B2CEA60F7C3}"/>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Когда нужен ntohs?</a:t>
            </a:r>
          </a:p>
        </p:txBody>
      </p:sp>
      <p:sp>
        <p:nvSpPr>
          <p:cNvPr id="3" name="">
            <a:extLst xmlns:a="http://schemas.openxmlformats.org/drawingml/2006/main">
              <a:ext uri="{FF2B5EF4-FFF2-40B4-BE49-F238E27FC236}">
                <a16:creationId xmlns:a16="http://schemas.microsoft.com/office/drawing/2014/main" id="{795D9002-7904-4E57-B88B-A4599B7FE3B7}"/>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Когда сетевое 16-битное значение нужно интерпретировать как число хоста.</a:t>
            </a:r>
          </a:p>
        </p:txBody>
      </p:sp>
      <p:sp>
        <p:nvSpPr>
          <p:cNvPr id="4" name="">
            <a:extLst xmlns:a="http://schemas.openxmlformats.org/drawingml/2006/main">
              <a:ext uri="{FF2B5EF4-FFF2-40B4-BE49-F238E27FC236}">
                <a16:creationId xmlns:a16="http://schemas.microsoft.com/office/drawing/2014/main" id="{D3F6CB9A-8D2C-4909-979F-1C84B3164AA4}"/>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117  sockaddr_in client_address;</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118  socklen_t client_len = sizeof(client_address);</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119  int client_fd = accept(_listen_fd,</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reinterpret_cast&lt;sockaddr*&gt;(&amp;client_address), &amp;</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client_len);</a:t>
            </a:r>
          </a:p>
        </p:txBody>
      </p:sp>
      <p:sp>
        <p:nvSpPr>
          <p:cNvPr id="5" name="">
            <a:extLst xmlns:a="http://schemas.openxmlformats.org/drawingml/2006/main">
              <a:ext uri="{FF2B5EF4-FFF2-40B4-BE49-F238E27FC236}">
                <a16:creationId xmlns:a16="http://schemas.microsoft.com/office/drawing/2014/main" id="{175E0422-57B3-43ED-8188-52093C17B58E}"/>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src/server/poll_server.cpp:117,118,119</a:t>
            </a:r>
          </a:p>
        </p:txBody>
      </p:sp>
      <p:sp>
        <p:nvSpPr>
          <p:cNvPr id="6" name="">
            <a:extLst xmlns:a="http://schemas.openxmlformats.org/drawingml/2006/main">
              <a:ext uri="{FF2B5EF4-FFF2-40B4-BE49-F238E27FC236}">
                <a16:creationId xmlns:a16="http://schemas.microsoft.com/office/drawing/2014/main" id="{F5FCE8A7-7E08-42E5-81AB-0D55F1991427}"/>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Для чего используется getaddrinfo у клиента?</a:t>
            </a:r>
          </a:p>
        </p:txBody>
      </p:sp>
      <p:sp>
        <p:nvSpPr>
          <p:cNvPr id="7" name="">
            <a:extLst xmlns:a="http://schemas.openxmlformats.org/drawingml/2006/main">
              <a:ext uri="{FF2B5EF4-FFF2-40B4-BE49-F238E27FC236}">
                <a16:creationId xmlns:a16="http://schemas.microsoft.com/office/drawing/2014/main" id="{7B6E8A2B-650D-419B-A276-DCEFC78D5E79}"/>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Для получения списка подходящих адресов по имени узла и строке службы или порта.</a:t>
            </a:r>
          </a:p>
        </p:txBody>
      </p:sp>
      <p:sp>
        <p:nvSpPr>
          <p:cNvPr id="8" name="">
            <a:extLst xmlns:a="http://schemas.openxmlformats.org/drawingml/2006/main">
              <a:ext uri="{FF2B5EF4-FFF2-40B4-BE49-F238E27FC236}">
                <a16:creationId xmlns:a16="http://schemas.microsoft.com/office/drawing/2014/main" id="{C3D55C07-632C-41B8-A0D8-3A9C3E6773DF}"/>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52  addrinfo* result = nullptr;</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53  int code = getaddrinfo(host.c_str(), port.c_str(),</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&amp;hints, &amp;result);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54  if (code != 0) {</a:t>
            </a:r>
          </a:p>
        </p:txBody>
      </p:sp>
      <p:sp>
        <p:nvSpPr>
          <p:cNvPr id="9" name="">
            <a:extLst xmlns:a="http://schemas.openxmlformats.org/drawingml/2006/main">
              <a:ext uri="{FF2B5EF4-FFF2-40B4-BE49-F238E27FC236}">
                <a16:creationId xmlns:a16="http://schemas.microsoft.com/office/drawing/2014/main" id="{1D49709D-A0E5-46B2-9BAB-C1710A3537DF}"/>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src/client/console_client.cpp:52,53,54</a:t>
            </a:r>
          </a:p>
        </p:txBody>
      </p:sp>
      <p:sp>
        <p:nvSpPr>
          <p:cNvPr id="10" name="">
            <a:extLst xmlns:a="http://schemas.openxmlformats.org/drawingml/2006/main">
              <a:ext uri="{FF2B5EF4-FFF2-40B4-BE49-F238E27FC236}">
                <a16:creationId xmlns:a16="http://schemas.microsoft.com/office/drawing/2014/main" id="{A45FA72A-5E7B-4FAC-B0F9-95CB420F39FD}"/>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Нужно ли применять ntohs к строке "4040"?</a:t>
            </a:r>
          </a:p>
        </p:txBody>
      </p:sp>
      <p:sp>
        <p:nvSpPr>
          <p:cNvPr id="11" name="">
            <a:extLst xmlns:a="http://schemas.openxmlformats.org/drawingml/2006/main">
              <a:ext uri="{FF2B5EF4-FFF2-40B4-BE49-F238E27FC236}">
                <a16:creationId xmlns:a16="http://schemas.microsoft.com/office/drawing/2014/main" id="{DD68FA98-D28E-47DB-BFC6-C7B2DA0B78A0}"/>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Адреса и типы данных</a:t>
            </a:r>
          </a:p>
        </p:txBody>
      </p:sp>
      <p:sp>
        <p:nvSpPr>
          <p:cNvPr id="12" name="">
            <a:extLst xmlns:a="http://schemas.openxmlformats.org/drawingml/2006/main">
              <a:ext uri="{FF2B5EF4-FFF2-40B4-BE49-F238E27FC236}">
                <a16:creationId xmlns:a16="http://schemas.microsoft.com/office/drawing/2014/main" id="{06D8B694-B49E-4DA8-ABB7-6050C370ACB5}"/>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15 / 66</a:t>
            </a:r>
          </a:p>
        </p:txBody>
      </p:sp>
    </p:spTree>
    <p:extLst>
      <p:ext uri="{BB962C8B-B14F-4D97-AF65-F5344CB8AC3E}">
        <p14:creationId xmlns:p14="http://schemas.microsoft.com/office/powerpoint/2010/main" val="2023116372"/>
      </p:ext>
    </p:extLst>
  </p:cSld>
</p:sld>
</file>

<file path=ppt/slides/slide16.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F3F3A35-1CA6-426D-BC10-692FDD03F63A}"/>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Перебор адресов и освобождение памяти</a:t>
            </a:r>
          </a:p>
        </p:txBody>
      </p:sp>
      <p:sp>
        <p:nvSpPr>
          <p:cNvPr id="2" name="">
            <a:extLst xmlns:a="http://schemas.openxmlformats.org/drawingml/2006/main">
              <a:ext uri="{FF2B5EF4-FFF2-40B4-BE49-F238E27FC236}">
                <a16:creationId xmlns:a16="http://schemas.microsoft.com/office/drawing/2014/main" id="{77D57B11-5A2B-4115-AABD-44D354B08435}"/>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задает AF_UNSPEC в hints клиента?</a:t>
            </a:r>
          </a:p>
        </p:txBody>
      </p:sp>
      <p:sp>
        <p:nvSpPr>
          <p:cNvPr id="3" name="">
            <a:extLst xmlns:a="http://schemas.openxmlformats.org/drawingml/2006/main">
              <a:ext uri="{FF2B5EF4-FFF2-40B4-BE49-F238E27FC236}">
                <a16:creationId xmlns:a16="http://schemas.microsoft.com/office/drawing/2014/main" id="{18A00E82-7C21-453B-A69A-CC2360F3B345}"/>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Разрешает getaddrinfo вернуть адреса разных поддерживаемых семейств.</a:t>
            </a:r>
          </a:p>
        </p:txBody>
      </p:sp>
      <p:sp>
        <p:nvSpPr>
          <p:cNvPr id="4" name="">
            <a:extLst xmlns:a="http://schemas.openxmlformats.org/drawingml/2006/main">
              <a:ext uri="{FF2B5EF4-FFF2-40B4-BE49-F238E27FC236}">
                <a16:creationId xmlns:a16="http://schemas.microsoft.com/office/drawing/2014/main" id="{2F620056-A097-4715-88C5-4AAB4E33C20B}"/>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49  hints.ai_family = AF_UNSPEC;</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50  hints.ai_socktype = SOCK_STREAM;</a:t>
            </a:r>
          </a:p>
        </p:txBody>
      </p:sp>
      <p:sp>
        <p:nvSpPr>
          <p:cNvPr id="5" name="">
            <a:extLst xmlns:a="http://schemas.openxmlformats.org/drawingml/2006/main">
              <a:ext uri="{FF2B5EF4-FFF2-40B4-BE49-F238E27FC236}">
                <a16:creationId xmlns:a16="http://schemas.microsoft.com/office/drawing/2014/main" id="{54E5BD16-3525-4EB3-9C2F-F7B14673C7F7}"/>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src/client/console_client.cpp:49,50</a:t>
            </a:r>
          </a:p>
        </p:txBody>
      </p:sp>
      <p:sp>
        <p:nvSpPr>
          <p:cNvPr id="6" name="">
            <a:extLst xmlns:a="http://schemas.openxmlformats.org/drawingml/2006/main">
              <a:ext uri="{FF2B5EF4-FFF2-40B4-BE49-F238E27FC236}">
                <a16:creationId xmlns:a16="http://schemas.microsoft.com/office/drawing/2014/main" id="{29BD70BD-2333-43BD-94EB-67DF724815C4}"/>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Зачем нужен freeaddrinfo(result)?</a:t>
            </a:r>
          </a:p>
        </p:txBody>
      </p:sp>
      <p:sp>
        <p:nvSpPr>
          <p:cNvPr id="7" name="">
            <a:extLst xmlns:a="http://schemas.openxmlformats.org/drawingml/2006/main">
              <a:ext uri="{FF2B5EF4-FFF2-40B4-BE49-F238E27FC236}">
                <a16:creationId xmlns:a16="http://schemas.microsoft.com/office/drawing/2014/main" id="{A04634CB-C2C3-4A1F-8DA6-94D544A014A8}"/>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Чтобы освободить список адресов, выделенный getaddrinfo.</a:t>
            </a:r>
          </a:p>
        </p:txBody>
      </p:sp>
      <p:sp>
        <p:nvSpPr>
          <p:cNvPr id="8" name="">
            <a:extLst xmlns:a="http://schemas.openxmlformats.org/drawingml/2006/main">
              <a:ext uri="{FF2B5EF4-FFF2-40B4-BE49-F238E27FC236}">
                <a16:creationId xmlns:a16="http://schemas.microsoft.com/office/drawing/2014/main" id="{39BF95D3-DBCE-4276-89AD-8D25DA5C1775}"/>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69  freeaddrinfo(result);</a:t>
            </a:r>
          </a:p>
        </p:txBody>
      </p:sp>
      <p:sp>
        <p:nvSpPr>
          <p:cNvPr id="9" name="">
            <a:extLst xmlns:a="http://schemas.openxmlformats.org/drawingml/2006/main">
              <a:ext uri="{FF2B5EF4-FFF2-40B4-BE49-F238E27FC236}">
                <a16:creationId xmlns:a16="http://schemas.microsoft.com/office/drawing/2014/main" id="{B390C272-1E45-4CF3-A4F7-EA3818FB6B3E}"/>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src/client/console_client.cpp:69</a:t>
            </a:r>
          </a:p>
        </p:txBody>
      </p:sp>
      <p:sp>
        <p:nvSpPr>
          <p:cNvPr id="10" name="">
            <a:extLst xmlns:a="http://schemas.openxmlformats.org/drawingml/2006/main">
              <a:ext uri="{FF2B5EF4-FFF2-40B4-BE49-F238E27FC236}">
                <a16:creationId xmlns:a16="http://schemas.microsoft.com/office/drawing/2014/main" id="{85857685-92AB-461E-A557-69D693751E0B}"/>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Почему localhost может разрешаться в несколько адресов?</a:t>
            </a:r>
          </a:p>
        </p:txBody>
      </p:sp>
      <p:sp>
        <p:nvSpPr>
          <p:cNvPr id="11" name="">
            <a:extLst xmlns:a="http://schemas.openxmlformats.org/drawingml/2006/main">
              <a:ext uri="{FF2B5EF4-FFF2-40B4-BE49-F238E27FC236}">
                <a16:creationId xmlns:a16="http://schemas.microsoft.com/office/drawing/2014/main" id="{3D1B296E-003B-43CF-8406-1E3646FE19E8}"/>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Адреса и типы данных</a:t>
            </a:r>
          </a:p>
        </p:txBody>
      </p:sp>
      <p:sp>
        <p:nvSpPr>
          <p:cNvPr id="12" name="">
            <a:extLst xmlns:a="http://schemas.openxmlformats.org/drawingml/2006/main">
              <a:ext uri="{FF2B5EF4-FFF2-40B4-BE49-F238E27FC236}">
                <a16:creationId xmlns:a16="http://schemas.microsoft.com/office/drawing/2014/main" id="{083A7CAC-5C1F-4F7E-B187-C48BC33182EE}"/>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16 / 66</a:t>
            </a:r>
          </a:p>
        </p:txBody>
      </p:sp>
    </p:spTree>
    <p:extLst>
      <p:ext uri="{BB962C8B-B14F-4D97-AF65-F5344CB8AC3E}">
        <p14:creationId xmlns:p14="http://schemas.microsoft.com/office/powerpoint/2010/main" val="415058461"/>
      </p:ext>
    </p:extLst>
  </p:cSld>
</p:sld>
</file>

<file path=ppt/slides/slide17.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D0C919C-FA83-4EBE-83B6-8ADD1985300E}"/>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sockaddr и параметр длины</a:t>
            </a:r>
          </a:p>
        </p:txBody>
      </p:sp>
      <p:sp>
        <p:nvSpPr>
          <p:cNvPr id="2" name="">
            <a:extLst xmlns:a="http://schemas.openxmlformats.org/drawingml/2006/main">
              <a:ext uri="{FF2B5EF4-FFF2-40B4-BE49-F238E27FC236}">
                <a16:creationId xmlns:a16="http://schemas.microsoft.com/office/drawing/2014/main" id="{12EC57F7-1E21-40D8-BA5F-300500F0AA88}"/>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Почему sockaddr_in приводится к sockaddr*?</a:t>
            </a:r>
          </a:p>
        </p:txBody>
      </p:sp>
      <p:sp>
        <p:nvSpPr>
          <p:cNvPr id="3" name="">
            <a:extLst xmlns:a="http://schemas.openxmlformats.org/drawingml/2006/main">
              <a:ext uri="{FF2B5EF4-FFF2-40B4-BE49-F238E27FC236}">
                <a16:creationId xmlns:a16="http://schemas.microsoft.com/office/drawing/2014/main" id="{413B2F85-C853-4C1D-83C6-93F46EF3B664}"/>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Потому что общий API принимает указатель на адрес разных семейств.</a:t>
            </a:r>
          </a:p>
        </p:txBody>
      </p:sp>
      <p:sp>
        <p:nvSpPr>
          <p:cNvPr id="4" name="">
            <a:extLst xmlns:a="http://schemas.openxmlformats.org/drawingml/2006/main">
              <a:ext uri="{FF2B5EF4-FFF2-40B4-BE49-F238E27FC236}">
                <a16:creationId xmlns:a16="http://schemas.microsoft.com/office/drawing/2014/main" id="{4E762F44-D4B4-4F90-ACC8-948E058D4DA7}"/>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72  if (bind(_listen_fd, reinterpret_cast&lt;sockaddr*&gt;(&amp;</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address), sizeof(address)) &lt; 0)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73  throw std::runtime_error(errno_message(</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"bind(2) error"));</a:t>
            </a:r>
          </a:p>
        </p:txBody>
      </p:sp>
      <p:sp>
        <p:nvSpPr>
          <p:cNvPr id="5" name="">
            <a:extLst xmlns:a="http://schemas.openxmlformats.org/drawingml/2006/main">
              <a:ext uri="{FF2B5EF4-FFF2-40B4-BE49-F238E27FC236}">
                <a16:creationId xmlns:a16="http://schemas.microsoft.com/office/drawing/2014/main" id="{21C0BFA1-D03A-4118-A86B-F26168F96C9F}"/>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src/server/poll_server.cpp:72,73</a:t>
            </a:r>
          </a:p>
        </p:txBody>
      </p:sp>
      <p:sp>
        <p:nvSpPr>
          <p:cNvPr id="6" name="">
            <a:extLst xmlns:a="http://schemas.openxmlformats.org/drawingml/2006/main">
              <a:ext uri="{FF2B5EF4-FFF2-40B4-BE49-F238E27FC236}">
                <a16:creationId xmlns:a16="http://schemas.microsoft.com/office/drawing/2014/main" id="{CC5AB2C4-B1E5-4CF4-834D-7D19001E5036}"/>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Почему accept получает socklen_t*, а connect получает длину по значению?</a:t>
            </a:r>
          </a:p>
        </p:txBody>
      </p:sp>
      <p:sp>
        <p:nvSpPr>
          <p:cNvPr id="7" name="">
            <a:extLst xmlns:a="http://schemas.openxmlformats.org/drawingml/2006/main">
              <a:ext uri="{FF2B5EF4-FFF2-40B4-BE49-F238E27FC236}">
                <a16:creationId xmlns:a16="http://schemas.microsoft.com/office/drawing/2014/main" id="{BB20873E-8FCC-43BB-8417-42259DDCA124}"/>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accept записывает адрес и его фактическую длину, connect только читает готовый адрес.</a:t>
            </a:r>
          </a:p>
        </p:txBody>
      </p:sp>
      <p:sp>
        <p:nvSpPr>
          <p:cNvPr id="8" name="">
            <a:extLst xmlns:a="http://schemas.openxmlformats.org/drawingml/2006/main">
              <a:ext uri="{FF2B5EF4-FFF2-40B4-BE49-F238E27FC236}">
                <a16:creationId xmlns:a16="http://schemas.microsoft.com/office/drawing/2014/main" id="{9521A6BF-4643-4F73-85F6-A5640C55A178}"/>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118  socklen_t client_len = sizeof(client_address);</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119  int client_fd = accept(_listen_fd,</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reinterpret_cast&lt;sockaddr*&gt;(&amp;client_address), &amp;</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client_len);</a:t>
            </a:r>
          </a:p>
        </p:txBody>
      </p:sp>
      <p:sp>
        <p:nvSpPr>
          <p:cNvPr id="9" name="">
            <a:extLst xmlns:a="http://schemas.openxmlformats.org/drawingml/2006/main">
              <a:ext uri="{FF2B5EF4-FFF2-40B4-BE49-F238E27FC236}">
                <a16:creationId xmlns:a16="http://schemas.microsoft.com/office/drawing/2014/main" id="{3BB04AFB-CE2E-43F5-AB08-043577879E55}"/>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src/server/poll_server.cpp:118,119</a:t>
            </a:r>
          </a:p>
        </p:txBody>
      </p:sp>
      <p:sp>
        <p:nvSpPr>
          <p:cNvPr id="10" name="">
            <a:extLst xmlns:a="http://schemas.openxmlformats.org/drawingml/2006/main">
              <a:ext uri="{FF2B5EF4-FFF2-40B4-BE49-F238E27FC236}">
                <a16:creationId xmlns:a16="http://schemas.microsoft.com/office/drawing/2014/main" id="{20D66A23-150F-4F61-A601-434E1984CD9E}"/>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Какие еще сведения кроме указателя передаются в bind?</a:t>
            </a:r>
          </a:p>
        </p:txBody>
      </p:sp>
      <p:sp>
        <p:nvSpPr>
          <p:cNvPr id="11" name="">
            <a:extLst xmlns:a="http://schemas.openxmlformats.org/drawingml/2006/main">
              <a:ext uri="{FF2B5EF4-FFF2-40B4-BE49-F238E27FC236}">
                <a16:creationId xmlns:a16="http://schemas.microsoft.com/office/drawing/2014/main" id="{51B42B67-E0DC-49C3-B989-51D33DFF8394}"/>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Адреса и типы данных</a:t>
            </a:r>
          </a:p>
        </p:txBody>
      </p:sp>
      <p:sp>
        <p:nvSpPr>
          <p:cNvPr id="12" name="">
            <a:extLst xmlns:a="http://schemas.openxmlformats.org/drawingml/2006/main">
              <a:ext uri="{FF2B5EF4-FFF2-40B4-BE49-F238E27FC236}">
                <a16:creationId xmlns:a16="http://schemas.microsoft.com/office/drawing/2014/main" id="{059539EC-AF09-43C4-BA7E-8263789A107B}"/>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17 / 66</a:t>
            </a:r>
          </a:p>
        </p:txBody>
      </p:sp>
    </p:spTree>
    <p:extLst>
      <p:ext uri="{BB962C8B-B14F-4D97-AF65-F5344CB8AC3E}">
        <p14:creationId xmlns:p14="http://schemas.microsoft.com/office/powerpoint/2010/main" val="932894640"/>
      </p:ext>
    </p:extLst>
  </p:cSld>
</p:sld>
</file>

<file path=ppt/slides/slide18.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8BE59B5-EFCE-4056-BFB3-1DAA1B0BDB5D}"/>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Подготовка слушающего сокета</a:t>
            </a:r>
          </a:p>
        </p:txBody>
      </p:sp>
      <p:sp>
        <p:nvSpPr>
          <p:cNvPr id="2" name="">
            <a:extLst xmlns:a="http://schemas.openxmlformats.org/drawingml/2006/main">
              <a:ext uri="{FF2B5EF4-FFF2-40B4-BE49-F238E27FC236}">
                <a16:creationId xmlns:a16="http://schemas.microsoft.com/office/drawing/2014/main" id="{C1383DB8-4B6F-4D28-93CB-3D376C06E9ED}"/>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Каков порядок подготовки слушающего сокета?</a:t>
            </a:r>
          </a:p>
        </p:txBody>
      </p:sp>
      <p:sp>
        <p:nvSpPr>
          <p:cNvPr id="3" name="">
            <a:extLst xmlns:a="http://schemas.openxmlformats.org/drawingml/2006/main">
              <a:ext uri="{FF2B5EF4-FFF2-40B4-BE49-F238E27FC236}">
                <a16:creationId xmlns:a16="http://schemas.microsoft.com/office/drawing/2014/main" id="{90DD0A25-FFBD-42B0-8E72-BC4DE87E0FB2}"/>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socket, настройка адреса, bind, listen.</a:t>
            </a:r>
          </a:p>
        </p:txBody>
      </p:sp>
      <p:sp>
        <p:nvSpPr>
          <p:cNvPr id="4" name="">
            <a:extLst xmlns:a="http://schemas.openxmlformats.org/drawingml/2006/main">
              <a:ext uri="{FF2B5EF4-FFF2-40B4-BE49-F238E27FC236}">
                <a16:creationId xmlns:a16="http://schemas.microsoft.com/office/drawing/2014/main" id="{F18088EE-BEFD-4B91-B9F2-795A4BA58F35}"/>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72  if (bind(_listen_fd, reinterpret_cast&lt;sockaddr*&gt;(&amp;</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address), sizeof(address)) &lt; 0)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73  throw std::runtime_error(errno_message(</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"bind(2) error"));</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74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75  if (listen(_listen_fd, SOMAXCONN) &lt; 0) {</a:t>
            </a:r>
          </a:p>
        </p:txBody>
      </p:sp>
      <p:sp>
        <p:nvSpPr>
          <p:cNvPr id="5" name="">
            <a:extLst xmlns:a="http://schemas.openxmlformats.org/drawingml/2006/main">
              <a:ext uri="{FF2B5EF4-FFF2-40B4-BE49-F238E27FC236}">
                <a16:creationId xmlns:a16="http://schemas.microsoft.com/office/drawing/2014/main" id="{5ACF2F96-3D4E-47FB-BBC9-1632DF3D4C73}"/>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src/server/poll_server.cpp:72,73,74,75</a:t>
            </a:r>
          </a:p>
        </p:txBody>
      </p:sp>
      <p:sp>
        <p:nvSpPr>
          <p:cNvPr id="6" name="">
            <a:extLst xmlns:a="http://schemas.openxmlformats.org/drawingml/2006/main">
              <a:ext uri="{FF2B5EF4-FFF2-40B4-BE49-F238E27FC236}">
                <a16:creationId xmlns:a16="http://schemas.microsoft.com/office/drawing/2014/main" id="{EB721589-C3C8-4B7D-AAB9-1B694D57092E}"/>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делает bind?</a:t>
            </a:r>
          </a:p>
        </p:txBody>
      </p:sp>
      <p:sp>
        <p:nvSpPr>
          <p:cNvPr id="7" name="">
            <a:extLst xmlns:a="http://schemas.openxmlformats.org/drawingml/2006/main">
              <a:ext uri="{FF2B5EF4-FFF2-40B4-BE49-F238E27FC236}">
                <a16:creationId xmlns:a16="http://schemas.microsoft.com/office/drawing/2014/main" id="{5D5CDC8E-E4E4-486B-A3F8-3C7B8162A6F2}"/>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Связывает сокет с локальным адресом и портом.</a:t>
            </a:r>
          </a:p>
        </p:txBody>
      </p:sp>
      <p:sp>
        <p:nvSpPr>
          <p:cNvPr id="8" name="">
            <a:extLst xmlns:a="http://schemas.openxmlformats.org/drawingml/2006/main">
              <a:ext uri="{FF2B5EF4-FFF2-40B4-BE49-F238E27FC236}">
                <a16:creationId xmlns:a16="http://schemas.microsoft.com/office/drawing/2014/main" id="{6F33EE81-810A-46C5-A6C2-73DDD0F8539B}"/>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72  if (bind(_listen_fd, reinterpret_cast&lt;sockaddr*&gt;(&amp;</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address), sizeof(address)) &lt; 0)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73  throw std::runtime_error(errno_message(</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"bind(2) error"));</a:t>
            </a:r>
          </a:p>
        </p:txBody>
      </p:sp>
      <p:sp>
        <p:nvSpPr>
          <p:cNvPr id="9" name="">
            <a:extLst xmlns:a="http://schemas.openxmlformats.org/drawingml/2006/main">
              <a:ext uri="{FF2B5EF4-FFF2-40B4-BE49-F238E27FC236}">
                <a16:creationId xmlns:a16="http://schemas.microsoft.com/office/drawing/2014/main" id="{78CD2CF7-FF9E-421C-A341-20C69B1C2F25}"/>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src/server/poll_server.cpp:72,73</a:t>
            </a:r>
          </a:p>
        </p:txBody>
      </p:sp>
      <p:sp>
        <p:nvSpPr>
          <p:cNvPr id="10" name="">
            <a:extLst xmlns:a="http://schemas.openxmlformats.org/drawingml/2006/main">
              <a:ext uri="{FF2B5EF4-FFF2-40B4-BE49-F238E27FC236}">
                <a16:creationId xmlns:a16="http://schemas.microsoft.com/office/drawing/2014/main" id="{0577B97B-E594-46CF-92E5-9110D697C38A}"/>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Назови результат и возможную ошибку каждого шага.</a:t>
            </a:r>
          </a:p>
        </p:txBody>
      </p:sp>
      <p:sp>
        <p:nvSpPr>
          <p:cNvPr id="11" name="">
            <a:extLst xmlns:a="http://schemas.openxmlformats.org/drawingml/2006/main">
              <a:ext uri="{FF2B5EF4-FFF2-40B4-BE49-F238E27FC236}">
                <a16:creationId xmlns:a16="http://schemas.microsoft.com/office/drawing/2014/main" id="{32FBCDA9-E96F-4891-8BD2-E764A115E8C8}"/>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Установка соединения</a:t>
            </a:r>
          </a:p>
        </p:txBody>
      </p:sp>
      <p:sp>
        <p:nvSpPr>
          <p:cNvPr id="12" name="">
            <a:extLst xmlns:a="http://schemas.openxmlformats.org/drawingml/2006/main">
              <a:ext uri="{FF2B5EF4-FFF2-40B4-BE49-F238E27FC236}">
                <a16:creationId xmlns:a16="http://schemas.microsoft.com/office/drawing/2014/main" id="{4ED738A3-20DD-47DA-9355-980210EFACE5}"/>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18 / 66</a:t>
            </a:r>
          </a:p>
        </p:txBody>
      </p:sp>
    </p:spTree>
    <p:extLst>
      <p:ext uri="{BB962C8B-B14F-4D97-AF65-F5344CB8AC3E}">
        <p14:creationId xmlns:p14="http://schemas.microsoft.com/office/powerpoint/2010/main" val="2122177953"/>
      </p:ext>
    </p:extLst>
  </p:cSld>
</p:sld>
</file>

<file path=ppt/slides/slide19.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BEF16CA-5459-49FC-8E79-623F83C6DE52}"/>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listen и очередь подключений</a:t>
            </a:r>
          </a:p>
        </p:txBody>
      </p:sp>
      <p:sp>
        <p:nvSpPr>
          <p:cNvPr id="2" name="">
            <a:extLst xmlns:a="http://schemas.openxmlformats.org/drawingml/2006/main">
              <a:ext uri="{FF2B5EF4-FFF2-40B4-BE49-F238E27FC236}">
                <a16:creationId xmlns:a16="http://schemas.microsoft.com/office/drawing/2014/main" id="{7129D551-0512-45D7-8027-B13A9796D22B}"/>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делает listen?</a:t>
            </a:r>
          </a:p>
        </p:txBody>
      </p:sp>
      <p:sp>
        <p:nvSpPr>
          <p:cNvPr id="3" name="">
            <a:extLst xmlns:a="http://schemas.openxmlformats.org/drawingml/2006/main">
              <a:ext uri="{FF2B5EF4-FFF2-40B4-BE49-F238E27FC236}">
                <a16:creationId xmlns:a16="http://schemas.microsoft.com/office/drawing/2014/main" id="{BCA970B4-918D-4DEA-BF27-B209AB311F02}"/>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Переводит сокет в пассивное состояние для приема соединений.</a:t>
            </a:r>
          </a:p>
        </p:txBody>
      </p:sp>
      <p:sp>
        <p:nvSpPr>
          <p:cNvPr id="4" name="">
            <a:extLst xmlns:a="http://schemas.openxmlformats.org/drawingml/2006/main">
              <a:ext uri="{FF2B5EF4-FFF2-40B4-BE49-F238E27FC236}">
                <a16:creationId xmlns:a16="http://schemas.microsoft.com/office/drawing/2014/main" id="{F78C7009-19BC-40E6-BEBC-A86C44D05216}"/>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75  if (listen(_listen_fd, SOMAXCONN) &lt; 0)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76  throw std::runtime_error(errno_message(</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"listen(2) error"));</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77  }</a:t>
            </a:r>
          </a:p>
        </p:txBody>
      </p:sp>
      <p:sp>
        <p:nvSpPr>
          <p:cNvPr id="5" name="">
            <a:extLst xmlns:a="http://schemas.openxmlformats.org/drawingml/2006/main">
              <a:ext uri="{FF2B5EF4-FFF2-40B4-BE49-F238E27FC236}">
                <a16:creationId xmlns:a16="http://schemas.microsoft.com/office/drawing/2014/main" id="{BC42C8CC-B37D-4CAC-86FF-1BB02BFDE21D}"/>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src/server/poll_server.cpp:75,76,77</a:t>
            </a:r>
          </a:p>
        </p:txBody>
      </p:sp>
      <p:sp>
        <p:nvSpPr>
          <p:cNvPr id="6" name="">
            <a:extLst xmlns:a="http://schemas.openxmlformats.org/drawingml/2006/main">
              <a:ext uri="{FF2B5EF4-FFF2-40B4-BE49-F238E27FC236}">
                <a16:creationId xmlns:a16="http://schemas.microsoft.com/office/drawing/2014/main" id="{793259E1-779C-4461-99E9-FC93B3C2B4D0}"/>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ограничивает параметр backlog у listen?</a:t>
            </a:r>
          </a:p>
        </p:txBody>
      </p:sp>
      <p:sp>
        <p:nvSpPr>
          <p:cNvPr id="7" name="">
            <a:extLst xmlns:a="http://schemas.openxmlformats.org/drawingml/2006/main">
              <a:ext uri="{FF2B5EF4-FFF2-40B4-BE49-F238E27FC236}">
                <a16:creationId xmlns:a16="http://schemas.microsoft.com/office/drawing/2014/main" id="{3529A544-5451-462E-B116-7DE6DD298396}"/>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Очередь ожидающих приема соединений с учетом ограничений ОС.</a:t>
            </a:r>
          </a:p>
        </p:txBody>
      </p:sp>
      <p:sp>
        <p:nvSpPr>
          <p:cNvPr id="8" name="">
            <a:extLst xmlns:a="http://schemas.openxmlformats.org/drawingml/2006/main">
              <a:ext uri="{FF2B5EF4-FFF2-40B4-BE49-F238E27FC236}">
                <a16:creationId xmlns:a16="http://schemas.microsoft.com/office/drawing/2014/main" id="{01061653-6028-49B3-A545-F2F8D0B3D9FA}"/>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75  if (listen(_listen_fd, SOMAXCONN) &lt; 0) {</a:t>
            </a:r>
          </a:p>
        </p:txBody>
      </p:sp>
      <p:sp>
        <p:nvSpPr>
          <p:cNvPr id="9" name="">
            <a:extLst xmlns:a="http://schemas.openxmlformats.org/drawingml/2006/main">
              <a:ext uri="{FF2B5EF4-FFF2-40B4-BE49-F238E27FC236}">
                <a16:creationId xmlns:a16="http://schemas.microsoft.com/office/drawing/2014/main" id="{26BBCF79-717B-40D1-93FA-DEB16B2637F2}"/>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src/server/poll_server.cpp:75</a:t>
            </a:r>
          </a:p>
        </p:txBody>
      </p:sp>
      <p:sp>
        <p:nvSpPr>
          <p:cNvPr id="10" name="">
            <a:extLst xmlns:a="http://schemas.openxmlformats.org/drawingml/2006/main">
              <a:ext uri="{FF2B5EF4-FFF2-40B4-BE49-F238E27FC236}">
                <a16:creationId xmlns:a16="http://schemas.microsoft.com/office/drawing/2014/main" id="{659D6474-47FD-42B9-907C-4CC1216DEC6B}"/>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Чем очередь listen отличается от input клиента?</a:t>
            </a:r>
          </a:p>
        </p:txBody>
      </p:sp>
      <p:sp>
        <p:nvSpPr>
          <p:cNvPr id="11" name="">
            <a:extLst xmlns:a="http://schemas.openxmlformats.org/drawingml/2006/main">
              <a:ext uri="{FF2B5EF4-FFF2-40B4-BE49-F238E27FC236}">
                <a16:creationId xmlns:a16="http://schemas.microsoft.com/office/drawing/2014/main" id="{5D73BD79-4C11-4D4E-B3A2-8F9DD7F940EE}"/>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Установка соединения</a:t>
            </a:r>
          </a:p>
        </p:txBody>
      </p:sp>
      <p:sp>
        <p:nvSpPr>
          <p:cNvPr id="12" name="">
            <a:extLst xmlns:a="http://schemas.openxmlformats.org/drawingml/2006/main">
              <a:ext uri="{FF2B5EF4-FFF2-40B4-BE49-F238E27FC236}">
                <a16:creationId xmlns:a16="http://schemas.microsoft.com/office/drawing/2014/main" id="{678B5147-B51D-4D77-A263-D74AAB2782FC}"/>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19 / 66</a:t>
            </a:r>
          </a:p>
        </p:txBody>
      </p:sp>
    </p:spTree>
    <p:extLst>
      <p:ext uri="{BB962C8B-B14F-4D97-AF65-F5344CB8AC3E}">
        <p14:creationId xmlns:p14="http://schemas.microsoft.com/office/powerpoint/2010/main" val="1231331584"/>
      </p:ext>
    </p:extLst>
  </p:cSld>
</p:sld>
</file>

<file path=ppt/slides/slide20.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A52DA42-6579-42F0-9065-6D5792ECF104}"/>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Два разных дескриптора сервера</a:t>
            </a:r>
          </a:p>
        </p:txBody>
      </p:sp>
      <p:sp>
        <p:nvSpPr>
          <p:cNvPr id="2" name="">
            <a:extLst xmlns:a="http://schemas.openxmlformats.org/drawingml/2006/main">
              <a:ext uri="{FF2B5EF4-FFF2-40B4-BE49-F238E27FC236}">
                <a16:creationId xmlns:a16="http://schemas.microsoft.com/office/drawing/2014/main" id="{3A890921-997B-4B87-BB4C-507EBC043D4F}"/>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возвращает accept при успехе?</a:t>
            </a:r>
          </a:p>
        </p:txBody>
      </p:sp>
      <p:sp>
        <p:nvSpPr>
          <p:cNvPr id="3" name="">
            <a:extLst xmlns:a="http://schemas.openxmlformats.org/drawingml/2006/main">
              <a:ext uri="{FF2B5EF4-FFF2-40B4-BE49-F238E27FC236}">
                <a16:creationId xmlns:a16="http://schemas.microsoft.com/office/drawing/2014/main" id="{1DD9194C-D3C6-4352-9715-48066FB0AF49}"/>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Новый дескриптор соединенного с клиентом сокета.</a:t>
            </a:r>
          </a:p>
        </p:txBody>
      </p:sp>
      <p:sp>
        <p:nvSpPr>
          <p:cNvPr id="4" name="">
            <a:extLst xmlns:a="http://schemas.openxmlformats.org/drawingml/2006/main">
              <a:ext uri="{FF2B5EF4-FFF2-40B4-BE49-F238E27FC236}">
                <a16:creationId xmlns:a16="http://schemas.microsoft.com/office/drawing/2014/main" id="{9231C92A-EC0A-49AA-AF79-532FA9016214}"/>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119  int client_fd = accept(_listen_fd,</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reinterpret_cast&lt;sockaddr*&gt;(&amp;client_address), &amp;</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client_len);</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120  if (client_fd &lt; 0) {</a:t>
            </a:r>
          </a:p>
        </p:txBody>
      </p:sp>
      <p:sp>
        <p:nvSpPr>
          <p:cNvPr id="5" name="">
            <a:extLst xmlns:a="http://schemas.openxmlformats.org/drawingml/2006/main">
              <a:ext uri="{FF2B5EF4-FFF2-40B4-BE49-F238E27FC236}">
                <a16:creationId xmlns:a16="http://schemas.microsoft.com/office/drawing/2014/main" id="{19AD69A3-E656-46F4-9380-D84C0EE32454}"/>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src/server/poll_server.cpp:119,120</a:t>
            </a:r>
          </a:p>
        </p:txBody>
      </p:sp>
      <p:sp>
        <p:nvSpPr>
          <p:cNvPr id="6" name="">
            <a:extLst xmlns:a="http://schemas.openxmlformats.org/drawingml/2006/main">
              <a:ext uri="{FF2B5EF4-FFF2-40B4-BE49-F238E27FC236}">
                <a16:creationId xmlns:a16="http://schemas.microsoft.com/office/drawing/2014/main" id="{A2F21B2A-F298-43BD-94D1-D10789CA36E3}"/>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Зачем слушающий сокет остается открытым после accept?</a:t>
            </a:r>
          </a:p>
        </p:txBody>
      </p:sp>
      <p:sp>
        <p:nvSpPr>
          <p:cNvPr id="7" name="">
            <a:extLst xmlns:a="http://schemas.openxmlformats.org/drawingml/2006/main">
              <a:ext uri="{FF2B5EF4-FFF2-40B4-BE49-F238E27FC236}">
                <a16:creationId xmlns:a16="http://schemas.microsoft.com/office/drawing/2014/main" id="{3FE577F1-F74D-405F-AA0F-5B8223CF8A5F}"/>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Чтобы принимать следующие соединения.</a:t>
            </a:r>
          </a:p>
        </p:txBody>
      </p:sp>
      <p:sp>
        <p:nvSpPr>
          <p:cNvPr id="8" name="">
            <a:extLst xmlns:a="http://schemas.openxmlformats.org/drawingml/2006/main">
              <a:ext uri="{FF2B5EF4-FFF2-40B4-BE49-F238E27FC236}">
                <a16:creationId xmlns:a16="http://schemas.microsoft.com/office/drawing/2014/main" id="{B550190E-5A71-480F-B6CB-EC51B17D565E}"/>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129  client.fd = client_fd;</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130  client.output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"OK Подключение установлено. Отправьте: HELLO &lt;имя&gt;\n"</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131  _clients.push_back(client);</a:t>
            </a:r>
          </a:p>
        </p:txBody>
      </p:sp>
      <p:sp>
        <p:nvSpPr>
          <p:cNvPr id="9" name="">
            <a:extLst xmlns:a="http://schemas.openxmlformats.org/drawingml/2006/main">
              <a:ext uri="{FF2B5EF4-FFF2-40B4-BE49-F238E27FC236}">
                <a16:creationId xmlns:a16="http://schemas.microsoft.com/office/drawing/2014/main" id="{598580F0-F0D7-4E2E-B9EF-622E5038CE97}"/>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src/server/poll_server.cpp:129,130,131</a:t>
            </a:r>
          </a:p>
        </p:txBody>
      </p:sp>
      <p:sp>
        <p:nvSpPr>
          <p:cNvPr id="10" name="">
            <a:extLst xmlns:a="http://schemas.openxmlformats.org/drawingml/2006/main">
              <a:ext uri="{FF2B5EF4-FFF2-40B4-BE49-F238E27FC236}">
                <a16:creationId xmlns:a16="http://schemas.microsoft.com/office/drawing/2014/main" id="{AAB26C43-C3F3-4CFC-B923-7C4FF1BFE24A}"/>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Каким fd отправляют приветствие и почему?</a:t>
            </a:r>
          </a:p>
        </p:txBody>
      </p:sp>
      <p:sp>
        <p:nvSpPr>
          <p:cNvPr id="11" name="">
            <a:extLst xmlns:a="http://schemas.openxmlformats.org/drawingml/2006/main">
              <a:ext uri="{FF2B5EF4-FFF2-40B4-BE49-F238E27FC236}">
                <a16:creationId xmlns:a16="http://schemas.microsoft.com/office/drawing/2014/main" id="{251A3BE7-8080-49CA-B756-8BC950599810}"/>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Установка соединения</a:t>
            </a:r>
          </a:p>
        </p:txBody>
      </p:sp>
      <p:sp>
        <p:nvSpPr>
          <p:cNvPr id="12" name="">
            <a:extLst xmlns:a="http://schemas.openxmlformats.org/drawingml/2006/main">
              <a:ext uri="{FF2B5EF4-FFF2-40B4-BE49-F238E27FC236}">
                <a16:creationId xmlns:a16="http://schemas.microsoft.com/office/drawing/2014/main" id="{FB086C45-3600-48C4-BDC9-05F6C3E00FE0}"/>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20 / 66</a:t>
            </a:r>
          </a:p>
        </p:txBody>
      </p:sp>
    </p:spTree>
    <p:extLst>
      <p:ext uri="{BB962C8B-B14F-4D97-AF65-F5344CB8AC3E}">
        <p14:creationId xmlns:p14="http://schemas.microsoft.com/office/powerpoint/2010/main" val="604251173"/>
      </p:ext>
    </p:extLst>
  </p:cSld>
</p:sld>
</file>

<file path=ppt/slides/slide21.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F497F07-6DAC-4DC2-B8B2-A94EE895E082}"/>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connect и TCP-рукопожатие</a:t>
            </a:r>
          </a:p>
        </p:txBody>
      </p:sp>
      <p:sp>
        <p:nvSpPr>
          <p:cNvPr id="2" name="">
            <a:extLst xmlns:a="http://schemas.openxmlformats.org/drawingml/2006/main">
              <a:ext uri="{FF2B5EF4-FFF2-40B4-BE49-F238E27FC236}">
                <a16:creationId xmlns:a16="http://schemas.microsoft.com/office/drawing/2014/main" id="{CD2D79DF-558C-42D3-A0E5-B94A427180C1}"/>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означает успешный connect у блокирующего клиента?</a:t>
            </a:r>
          </a:p>
        </p:txBody>
      </p:sp>
      <p:sp>
        <p:nvSpPr>
          <p:cNvPr id="3" name="">
            <a:extLst xmlns:a="http://schemas.openxmlformats.org/drawingml/2006/main">
              <a:ext uri="{FF2B5EF4-FFF2-40B4-BE49-F238E27FC236}">
                <a16:creationId xmlns:a16="http://schemas.microsoft.com/office/drawing/2014/main" id="{0DF691FE-D06A-4D0A-9615-5E3C29624F14}"/>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Соединение установлено, можно обмениваться байтами.</a:t>
            </a:r>
          </a:p>
        </p:txBody>
      </p:sp>
      <p:sp>
        <p:nvSpPr>
          <p:cNvPr id="4" name="">
            <a:extLst xmlns:a="http://schemas.openxmlformats.org/drawingml/2006/main">
              <a:ext uri="{FF2B5EF4-FFF2-40B4-BE49-F238E27FC236}">
                <a16:creationId xmlns:a16="http://schemas.microsoft.com/office/drawing/2014/main" id="{6D5F8652-DF73-46D0-9915-77E76D853F0E}"/>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63  if (connect(_socket, item-&gt;ai_addr, item-&gt;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ai_addrlen) == 0)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64  break;</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65  }</a:t>
            </a:r>
          </a:p>
        </p:txBody>
      </p:sp>
      <p:sp>
        <p:nvSpPr>
          <p:cNvPr id="5" name="">
            <a:extLst xmlns:a="http://schemas.openxmlformats.org/drawingml/2006/main">
              <a:ext uri="{FF2B5EF4-FFF2-40B4-BE49-F238E27FC236}">
                <a16:creationId xmlns:a16="http://schemas.microsoft.com/office/drawing/2014/main" id="{16A42995-3F33-4504-90C9-9D33EF7B92F3}"/>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src/client/console_client.cpp:63,64,65</a:t>
            </a:r>
          </a:p>
        </p:txBody>
      </p:sp>
      <p:sp>
        <p:nvSpPr>
          <p:cNvPr id="6" name="">
            <a:extLst xmlns:a="http://schemas.openxmlformats.org/drawingml/2006/main">
              <a:ext uri="{FF2B5EF4-FFF2-40B4-BE49-F238E27FC236}">
                <a16:creationId xmlns:a16="http://schemas.microsoft.com/office/drawing/2014/main" id="{F83EB113-2E49-4A39-AD19-CA1636F0FFB8}"/>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Кто выполняет TCP-рукопожатие SYN, SYN-ACK, ACK?</a:t>
            </a:r>
          </a:p>
        </p:txBody>
      </p:sp>
      <p:sp>
        <p:nvSpPr>
          <p:cNvPr id="7" name="">
            <a:extLst xmlns:a="http://schemas.openxmlformats.org/drawingml/2006/main">
              <a:ext uri="{FF2B5EF4-FFF2-40B4-BE49-F238E27FC236}">
                <a16:creationId xmlns:a16="http://schemas.microsoft.com/office/drawing/2014/main" id="{F99B0B3D-9B5F-4444-8A8D-CB777C2AEDFC}"/>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Сетевые стеки операционных систем.</a:t>
            </a:r>
          </a:p>
        </p:txBody>
      </p:sp>
      <p:sp>
        <p:nvSpPr>
          <p:cNvPr id="8" name="">
            <a:extLst xmlns:a="http://schemas.openxmlformats.org/drawingml/2006/main">
              <a:ext uri="{FF2B5EF4-FFF2-40B4-BE49-F238E27FC236}">
                <a16:creationId xmlns:a16="http://schemas.microsoft.com/office/drawing/2014/main" id="{F4836161-B72B-4FDB-8BAA-11F6975CE703}"/>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63  if (connect(_socket, item-&gt;ai_addr, item-&gt;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ai_addrlen) == 0)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64  break;</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65  }</a:t>
            </a:r>
          </a:p>
        </p:txBody>
      </p:sp>
      <p:sp>
        <p:nvSpPr>
          <p:cNvPr id="9" name="">
            <a:extLst xmlns:a="http://schemas.openxmlformats.org/drawingml/2006/main">
              <a:ext uri="{FF2B5EF4-FFF2-40B4-BE49-F238E27FC236}">
                <a16:creationId xmlns:a16="http://schemas.microsoft.com/office/drawing/2014/main" id="{05F77979-A4D1-4E05-9D4F-E5B5AD6DCC14}"/>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src/client/console_client.cpp:63,64,65</a:t>
            </a:r>
          </a:p>
        </p:txBody>
      </p:sp>
      <p:sp>
        <p:nvSpPr>
          <p:cNvPr id="10" name="">
            <a:extLst xmlns:a="http://schemas.openxmlformats.org/drawingml/2006/main">
              <a:ext uri="{FF2B5EF4-FFF2-40B4-BE49-F238E27FC236}">
                <a16:creationId xmlns:a16="http://schemas.microsoft.com/office/drawing/2014/main" id="{01CAD749-1637-41CB-8654-F241FBF5E1D4}"/>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Какие три этапа есть в конструкторе ConsoleClient?</a:t>
            </a:r>
          </a:p>
        </p:txBody>
      </p:sp>
      <p:sp>
        <p:nvSpPr>
          <p:cNvPr id="11" name="">
            <a:extLst xmlns:a="http://schemas.openxmlformats.org/drawingml/2006/main">
              <a:ext uri="{FF2B5EF4-FFF2-40B4-BE49-F238E27FC236}">
                <a16:creationId xmlns:a16="http://schemas.microsoft.com/office/drawing/2014/main" id="{841CAA19-9E3A-44EC-893A-9112EC44150D}"/>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Установка соединения</a:t>
            </a:r>
          </a:p>
        </p:txBody>
      </p:sp>
      <p:sp>
        <p:nvSpPr>
          <p:cNvPr id="12" name="">
            <a:extLst xmlns:a="http://schemas.openxmlformats.org/drawingml/2006/main">
              <a:ext uri="{FF2B5EF4-FFF2-40B4-BE49-F238E27FC236}">
                <a16:creationId xmlns:a16="http://schemas.microsoft.com/office/drawing/2014/main" id="{E5FC9335-98D6-45FA-8EB1-533167E72A29}"/>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21 / 66</a:t>
            </a:r>
          </a:p>
        </p:txBody>
      </p:sp>
    </p:spTree>
    <p:extLst>
      <p:ext uri="{BB962C8B-B14F-4D97-AF65-F5344CB8AC3E}">
        <p14:creationId xmlns:p14="http://schemas.microsoft.com/office/powerpoint/2010/main" val="1583389797"/>
      </p:ext>
    </p:extLst>
  </p:cSld>
</p:sld>
</file>

<file path=ppt/slides/slide22.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F021A83-320D-42E9-A239-5B8227F7C077}"/>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Адрес клиента и режим нового сокета</a:t>
            </a:r>
          </a:p>
        </p:txBody>
      </p:sp>
      <p:sp>
        <p:nvSpPr>
          <p:cNvPr id="2" name="">
            <a:extLst xmlns:a="http://schemas.openxmlformats.org/drawingml/2006/main">
              <a:ext uri="{FF2B5EF4-FFF2-40B4-BE49-F238E27FC236}">
                <a16:creationId xmlns:a16="http://schemas.microsoft.com/office/drawing/2014/main" id="{9492C095-29E1-47BA-B2C8-C001AECCA8CB}"/>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Нужен ли клиенту явный bind перед connect?</a:t>
            </a:r>
          </a:p>
        </p:txBody>
      </p:sp>
      <p:sp>
        <p:nvSpPr>
          <p:cNvPr id="3" name="">
            <a:extLst xmlns:a="http://schemas.openxmlformats.org/drawingml/2006/main">
              <a:ext uri="{FF2B5EF4-FFF2-40B4-BE49-F238E27FC236}">
                <a16:creationId xmlns:a16="http://schemas.microsoft.com/office/drawing/2014/main" id="{A51392CC-5F97-4CC1-ABFB-90789E3B2A61}"/>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Обычно нет: ОС выбирает подходящий локальный адрес и временный порт.</a:t>
            </a:r>
          </a:p>
        </p:txBody>
      </p:sp>
      <p:sp>
        <p:nvSpPr>
          <p:cNvPr id="4" name="">
            <a:extLst xmlns:a="http://schemas.openxmlformats.org/drawingml/2006/main">
              <a:ext uri="{FF2B5EF4-FFF2-40B4-BE49-F238E27FC236}">
                <a16:creationId xmlns:a16="http://schemas.microsoft.com/office/drawing/2014/main" id="{5EBE3BB6-9323-40EE-8F8E-962F48F14C54}"/>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59  _socket = socket(item-&gt;ai_family, item-&gt;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ai_socktype, item-&gt;ai_protocol);</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60  if (_socket &lt; 0) {</a:t>
            </a:r>
          </a:p>
        </p:txBody>
      </p:sp>
      <p:sp>
        <p:nvSpPr>
          <p:cNvPr id="5" name="">
            <a:extLst xmlns:a="http://schemas.openxmlformats.org/drawingml/2006/main">
              <a:ext uri="{FF2B5EF4-FFF2-40B4-BE49-F238E27FC236}">
                <a16:creationId xmlns:a16="http://schemas.microsoft.com/office/drawing/2014/main" id="{CF7B92ED-9B7C-4BC4-8BED-E325EF2B2664}"/>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src/client/console_client.cpp:59,60</a:t>
            </a:r>
          </a:p>
        </p:txBody>
      </p:sp>
      <p:sp>
        <p:nvSpPr>
          <p:cNvPr id="6" name="">
            <a:extLst xmlns:a="http://schemas.openxmlformats.org/drawingml/2006/main">
              <a:ext uri="{FF2B5EF4-FFF2-40B4-BE49-F238E27FC236}">
                <a16:creationId xmlns:a16="http://schemas.microsoft.com/office/drawing/2014/main" id="{5C88CB42-F7D0-48E9-9087-FA15887AD5B5}"/>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Почему после accept вызывается set_nonblocking(client_fd)?</a:t>
            </a:r>
          </a:p>
        </p:txBody>
      </p:sp>
      <p:sp>
        <p:nvSpPr>
          <p:cNvPr id="7" name="">
            <a:extLst xmlns:a="http://schemas.openxmlformats.org/drawingml/2006/main">
              <a:ext uri="{FF2B5EF4-FFF2-40B4-BE49-F238E27FC236}">
                <a16:creationId xmlns:a16="http://schemas.microsoft.com/office/drawing/2014/main" id="{834D9550-3D63-4C3B-8234-5C8E5E85BF45}"/>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Чтобы чтение или запись этого клиента не остановили весь событийный сервер.</a:t>
            </a:r>
          </a:p>
        </p:txBody>
      </p:sp>
      <p:sp>
        <p:nvSpPr>
          <p:cNvPr id="8" name="">
            <a:extLst xmlns:a="http://schemas.openxmlformats.org/drawingml/2006/main">
              <a:ext uri="{FF2B5EF4-FFF2-40B4-BE49-F238E27FC236}">
                <a16:creationId xmlns:a16="http://schemas.microsoft.com/office/drawing/2014/main" id="{DAA1F6D6-D661-46B1-ABF6-260F43F00BB3}"/>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127  set_nonblocking(client_fd);</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128  Client client;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129  client.fd = client_fd;</a:t>
            </a:r>
          </a:p>
        </p:txBody>
      </p:sp>
      <p:sp>
        <p:nvSpPr>
          <p:cNvPr id="9" name="">
            <a:extLst xmlns:a="http://schemas.openxmlformats.org/drawingml/2006/main">
              <a:ext uri="{FF2B5EF4-FFF2-40B4-BE49-F238E27FC236}">
                <a16:creationId xmlns:a16="http://schemas.microsoft.com/office/drawing/2014/main" id="{76813D53-6082-450A-A1A0-19DE89D9D200}"/>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src/server/poll_server.cpp:127,128,129</a:t>
            </a:r>
          </a:p>
        </p:txBody>
      </p:sp>
      <p:sp>
        <p:nvSpPr>
          <p:cNvPr id="10" name="">
            <a:extLst xmlns:a="http://schemas.openxmlformats.org/drawingml/2006/main">
              <a:ext uri="{FF2B5EF4-FFF2-40B4-BE49-F238E27FC236}">
                <a16:creationId xmlns:a16="http://schemas.microsoft.com/office/drawing/2014/main" id="{605A938B-11F9-4ED2-A31E-3E8D6C1A43C4}"/>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Какие четыре адресных значения различают TCP-соединение?</a:t>
            </a:r>
          </a:p>
        </p:txBody>
      </p:sp>
      <p:sp>
        <p:nvSpPr>
          <p:cNvPr id="11" name="">
            <a:extLst xmlns:a="http://schemas.openxmlformats.org/drawingml/2006/main">
              <a:ext uri="{FF2B5EF4-FFF2-40B4-BE49-F238E27FC236}">
                <a16:creationId xmlns:a16="http://schemas.microsoft.com/office/drawing/2014/main" id="{9A72A039-3228-4E81-B601-7C83CB20E41A}"/>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Установка соединения</a:t>
            </a:r>
          </a:p>
        </p:txBody>
      </p:sp>
      <p:sp>
        <p:nvSpPr>
          <p:cNvPr id="12" name="">
            <a:extLst xmlns:a="http://schemas.openxmlformats.org/drawingml/2006/main">
              <a:ext uri="{FF2B5EF4-FFF2-40B4-BE49-F238E27FC236}">
                <a16:creationId xmlns:a16="http://schemas.microsoft.com/office/drawing/2014/main" id="{88AC1FCD-0B46-4C1E-B8A7-A77705DF56C9}"/>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22 / 66</a:t>
            </a:r>
          </a:p>
        </p:txBody>
      </p:sp>
    </p:spTree>
    <p:extLst>
      <p:ext uri="{BB962C8B-B14F-4D97-AF65-F5344CB8AC3E}">
        <p14:creationId xmlns:p14="http://schemas.microsoft.com/office/powerpoint/2010/main" val="1132356465"/>
      </p:ext>
    </p:extLst>
  </p:cSld>
</p:sld>
</file>

<file path=ppt/slides/slide23.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FEB7971-DAFF-4962-BDEF-D8BDF7BACA30}"/>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Буфер recv и тип void*</a:t>
            </a:r>
          </a:p>
        </p:txBody>
      </p:sp>
      <p:sp>
        <p:nvSpPr>
          <p:cNvPr id="2" name="">
            <a:extLst xmlns:a="http://schemas.openxmlformats.org/drawingml/2006/main">
              <a:ext uri="{FF2B5EF4-FFF2-40B4-BE49-F238E27FC236}">
                <a16:creationId xmlns:a16="http://schemas.microsoft.com/office/drawing/2014/main" id="{312E8151-F353-4661-A45F-6D39CE0A993A}"/>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Почему recv удобно передавать char buffer[4096]?</a:t>
            </a:r>
          </a:p>
        </p:txBody>
      </p:sp>
      <p:sp>
        <p:nvSpPr>
          <p:cNvPr id="3" name="">
            <a:extLst xmlns:a="http://schemas.openxmlformats.org/drawingml/2006/main">
              <a:ext uri="{FF2B5EF4-FFF2-40B4-BE49-F238E27FC236}">
                <a16:creationId xmlns:a16="http://schemas.microsoft.com/office/drawing/2014/main" id="{E331CD92-2A73-488B-AB25-B88B7CEF4748}"/>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Это доступная для записи последовательная область байтов.</a:t>
            </a:r>
          </a:p>
        </p:txBody>
      </p:sp>
      <p:sp>
        <p:nvSpPr>
          <p:cNvPr id="4" name="">
            <a:extLst xmlns:a="http://schemas.openxmlformats.org/drawingml/2006/main">
              <a:ext uri="{FF2B5EF4-FFF2-40B4-BE49-F238E27FC236}">
                <a16:creationId xmlns:a16="http://schemas.microsoft.com/office/drawing/2014/main" id="{09B3847A-6DD1-45A1-BC95-6CD7CF6F973D}"/>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138  char buffer[4096];</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139  while (true)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140  ssize_t count = recv(client.fd, buffer, sizeof(</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buffer), 0);</a:t>
            </a:r>
          </a:p>
        </p:txBody>
      </p:sp>
      <p:sp>
        <p:nvSpPr>
          <p:cNvPr id="5" name="">
            <a:extLst xmlns:a="http://schemas.openxmlformats.org/drawingml/2006/main">
              <a:ext uri="{FF2B5EF4-FFF2-40B4-BE49-F238E27FC236}">
                <a16:creationId xmlns:a16="http://schemas.microsoft.com/office/drawing/2014/main" id="{0F15693E-73B5-4ED7-9792-4AB6E81062A1}"/>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src/server/poll_server.cpp:138,139,140</a:t>
            </a:r>
          </a:p>
        </p:txBody>
      </p:sp>
      <p:sp>
        <p:nvSpPr>
          <p:cNvPr id="6" name="">
            <a:extLst xmlns:a="http://schemas.openxmlformats.org/drawingml/2006/main">
              <a:ext uri="{FF2B5EF4-FFF2-40B4-BE49-F238E27FC236}">
                <a16:creationId xmlns:a16="http://schemas.microsoft.com/office/drawing/2014/main" id="{601EDB7F-4B78-42B6-B80F-3FFA828BDBD5}"/>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Какой тип буфера указан в POSIX-сигнатуре recv?</a:t>
            </a:r>
          </a:p>
        </p:txBody>
      </p:sp>
      <p:sp>
        <p:nvSpPr>
          <p:cNvPr id="7" name="">
            <a:extLst xmlns:a="http://schemas.openxmlformats.org/drawingml/2006/main">
              <a:ext uri="{FF2B5EF4-FFF2-40B4-BE49-F238E27FC236}">
                <a16:creationId xmlns:a16="http://schemas.microsoft.com/office/drawing/2014/main" id="{BD962926-3CB5-4616-BB82-EA0E9665A043}"/>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void*, то есть указатель на область для записи байтов.</a:t>
            </a:r>
          </a:p>
        </p:txBody>
      </p:sp>
      <p:sp>
        <p:nvSpPr>
          <p:cNvPr id="8" name="">
            <a:extLst xmlns:a="http://schemas.openxmlformats.org/drawingml/2006/main">
              <a:ext uri="{FF2B5EF4-FFF2-40B4-BE49-F238E27FC236}">
                <a16:creationId xmlns:a16="http://schemas.microsoft.com/office/drawing/2014/main" id="{6B974AC5-5D2B-45FB-AD29-0C766310D98A}"/>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140  ssize_t count = recv(client.fd, buffer, sizeof(</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buffer), 0);</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141  if (count &gt; 0) {</a:t>
            </a:r>
          </a:p>
        </p:txBody>
      </p:sp>
      <p:sp>
        <p:nvSpPr>
          <p:cNvPr id="9" name="">
            <a:extLst xmlns:a="http://schemas.openxmlformats.org/drawingml/2006/main">
              <a:ext uri="{FF2B5EF4-FFF2-40B4-BE49-F238E27FC236}">
                <a16:creationId xmlns:a16="http://schemas.microsoft.com/office/drawing/2014/main" id="{1D941D8B-5F05-431B-9B6E-5FF50496F3A8}"/>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src/server/poll_server.cpp:140,141</a:t>
            </a:r>
          </a:p>
        </p:txBody>
      </p:sp>
      <p:sp>
        <p:nvSpPr>
          <p:cNvPr id="10" name="">
            <a:extLst xmlns:a="http://schemas.openxmlformats.org/drawingml/2006/main">
              <a:ext uri="{FF2B5EF4-FFF2-40B4-BE49-F238E27FC236}">
                <a16:creationId xmlns:a16="http://schemas.microsoft.com/office/drawing/2014/main" id="{50DE8D0E-76AE-42A9-BB30-BC47E0D1674F}"/>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Различи память буфера, указатель на нее и вместимость.</a:t>
            </a:r>
          </a:p>
        </p:txBody>
      </p:sp>
      <p:sp>
        <p:nvSpPr>
          <p:cNvPr id="11" name="">
            <a:extLst xmlns:a="http://schemas.openxmlformats.org/drawingml/2006/main">
              <a:ext uri="{FF2B5EF4-FFF2-40B4-BE49-F238E27FC236}">
                <a16:creationId xmlns:a16="http://schemas.microsoft.com/office/drawing/2014/main" id="{81F76714-9D93-4494-B2D2-063218F0F382}"/>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Буферы и указатели C++</a:t>
            </a:r>
          </a:p>
        </p:txBody>
      </p:sp>
      <p:sp>
        <p:nvSpPr>
          <p:cNvPr id="12" name="">
            <a:extLst xmlns:a="http://schemas.openxmlformats.org/drawingml/2006/main">
              <a:ext uri="{FF2B5EF4-FFF2-40B4-BE49-F238E27FC236}">
                <a16:creationId xmlns:a16="http://schemas.microsoft.com/office/drawing/2014/main" id="{86465346-B6B3-46D6-BCC7-4CE6B033034A}"/>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23 / 66</a:t>
            </a:r>
          </a:p>
        </p:txBody>
      </p:sp>
    </p:spTree>
    <p:extLst>
      <p:ext uri="{BB962C8B-B14F-4D97-AF65-F5344CB8AC3E}">
        <p14:creationId xmlns:p14="http://schemas.microsoft.com/office/powerpoint/2010/main" val="1786074862"/>
      </p:ext>
    </p:extLst>
  </p:cSld>
</p:sld>
</file>

<file path=ppt/slides/slide24.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83F486F-FC6B-4F2A-84F5-EAA4C2760500}"/>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const void* и завершающий ноль</a:t>
            </a:r>
          </a:p>
        </p:txBody>
      </p:sp>
      <p:sp>
        <p:nvSpPr>
          <p:cNvPr id="2" name="">
            <a:extLst xmlns:a="http://schemas.openxmlformats.org/drawingml/2006/main">
              <a:ext uri="{FF2B5EF4-FFF2-40B4-BE49-F238E27FC236}">
                <a16:creationId xmlns:a16="http://schemas.microsoft.com/office/drawing/2014/main" id="{88CB10E7-5268-4909-A135-3B9E5BCBE771}"/>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означает const в const void* для send?</a:t>
            </a:r>
          </a:p>
        </p:txBody>
      </p:sp>
      <p:sp>
        <p:nvSpPr>
          <p:cNvPr id="3" name="">
            <a:extLst xmlns:a="http://schemas.openxmlformats.org/drawingml/2006/main">
              <a:ext uri="{FF2B5EF4-FFF2-40B4-BE49-F238E27FC236}">
                <a16:creationId xmlns:a16="http://schemas.microsoft.com/office/drawing/2014/main" id="{0C9FE21A-EFB5-4EBF-A178-993D9D66C467}"/>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Функция не должна изменять отправляемые данные через этот указатель.</a:t>
            </a:r>
          </a:p>
        </p:txBody>
      </p:sp>
      <p:sp>
        <p:nvSpPr>
          <p:cNvPr id="4" name="">
            <a:extLst xmlns:a="http://schemas.openxmlformats.org/drawingml/2006/main">
              <a:ext uri="{FF2B5EF4-FFF2-40B4-BE49-F238E27FC236}">
                <a16:creationId xmlns:a16="http://schemas.microsoft.com/office/drawing/2014/main" id="{7DCC3853-31FB-4BDB-91B8-FD5CD3B75B88}"/>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168  ssize_t count = send(client.fd, client.output.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data(), client.output.size(), MSG_NOSIGNAL);</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169  if (count &gt; 0) {</a:t>
            </a:r>
          </a:p>
        </p:txBody>
      </p:sp>
      <p:sp>
        <p:nvSpPr>
          <p:cNvPr id="5" name="">
            <a:extLst xmlns:a="http://schemas.openxmlformats.org/drawingml/2006/main">
              <a:ext uri="{FF2B5EF4-FFF2-40B4-BE49-F238E27FC236}">
                <a16:creationId xmlns:a16="http://schemas.microsoft.com/office/drawing/2014/main" id="{1D3E8EFC-6FC5-4A5A-B55C-AC182E56BBC7}"/>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src/server/poll_server.cpp:168,169</a:t>
            </a:r>
          </a:p>
        </p:txBody>
      </p:sp>
      <p:sp>
        <p:nvSpPr>
          <p:cNvPr id="6" name="">
            <a:extLst xmlns:a="http://schemas.openxmlformats.org/drawingml/2006/main">
              <a:ext uri="{FF2B5EF4-FFF2-40B4-BE49-F238E27FC236}">
                <a16:creationId xmlns:a16="http://schemas.microsoft.com/office/drawing/2014/main" id="{0400EF14-C6F6-451D-BA55-D54C32106D54}"/>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Добавляет ли recv завершающий нулевой символ?</a:t>
            </a:r>
          </a:p>
        </p:txBody>
      </p:sp>
      <p:sp>
        <p:nvSpPr>
          <p:cNvPr id="7" name="">
            <a:extLst xmlns:a="http://schemas.openxmlformats.org/drawingml/2006/main">
              <a:ext uri="{FF2B5EF4-FFF2-40B4-BE49-F238E27FC236}">
                <a16:creationId xmlns:a16="http://schemas.microsoft.com/office/drawing/2014/main" id="{173C8554-D70A-4119-952D-D5D51378E850}"/>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Нет, он возвращает количество записанных байтов.</a:t>
            </a:r>
          </a:p>
        </p:txBody>
      </p:sp>
      <p:sp>
        <p:nvSpPr>
          <p:cNvPr id="8" name="">
            <a:extLst xmlns:a="http://schemas.openxmlformats.org/drawingml/2006/main">
              <a:ext uri="{FF2B5EF4-FFF2-40B4-BE49-F238E27FC236}">
                <a16:creationId xmlns:a16="http://schemas.microsoft.com/office/drawing/2014/main" id="{3BD0F04A-F7F9-4AA0-8516-856B663C6985}"/>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142  client.input.append(buffer, static_cast&lt;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std::size_t&gt;(count));</a:t>
            </a:r>
          </a:p>
        </p:txBody>
      </p:sp>
      <p:sp>
        <p:nvSpPr>
          <p:cNvPr id="9" name="">
            <a:extLst xmlns:a="http://schemas.openxmlformats.org/drawingml/2006/main">
              <a:ext uri="{FF2B5EF4-FFF2-40B4-BE49-F238E27FC236}">
                <a16:creationId xmlns:a16="http://schemas.microsoft.com/office/drawing/2014/main" id="{4EEFD6B8-894C-4441-86C2-3213F5632B12}"/>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src/server/poll_server.cpp:142</a:t>
            </a:r>
          </a:p>
        </p:txBody>
      </p:sp>
      <p:sp>
        <p:nvSpPr>
          <p:cNvPr id="10" name="">
            <a:extLst xmlns:a="http://schemas.openxmlformats.org/drawingml/2006/main">
              <a:ext uri="{FF2B5EF4-FFF2-40B4-BE49-F238E27FC236}">
                <a16:creationId xmlns:a16="http://schemas.microsoft.com/office/drawing/2014/main" id="{1618407E-33B9-4A86-B4BA-E8190F18F642}"/>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Чем const char* отличается от char* const?</a:t>
            </a:r>
          </a:p>
        </p:txBody>
      </p:sp>
      <p:sp>
        <p:nvSpPr>
          <p:cNvPr id="11" name="">
            <a:extLst xmlns:a="http://schemas.openxmlformats.org/drawingml/2006/main">
              <a:ext uri="{FF2B5EF4-FFF2-40B4-BE49-F238E27FC236}">
                <a16:creationId xmlns:a16="http://schemas.microsoft.com/office/drawing/2014/main" id="{43BED3F9-CE43-405B-B7EF-923BC1242AD8}"/>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Буферы и указатели C++</a:t>
            </a:r>
          </a:p>
        </p:txBody>
      </p:sp>
      <p:sp>
        <p:nvSpPr>
          <p:cNvPr id="12" name="">
            <a:extLst xmlns:a="http://schemas.openxmlformats.org/drawingml/2006/main">
              <a:ext uri="{FF2B5EF4-FFF2-40B4-BE49-F238E27FC236}">
                <a16:creationId xmlns:a16="http://schemas.microsoft.com/office/drawing/2014/main" id="{D930DF70-8836-42CA-9948-00A6D820BC33}"/>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24 / 66</a:t>
            </a:r>
          </a:p>
        </p:txBody>
      </p:sp>
    </p:spTree>
    <p:extLst>
      <p:ext uri="{BB962C8B-B14F-4D97-AF65-F5344CB8AC3E}">
        <p14:creationId xmlns:p14="http://schemas.microsoft.com/office/powerpoint/2010/main" val="45296215"/>
      </p:ext>
    </p:extLst>
  </p:cSld>
</p:sld>
</file>

<file path=ppt/slides/slide25.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0505350-959C-4C4A-AA0F-EAC0D0CB5932}"/>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Размер массива и размер указателя</a:t>
            </a:r>
          </a:p>
        </p:txBody>
      </p:sp>
      <p:sp>
        <p:nvSpPr>
          <p:cNvPr id="2" name="">
            <a:extLst xmlns:a="http://schemas.openxmlformats.org/drawingml/2006/main">
              <a:ext uri="{FF2B5EF4-FFF2-40B4-BE49-F238E27FC236}">
                <a16:creationId xmlns:a16="http://schemas.microsoft.com/office/drawing/2014/main" id="{1E50E813-1F26-4C01-89ED-000FB11B0A87}"/>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дает sizeof(buffer), если buffer объявлен char buffer[4096] в этой функции?</a:t>
            </a:r>
          </a:p>
        </p:txBody>
      </p:sp>
      <p:sp>
        <p:nvSpPr>
          <p:cNvPr id="3" name="">
            <a:extLst xmlns:a="http://schemas.openxmlformats.org/drawingml/2006/main">
              <a:ext uri="{FF2B5EF4-FFF2-40B4-BE49-F238E27FC236}">
                <a16:creationId xmlns:a16="http://schemas.microsoft.com/office/drawing/2014/main" id="{911F5415-1155-4B5A-93C3-D867372EA11B}"/>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Полный размер массива: 4096 байт языка C++.</a:t>
            </a:r>
          </a:p>
        </p:txBody>
      </p:sp>
      <p:sp>
        <p:nvSpPr>
          <p:cNvPr id="4" name="">
            <a:extLst xmlns:a="http://schemas.openxmlformats.org/drawingml/2006/main">
              <a:ext uri="{FF2B5EF4-FFF2-40B4-BE49-F238E27FC236}">
                <a16:creationId xmlns:a16="http://schemas.microsoft.com/office/drawing/2014/main" id="{AC1B643D-AF66-4A74-ADDF-AD997FA0B948}"/>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138  char buffer[4096];</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139  while (true)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140  ssize_t count = recv(client.fd, buffer, sizeof(</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buffer), 0);</a:t>
            </a:r>
          </a:p>
        </p:txBody>
      </p:sp>
      <p:sp>
        <p:nvSpPr>
          <p:cNvPr id="5" name="">
            <a:extLst xmlns:a="http://schemas.openxmlformats.org/drawingml/2006/main">
              <a:ext uri="{FF2B5EF4-FFF2-40B4-BE49-F238E27FC236}">
                <a16:creationId xmlns:a16="http://schemas.microsoft.com/office/drawing/2014/main" id="{88922DF8-41C5-4129-9F76-2C70F54EDDBA}"/>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src/server/poll_server.cpp:138,139,140</a:t>
            </a:r>
          </a:p>
        </p:txBody>
      </p:sp>
      <p:sp>
        <p:nvSpPr>
          <p:cNvPr id="6" name="">
            <a:extLst xmlns:a="http://schemas.openxmlformats.org/drawingml/2006/main">
              <a:ext uri="{FF2B5EF4-FFF2-40B4-BE49-F238E27FC236}">
                <a16:creationId xmlns:a16="http://schemas.microsoft.com/office/drawing/2014/main" id="{D5E85CE1-EDB6-4A32-873F-F347FA1D926E}"/>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даст sizeof(p), если p имеет тип char*?</a:t>
            </a:r>
          </a:p>
        </p:txBody>
      </p:sp>
      <p:sp>
        <p:nvSpPr>
          <p:cNvPr id="7" name="">
            <a:extLst xmlns:a="http://schemas.openxmlformats.org/drawingml/2006/main">
              <a:ext uri="{FF2B5EF4-FFF2-40B4-BE49-F238E27FC236}">
                <a16:creationId xmlns:a16="http://schemas.microsoft.com/office/drawing/2014/main" id="{469352E3-216C-4A63-AF2B-0909B549DE05}"/>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Размер самого указателя в данной реализации.</a:t>
            </a:r>
          </a:p>
        </p:txBody>
      </p:sp>
      <p:sp>
        <p:nvSpPr>
          <p:cNvPr id="8" name="">
            <a:extLst xmlns:a="http://schemas.openxmlformats.org/drawingml/2006/main">
              <a:ext uri="{FF2B5EF4-FFF2-40B4-BE49-F238E27FC236}">
                <a16:creationId xmlns:a16="http://schemas.microsoft.com/office/drawing/2014/main" id="{DD561C9F-4388-4664-B98E-009404BB7E8E}"/>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138  char buffer[4096];</a:t>
            </a:r>
          </a:p>
        </p:txBody>
      </p:sp>
      <p:sp>
        <p:nvSpPr>
          <p:cNvPr id="9" name="">
            <a:extLst xmlns:a="http://schemas.openxmlformats.org/drawingml/2006/main">
              <a:ext uri="{FF2B5EF4-FFF2-40B4-BE49-F238E27FC236}">
                <a16:creationId xmlns:a16="http://schemas.microsoft.com/office/drawing/2014/main" id="{D385CF85-DDFD-4EE2-A1A7-8D0002A45C2A}"/>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src/server/poll_server.cpp:138</a:t>
            </a:r>
          </a:p>
        </p:txBody>
      </p:sp>
      <p:sp>
        <p:nvSpPr>
          <p:cNvPr id="10" name="">
            <a:extLst xmlns:a="http://schemas.openxmlformats.org/drawingml/2006/main">
              <a:ext uri="{FF2B5EF4-FFF2-40B4-BE49-F238E27FC236}">
                <a16:creationId xmlns:a16="http://schemas.microsoft.com/office/drawing/2014/main" id="{83F866BA-DB0E-45CE-9BB6-419B8AB83B9E}"/>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Чем sizeof(buffer) отличается от count?</a:t>
            </a:r>
          </a:p>
        </p:txBody>
      </p:sp>
      <p:sp>
        <p:nvSpPr>
          <p:cNvPr id="11" name="">
            <a:extLst xmlns:a="http://schemas.openxmlformats.org/drawingml/2006/main">
              <a:ext uri="{FF2B5EF4-FFF2-40B4-BE49-F238E27FC236}">
                <a16:creationId xmlns:a16="http://schemas.microsoft.com/office/drawing/2014/main" id="{978F8833-6357-4A66-9AE4-FB6FB34406FE}"/>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Буферы и указатели C++</a:t>
            </a:r>
          </a:p>
        </p:txBody>
      </p:sp>
      <p:sp>
        <p:nvSpPr>
          <p:cNvPr id="12" name="">
            <a:extLst xmlns:a="http://schemas.openxmlformats.org/drawingml/2006/main">
              <a:ext uri="{FF2B5EF4-FFF2-40B4-BE49-F238E27FC236}">
                <a16:creationId xmlns:a16="http://schemas.microsoft.com/office/drawing/2014/main" id="{C994280B-C75B-4114-87C8-18B4BB14C80A}"/>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25 / 66</a:t>
            </a:r>
          </a:p>
        </p:txBody>
      </p:sp>
    </p:spTree>
    <p:extLst>
      <p:ext uri="{BB962C8B-B14F-4D97-AF65-F5344CB8AC3E}">
        <p14:creationId xmlns:p14="http://schemas.microsoft.com/office/powerpoint/2010/main" val="2108962601"/>
      </p:ext>
    </p:extLst>
  </p:cSld>
</p:sld>
</file>

<file path=ppt/slides/slide26.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F795E9C-9A52-4E6C-870B-AC44AC6B8FBC}"/>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Длина данных и знаковый результат</a:t>
            </a:r>
          </a:p>
        </p:txBody>
      </p:sp>
      <p:sp>
        <p:nvSpPr>
          <p:cNvPr id="2" name="">
            <a:extLst xmlns:a="http://schemas.openxmlformats.org/drawingml/2006/main">
              <a:ext uri="{FF2B5EF4-FFF2-40B4-BE49-F238E27FC236}">
                <a16:creationId xmlns:a16="http://schemas.microsoft.com/office/drawing/2014/main" id="{E07A6FE9-DF6A-4386-B96C-E1032C20BDA8}"/>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Почему append(buffer, count) не нуждается в strlen?</a:t>
            </a:r>
          </a:p>
        </p:txBody>
      </p:sp>
      <p:sp>
        <p:nvSpPr>
          <p:cNvPr id="3" name="">
            <a:extLst xmlns:a="http://schemas.openxmlformats.org/drawingml/2006/main">
              <a:ext uri="{FF2B5EF4-FFF2-40B4-BE49-F238E27FC236}">
                <a16:creationId xmlns:a16="http://schemas.microsoft.com/office/drawing/2014/main" id="{A580042F-748E-4AD8-8FCA-D5B8DBEF7A09}"/>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Количество принятых байтов уже известно из результата recv.</a:t>
            </a:r>
          </a:p>
        </p:txBody>
      </p:sp>
      <p:sp>
        <p:nvSpPr>
          <p:cNvPr id="4" name="">
            <a:extLst xmlns:a="http://schemas.openxmlformats.org/drawingml/2006/main">
              <a:ext uri="{FF2B5EF4-FFF2-40B4-BE49-F238E27FC236}">
                <a16:creationId xmlns:a16="http://schemas.microsoft.com/office/drawing/2014/main" id="{C6B7170E-9311-4D26-9A58-471B69D66C88}"/>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142  client.input.append(buffer, static_cast&lt;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std::size_t&gt;(count));</a:t>
            </a:r>
          </a:p>
        </p:txBody>
      </p:sp>
      <p:sp>
        <p:nvSpPr>
          <p:cNvPr id="5" name="">
            <a:extLst xmlns:a="http://schemas.openxmlformats.org/drawingml/2006/main">
              <a:ext uri="{FF2B5EF4-FFF2-40B4-BE49-F238E27FC236}">
                <a16:creationId xmlns:a16="http://schemas.microsoft.com/office/drawing/2014/main" id="{3594715E-0EA2-4F69-B0E0-A21AC41985A3}"/>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src/server/poll_server.cpp:142</a:t>
            </a:r>
          </a:p>
        </p:txBody>
      </p:sp>
      <p:sp>
        <p:nvSpPr>
          <p:cNvPr id="6" name="">
            <a:extLst xmlns:a="http://schemas.openxmlformats.org/drawingml/2006/main">
              <a:ext uri="{FF2B5EF4-FFF2-40B4-BE49-F238E27FC236}">
                <a16:creationId xmlns:a16="http://schemas.microsoft.com/office/drawing/2014/main" id="{7A8FDF76-995D-4D56-B596-7E7458062B64}"/>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Чем size_t отличается от ssize_t в этом коде?</a:t>
            </a:r>
          </a:p>
        </p:txBody>
      </p:sp>
      <p:sp>
        <p:nvSpPr>
          <p:cNvPr id="7" name="">
            <a:extLst xmlns:a="http://schemas.openxmlformats.org/drawingml/2006/main">
              <a:ext uri="{FF2B5EF4-FFF2-40B4-BE49-F238E27FC236}">
                <a16:creationId xmlns:a16="http://schemas.microsoft.com/office/drawing/2014/main" id="{C673C7A5-69BF-4BED-93D4-4689F39EA244}"/>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size_t хранит неотрицательный размер, ssize_t также представляет отрицательную ошибку.</a:t>
            </a:r>
          </a:p>
        </p:txBody>
      </p:sp>
      <p:sp>
        <p:nvSpPr>
          <p:cNvPr id="8" name="">
            <a:extLst xmlns:a="http://schemas.openxmlformats.org/drawingml/2006/main">
              <a:ext uri="{FF2B5EF4-FFF2-40B4-BE49-F238E27FC236}">
                <a16:creationId xmlns:a16="http://schemas.microsoft.com/office/drawing/2014/main" id="{B477130B-0DD0-4B3D-9301-B4FCE18ADA7B}"/>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140  ssize_t count = recv(client.fd, buffer, sizeof(</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buffer), 0);</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141  if (count &gt; 0) {</a:t>
            </a:r>
          </a:p>
        </p:txBody>
      </p:sp>
      <p:sp>
        <p:nvSpPr>
          <p:cNvPr id="9" name="">
            <a:extLst xmlns:a="http://schemas.openxmlformats.org/drawingml/2006/main">
              <a:ext uri="{FF2B5EF4-FFF2-40B4-BE49-F238E27FC236}">
                <a16:creationId xmlns:a16="http://schemas.microsoft.com/office/drawing/2014/main" id="{FC1A983C-2581-4CC9-9126-A9A2220D7591}"/>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src/server/poll_server.cpp:140,141</a:t>
            </a:r>
          </a:p>
        </p:txBody>
      </p:sp>
      <p:sp>
        <p:nvSpPr>
          <p:cNvPr id="10" name="">
            <a:extLst xmlns:a="http://schemas.openxmlformats.org/drawingml/2006/main">
              <a:ext uri="{FF2B5EF4-FFF2-40B4-BE49-F238E27FC236}">
                <a16:creationId xmlns:a16="http://schemas.microsoft.com/office/drawing/2014/main" id="{A50442C6-42CB-4513-9316-4BD05D4BDC3A}"/>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Что испортится, если всегда добавлять sizeof(buffer) байт?</a:t>
            </a:r>
          </a:p>
        </p:txBody>
      </p:sp>
      <p:sp>
        <p:nvSpPr>
          <p:cNvPr id="11" name="">
            <a:extLst xmlns:a="http://schemas.openxmlformats.org/drawingml/2006/main">
              <a:ext uri="{FF2B5EF4-FFF2-40B4-BE49-F238E27FC236}">
                <a16:creationId xmlns:a16="http://schemas.microsoft.com/office/drawing/2014/main" id="{20A763D6-9981-4607-B3E2-8236C9156B21}"/>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Буферы и указатели C++</a:t>
            </a:r>
          </a:p>
        </p:txBody>
      </p:sp>
      <p:sp>
        <p:nvSpPr>
          <p:cNvPr id="12" name="">
            <a:extLst xmlns:a="http://schemas.openxmlformats.org/drawingml/2006/main">
              <a:ext uri="{FF2B5EF4-FFF2-40B4-BE49-F238E27FC236}">
                <a16:creationId xmlns:a16="http://schemas.microsoft.com/office/drawing/2014/main" id="{1741AB7F-717E-41D2-A37C-02E060B8999B}"/>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26 / 66</a:t>
            </a:r>
          </a:p>
        </p:txBody>
      </p:sp>
    </p:spTree>
    <p:extLst>
      <p:ext uri="{BB962C8B-B14F-4D97-AF65-F5344CB8AC3E}">
        <p14:creationId xmlns:p14="http://schemas.microsoft.com/office/powerpoint/2010/main" val="36014330"/>
      </p:ext>
    </p:extLst>
  </p:cSld>
</p:sld>
</file>

<file path=ppt/slides/slide27.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F43782A-9CA3-4D4F-BFE4-928B0969DB11}"/>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Смещение указателя и длина UTF-8</a:t>
            </a:r>
          </a:p>
        </p:txBody>
      </p:sp>
      <p:sp>
        <p:nvSpPr>
          <p:cNvPr id="2" name="">
            <a:extLst xmlns:a="http://schemas.openxmlformats.org/drawingml/2006/main">
              <a:ext uri="{FF2B5EF4-FFF2-40B4-BE49-F238E27FC236}">
                <a16:creationId xmlns:a16="http://schemas.microsoft.com/office/drawing/2014/main" id="{D270763F-D884-4199-8F41-77709694B8E7}"/>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означает line.data() + sent?</a:t>
            </a:r>
          </a:p>
        </p:txBody>
      </p:sp>
      <p:sp>
        <p:nvSpPr>
          <p:cNvPr id="3" name="">
            <a:extLst xmlns:a="http://schemas.openxmlformats.org/drawingml/2006/main">
              <a:ext uri="{FF2B5EF4-FFF2-40B4-BE49-F238E27FC236}">
                <a16:creationId xmlns:a16="http://schemas.microsoft.com/office/drawing/2014/main" id="{4115531E-2469-49A9-A09B-37A6CE4BAD3D}"/>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Адрес первого байта строки, который еще не отправлен.</a:t>
            </a:r>
          </a:p>
        </p:txBody>
      </p:sp>
      <p:sp>
        <p:nvSpPr>
          <p:cNvPr id="4" name="">
            <a:extLst xmlns:a="http://schemas.openxmlformats.org/drawingml/2006/main">
              <a:ext uri="{FF2B5EF4-FFF2-40B4-BE49-F238E27FC236}">
                <a16:creationId xmlns:a16="http://schemas.microsoft.com/office/drawing/2014/main" id="{847149F1-C856-44DB-9D1D-530C1FE29BDE}"/>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79  ssize_t count = send(_socket, line.data() + sent,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line.size() - sent, 0);</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80  if (count &lt; 0) {</a:t>
            </a:r>
          </a:p>
        </p:txBody>
      </p:sp>
      <p:sp>
        <p:nvSpPr>
          <p:cNvPr id="5" name="">
            <a:extLst xmlns:a="http://schemas.openxmlformats.org/drawingml/2006/main">
              <a:ext uri="{FF2B5EF4-FFF2-40B4-BE49-F238E27FC236}">
                <a16:creationId xmlns:a16="http://schemas.microsoft.com/office/drawing/2014/main" id="{1955CE7E-5CAC-4B70-AF2A-788A93CAA534}"/>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src/client/console_client.cpp:79,80</a:t>
            </a:r>
          </a:p>
        </p:txBody>
      </p:sp>
      <p:sp>
        <p:nvSpPr>
          <p:cNvPr id="6" name="">
            <a:extLst xmlns:a="http://schemas.openxmlformats.org/drawingml/2006/main">
              <a:ext uri="{FF2B5EF4-FFF2-40B4-BE49-F238E27FC236}">
                <a16:creationId xmlns:a16="http://schemas.microsoft.com/office/drawing/2014/main" id="{8DE69FFA-930F-4E60-80D2-ED0C20F9F9C5}"/>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Почему std::string::size() для русского текста не равно числу букв?</a:t>
            </a:r>
          </a:p>
        </p:txBody>
      </p:sp>
      <p:sp>
        <p:nvSpPr>
          <p:cNvPr id="7" name="">
            <a:extLst xmlns:a="http://schemas.openxmlformats.org/drawingml/2006/main">
              <a:ext uri="{FF2B5EF4-FFF2-40B4-BE49-F238E27FC236}">
                <a16:creationId xmlns:a16="http://schemas.microsoft.com/office/drawing/2014/main" id="{17543578-FA23-4F9C-BC53-CFCF40FDF351}"/>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В данном UTF-8 протоколе size считает байты, а буква может занимать несколько байтов.</a:t>
            </a:r>
          </a:p>
        </p:txBody>
      </p:sp>
      <p:sp>
        <p:nvSpPr>
          <p:cNvPr id="8" name="">
            <a:extLst xmlns:a="http://schemas.openxmlformats.org/drawingml/2006/main">
              <a:ext uri="{FF2B5EF4-FFF2-40B4-BE49-F238E27FC236}">
                <a16:creationId xmlns:a16="http://schemas.microsoft.com/office/drawing/2014/main" id="{28BDFBFD-923C-4F5E-A4D9-A11411193AC6}"/>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34  std::string one_line(std::string s)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35  std::replace(s.begin(), s.end(), '\n', '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36  std::replace(s.begin(), s.end(), '\r', ' ');</a:t>
            </a:r>
          </a:p>
        </p:txBody>
      </p:sp>
      <p:sp>
        <p:nvSpPr>
          <p:cNvPr id="9" name="">
            <a:extLst xmlns:a="http://schemas.openxmlformats.org/drawingml/2006/main">
              <a:ext uri="{FF2B5EF4-FFF2-40B4-BE49-F238E27FC236}">
                <a16:creationId xmlns:a16="http://schemas.microsoft.com/office/drawing/2014/main" id="{C0D26918-6BA2-4468-8973-E6166BB1A221}"/>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src/common/protocol.cpp:34,35,36</a:t>
            </a:r>
          </a:p>
        </p:txBody>
      </p:sp>
      <p:sp>
        <p:nvSpPr>
          <p:cNvPr id="10" name="">
            <a:extLst xmlns:a="http://schemas.openxmlformats.org/drawingml/2006/main">
              <a:ext uri="{FF2B5EF4-FFF2-40B4-BE49-F238E27FC236}">
                <a16:creationId xmlns:a16="http://schemas.microsoft.com/office/drawing/2014/main" id="{F76F48F2-E1CA-407F-B8F5-306A7F15A87F}"/>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Покажи указатель и оставшуюся длину после отправки 3 из 10 байтов.</a:t>
            </a:r>
          </a:p>
        </p:txBody>
      </p:sp>
      <p:sp>
        <p:nvSpPr>
          <p:cNvPr id="11" name="">
            <a:extLst xmlns:a="http://schemas.openxmlformats.org/drawingml/2006/main">
              <a:ext uri="{FF2B5EF4-FFF2-40B4-BE49-F238E27FC236}">
                <a16:creationId xmlns:a16="http://schemas.microsoft.com/office/drawing/2014/main" id="{147A6C4B-5A26-446C-A85F-0B5A530FCA32}"/>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Буферы и указатели C++</a:t>
            </a:r>
          </a:p>
        </p:txBody>
      </p:sp>
      <p:sp>
        <p:nvSpPr>
          <p:cNvPr id="12" name="">
            <a:extLst xmlns:a="http://schemas.openxmlformats.org/drawingml/2006/main">
              <a:ext uri="{FF2B5EF4-FFF2-40B4-BE49-F238E27FC236}">
                <a16:creationId xmlns:a16="http://schemas.microsoft.com/office/drawing/2014/main" id="{D2D1600C-D3C5-4E87-BD79-34A1A8A9423C}"/>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27 / 66</a:t>
            </a:r>
          </a:p>
        </p:txBody>
      </p:sp>
    </p:spTree>
    <p:extLst>
      <p:ext uri="{BB962C8B-B14F-4D97-AF65-F5344CB8AC3E}">
        <p14:creationId xmlns:p14="http://schemas.microsoft.com/office/powerpoint/2010/main" val="346710742"/>
      </p:ext>
    </p:extLst>
  </p:cSld>
</p:sld>
</file>

<file path=ppt/slides/slide28.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ECD6DE9-4121-46A9-B0E4-4EB089985E09}"/>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Указатели между процессами и unsigned char</a:t>
            </a:r>
          </a:p>
        </p:txBody>
      </p:sp>
      <p:sp>
        <p:nvSpPr>
          <p:cNvPr id="2" name="">
            <a:extLst xmlns:a="http://schemas.openxmlformats.org/drawingml/2006/main">
              <a:ext uri="{FF2B5EF4-FFF2-40B4-BE49-F238E27FC236}">
                <a16:creationId xmlns:a16="http://schemas.microsoft.com/office/drawing/2014/main" id="{68116F0B-4911-44E3-96FE-8C59548D4878}"/>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Почему нельзя отправить по сети значение указателя и ждать тот же объект у клиента?</a:t>
            </a:r>
          </a:p>
        </p:txBody>
      </p:sp>
      <p:sp>
        <p:nvSpPr>
          <p:cNvPr id="3" name="">
            <a:extLst xmlns:a="http://schemas.openxmlformats.org/drawingml/2006/main">
              <a:ext uri="{FF2B5EF4-FFF2-40B4-BE49-F238E27FC236}">
                <a16:creationId xmlns:a16="http://schemas.microsoft.com/office/drawing/2014/main" id="{50425D48-056C-4AEB-A9C4-5950FE76FD7D}"/>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У каждого процесса свое адресное пространство и время жизни объектов.</a:t>
            </a:r>
          </a:p>
        </p:txBody>
      </p:sp>
      <p:sp>
        <p:nvSpPr>
          <p:cNvPr id="4" name="">
            <a:extLst xmlns:a="http://schemas.openxmlformats.org/drawingml/2006/main">
              <a:ext uri="{FF2B5EF4-FFF2-40B4-BE49-F238E27FC236}">
                <a16:creationId xmlns:a16="http://schemas.microsoft.com/office/drawing/2014/main" id="{A3EB5EE9-BC51-4C6C-AE74-8799CD17BBFE}"/>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168  ssize_t count = send(client.fd, client.output.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data(), client.output.size(), MSG_NOSIGNAL);</a:t>
            </a:r>
          </a:p>
        </p:txBody>
      </p:sp>
      <p:sp>
        <p:nvSpPr>
          <p:cNvPr id="5" name="">
            <a:extLst xmlns:a="http://schemas.openxmlformats.org/drawingml/2006/main">
              <a:ext uri="{FF2B5EF4-FFF2-40B4-BE49-F238E27FC236}">
                <a16:creationId xmlns:a16="http://schemas.microsoft.com/office/drawing/2014/main" id="{DA817BDC-006C-4C65-AF21-469512F7BC8B}"/>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src/server/poll_server.cpp:168</a:t>
            </a:r>
          </a:p>
        </p:txBody>
      </p:sp>
      <p:sp>
        <p:nvSpPr>
          <p:cNvPr id="6" name="">
            <a:extLst xmlns:a="http://schemas.openxmlformats.org/drawingml/2006/main">
              <a:ext uri="{FF2B5EF4-FFF2-40B4-BE49-F238E27FC236}">
                <a16:creationId xmlns:a16="http://schemas.microsoft.com/office/drawing/2014/main" id="{8B3D0698-7BD8-4389-8C92-B80871F64A69}"/>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Зачем std::isspace получает static_cast&lt;unsigned char&gt;(c)?</a:t>
            </a:r>
          </a:p>
        </p:txBody>
      </p:sp>
      <p:sp>
        <p:nvSpPr>
          <p:cNvPr id="7" name="">
            <a:extLst xmlns:a="http://schemas.openxmlformats.org/drawingml/2006/main">
              <a:ext uri="{FF2B5EF4-FFF2-40B4-BE49-F238E27FC236}">
                <a16:creationId xmlns:a16="http://schemas.microsoft.com/office/drawing/2014/main" id="{157033E9-8FB5-4434-949B-20E7E42FD2A2}"/>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Чтобы избежать недопустимого отрицательного значения char для функции классификации.</a:t>
            </a:r>
          </a:p>
        </p:txBody>
      </p:sp>
      <p:sp>
        <p:nvSpPr>
          <p:cNvPr id="8" name="">
            <a:extLst xmlns:a="http://schemas.openxmlformats.org/drawingml/2006/main">
              <a:ext uri="{FF2B5EF4-FFF2-40B4-BE49-F238E27FC236}">
                <a16:creationId xmlns:a16="http://schemas.microsoft.com/office/drawing/2014/main" id="{A476BD87-7103-45C6-9FB6-E245FF8B323C}"/>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14  while (first &lt; s.size() &amp;&amp; std::isspace(</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static_cast&lt;unsigned char&gt;(s[first])))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15  ++first;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16  }</a:t>
            </a:r>
          </a:p>
        </p:txBody>
      </p:sp>
      <p:sp>
        <p:nvSpPr>
          <p:cNvPr id="9" name="">
            <a:extLst xmlns:a="http://schemas.openxmlformats.org/drawingml/2006/main">
              <a:ext uri="{FF2B5EF4-FFF2-40B4-BE49-F238E27FC236}">
                <a16:creationId xmlns:a16="http://schemas.microsoft.com/office/drawing/2014/main" id="{B6306B0E-198E-46B2-B199-D02D42071541}"/>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src/common/protocol.cpp:14,15,16</a:t>
            </a:r>
          </a:p>
        </p:txBody>
      </p:sp>
      <p:sp>
        <p:nvSpPr>
          <p:cNvPr id="10" name="">
            <a:extLst xmlns:a="http://schemas.openxmlformats.org/drawingml/2006/main">
              <a:ext uri="{FF2B5EF4-FFF2-40B4-BE49-F238E27FC236}">
                <a16:creationId xmlns:a16="http://schemas.microsoft.com/office/drawing/2014/main" id="{665A5F06-92E7-4E7E-82FE-270EC93D9A37}"/>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Что нужно сериализовать вместо адреса Variables?</a:t>
            </a:r>
          </a:p>
        </p:txBody>
      </p:sp>
      <p:sp>
        <p:nvSpPr>
          <p:cNvPr id="11" name="">
            <a:extLst xmlns:a="http://schemas.openxmlformats.org/drawingml/2006/main">
              <a:ext uri="{FF2B5EF4-FFF2-40B4-BE49-F238E27FC236}">
                <a16:creationId xmlns:a16="http://schemas.microsoft.com/office/drawing/2014/main" id="{04B0BEA2-A540-4CB9-AD2C-32182C5D75C9}"/>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Буферы и указатели C++</a:t>
            </a:r>
          </a:p>
        </p:txBody>
      </p:sp>
      <p:sp>
        <p:nvSpPr>
          <p:cNvPr id="12" name="">
            <a:extLst xmlns:a="http://schemas.openxmlformats.org/drawingml/2006/main">
              <a:ext uri="{FF2B5EF4-FFF2-40B4-BE49-F238E27FC236}">
                <a16:creationId xmlns:a16="http://schemas.microsoft.com/office/drawing/2014/main" id="{363ACE87-0818-4CB3-9E89-F9F4E1681829}"/>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28 / 66</a:t>
            </a:r>
          </a:p>
        </p:txBody>
      </p:sp>
    </p:spTree>
    <p:extLst>
      <p:ext uri="{BB962C8B-B14F-4D97-AF65-F5344CB8AC3E}">
        <p14:creationId xmlns:p14="http://schemas.microsoft.com/office/powerpoint/2010/main" val="995262043"/>
      </p:ext>
    </p:extLst>
  </p:cSld>
</p:sld>
</file>

<file path=ppt/slides/slide29.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28C9E10-6D41-4244-841E-1B7E2C7F24E1}"/>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Данные и конец входящего потока</a:t>
            </a:r>
          </a:p>
        </p:txBody>
      </p:sp>
      <p:sp>
        <p:nvSpPr>
          <p:cNvPr id="2" name="">
            <a:extLst xmlns:a="http://schemas.openxmlformats.org/drawingml/2006/main">
              <a:ext uri="{FF2B5EF4-FFF2-40B4-BE49-F238E27FC236}">
                <a16:creationId xmlns:a16="http://schemas.microsoft.com/office/drawing/2014/main" id="{93E091F3-A6AE-46F0-A159-034CF564FE99}"/>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означает положительный результат recv?</a:t>
            </a:r>
          </a:p>
        </p:txBody>
      </p:sp>
      <p:sp>
        <p:nvSpPr>
          <p:cNvPr id="3" name="">
            <a:extLst xmlns:a="http://schemas.openxmlformats.org/drawingml/2006/main">
              <a:ext uri="{FF2B5EF4-FFF2-40B4-BE49-F238E27FC236}">
                <a16:creationId xmlns:a16="http://schemas.microsoft.com/office/drawing/2014/main" id="{C35DBE80-D7DC-41A4-B63D-A2EBA5E8567B}"/>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Количество байтов, записанных в предоставленный буфер.</a:t>
            </a:r>
          </a:p>
        </p:txBody>
      </p:sp>
      <p:sp>
        <p:nvSpPr>
          <p:cNvPr id="4" name="">
            <a:extLst xmlns:a="http://schemas.openxmlformats.org/drawingml/2006/main">
              <a:ext uri="{FF2B5EF4-FFF2-40B4-BE49-F238E27FC236}">
                <a16:creationId xmlns:a16="http://schemas.microsoft.com/office/drawing/2014/main" id="{96A33C91-8453-4AEC-8F9A-DC349293E20C}"/>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141  if (count &gt; 0)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142  client.input.append(buffer, static_cast&lt;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std::size_t&gt;(count));</a:t>
            </a:r>
          </a:p>
        </p:txBody>
      </p:sp>
      <p:sp>
        <p:nvSpPr>
          <p:cNvPr id="5" name="">
            <a:extLst xmlns:a="http://schemas.openxmlformats.org/drawingml/2006/main">
              <a:ext uri="{FF2B5EF4-FFF2-40B4-BE49-F238E27FC236}">
                <a16:creationId xmlns:a16="http://schemas.microsoft.com/office/drawing/2014/main" id="{B4713B3A-3C79-4152-ACEC-0630D35D9FB5}"/>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src/server/poll_server.cpp:141,142</a:t>
            </a:r>
          </a:p>
        </p:txBody>
      </p:sp>
      <p:sp>
        <p:nvSpPr>
          <p:cNvPr id="6" name="">
            <a:extLst xmlns:a="http://schemas.openxmlformats.org/drawingml/2006/main">
              <a:ext uri="{FF2B5EF4-FFF2-40B4-BE49-F238E27FC236}">
                <a16:creationId xmlns:a16="http://schemas.microsoft.com/office/drawing/2014/main" id="{CD289B69-7C67-4617-A093-337E055D9706}"/>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означает recv == 0 на этом TCP-сокете при ненулевом размере буфера?</a:t>
            </a:r>
          </a:p>
        </p:txBody>
      </p:sp>
      <p:sp>
        <p:nvSpPr>
          <p:cNvPr id="7" name="">
            <a:extLst xmlns:a="http://schemas.openxmlformats.org/drawingml/2006/main">
              <a:ext uri="{FF2B5EF4-FFF2-40B4-BE49-F238E27FC236}">
                <a16:creationId xmlns:a16="http://schemas.microsoft.com/office/drawing/2014/main" id="{D00D9577-1D5C-4F3B-B4AB-34D280A24E25}"/>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Другая сторона завершила направление отправки, доступные данные уже прочитаны.</a:t>
            </a:r>
          </a:p>
        </p:txBody>
      </p:sp>
      <p:sp>
        <p:nvSpPr>
          <p:cNvPr id="8" name="">
            <a:extLst xmlns:a="http://schemas.openxmlformats.org/drawingml/2006/main">
              <a:ext uri="{FF2B5EF4-FFF2-40B4-BE49-F238E27FC236}">
                <a16:creationId xmlns:a16="http://schemas.microsoft.com/office/drawing/2014/main" id="{68BEB144-61CC-4CFE-B114-08D5E3738759}"/>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152  } else if (count == 0)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153  close_client(index);</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154  return;</a:t>
            </a:r>
          </a:p>
        </p:txBody>
      </p:sp>
      <p:sp>
        <p:nvSpPr>
          <p:cNvPr id="9" name="">
            <a:extLst xmlns:a="http://schemas.openxmlformats.org/drawingml/2006/main">
              <a:ext uri="{FF2B5EF4-FFF2-40B4-BE49-F238E27FC236}">
                <a16:creationId xmlns:a16="http://schemas.microsoft.com/office/drawing/2014/main" id="{736C9BE7-E67B-441B-A674-C9328F89BADF}"/>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src/server/poll_server.cpp:152,153,154</a:t>
            </a:r>
          </a:p>
        </p:txBody>
      </p:sp>
      <p:sp>
        <p:nvSpPr>
          <p:cNvPr id="10" name="">
            <a:extLst xmlns:a="http://schemas.openxmlformats.org/drawingml/2006/main">
              <a:ext uri="{FF2B5EF4-FFF2-40B4-BE49-F238E27FC236}">
                <a16:creationId xmlns:a16="http://schemas.microsoft.com/office/drawing/2014/main" id="{20859424-10E9-4D41-BE36-6146C00E511E}"/>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Что нужно проверить, прежде чем выполнять команду?</a:t>
            </a:r>
          </a:p>
        </p:txBody>
      </p:sp>
      <p:sp>
        <p:nvSpPr>
          <p:cNvPr id="11" name="">
            <a:extLst xmlns:a="http://schemas.openxmlformats.org/drawingml/2006/main">
              <a:ext uri="{FF2B5EF4-FFF2-40B4-BE49-F238E27FC236}">
                <a16:creationId xmlns:a16="http://schemas.microsoft.com/office/drawing/2014/main" id="{A471AD32-E702-41A4-9D4E-A2155391D7D0}"/>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Чтение и отправка</a:t>
            </a:r>
          </a:p>
        </p:txBody>
      </p:sp>
      <p:sp>
        <p:nvSpPr>
          <p:cNvPr id="12" name="">
            <a:extLst xmlns:a="http://schemas.openxmlformats.org/drawingml/2006/main">
              <a:ext uri="{FF2B5EF4-FFF2-40B4-BE49-F238E27FC236}">
                <a16:creationId xmlns:a16="http://schemas.microsoft.com/office/drawing/2014/main" id="{3A3F6603-CEE5-41BE-885B-8CCDFCBBCDAA}"/>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29 / 66</a:t>
            </a:r>
          </a:p>
        </p:txBody>
      </p:sp>
    </p:spTree>
    <p:extLst>
      <p:ext uri="{BB962C8B-B14F-4D97-AF65-F5344CB8AC3E}">
        <p14:creationId xmlns:p14="http://schemas.microsoft.com/office/powerpoint/2010/main" val="1804625543"/>
      </p:ext>
    </p:extLst>
  </p:cSld>
</p:sld>
</file>

<file path=ppt/slides/slide30.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219606B-C98E-41F2-9BA1-6A56468B94D6}"/>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EAGAIN и частичная отправка</a:t>
            </a:r>
          </a:p>
        </p:txBody>
      </p:sp>
      <p:sp>
        <p:nvSpPr>
          <p:cNvPr id="2" name="">
            <a:extLst xmlns:a="http://schemas.openxmlformats.org/drawingml/2006/main">
              <a:ext uri="{FF2B5EF4-FFF2-40B4-BE49-F238E27FC236}">
                <a16:creationId xmlns:a16="http://schemas.microsoft.com/office/drawing/2014/main" id="{F1180959-ED9B-48CF-A404-5FD8BE311B95}"/>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означает EAGAIN после неблокирующего recv?</a:t>
            </a:r>
          </a:p>
        </p:txBody>
      </p:sp>
      <p:sp>
        <p:nvSpPr>
          <p:cNvPr id="3" name="">
            <a:extLst xmlns:a="http://schemas.openxmlformats.org/drawingml/2006/main">
              <a:ext uri="{FF2B5EF4-FFF2-40B4-BE49-F238E27FC236}">
                <a16:creationId xmlns:a16="http://schemas.microsoft.com/office/drawing/2014/main" id="{99DD3554-3C45-4025-BB0A-7C6063D862FD}"/>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Сейчас данных нет, следует вернуться к ожиданию готовности.</a:t>
            </a:r>
          </a:p>
        </p:txBody>
      </p:sp>
      <p:sp>
        <p:nvSpPr>
          <p:cNvPr id="4" name="">
            <a:extLst xmlns:a="http://schemas.openxmlformats.org/drawingml/2006/main">
              <a:ext uri="{FF2B5EF4-FFF2-40B4-BE49-F238E27FC236}">
                <a16:creationId xmlns:a16="http://schemas.microsoft.com/office/drawing/2014/main" id="{21514A3A-423E-4619-A4A7-40255C3B2FF2}"/>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156  if (would_block())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157  return;</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158  }</a:t>
            </a:r>
          </a:p>
        </p:txBody>
      </p:sp>
      <p:sp>
        <p:nvSpPr>
          <p:cNvPr id="5" name="">
            <a:extLst xmlns:a="http://schemas.openxmlformats.org/drawingml/2006/main">
              <a:ext uri="{FF2B5EF4-FFF2-40B4-BE49-F238E27FC236}">
                <a16:creationId xmlns:a16="http://schemas.microsoft.com/office/drawing/2014/main" id="{ADF74831-BCFC-4814-BBDF-990CEA717CB3}"/>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src/server/poll_server.cpp:156,157,158</a:t>
            </a:r>
          </a:p>
        </p:txBody>
      </p:sp>
      <p:sp>
        <p:nvSpPr>
          <p:cNvPr id="6" name="">
            <a:extLst xmlns:a="http://schemas.openxmlformats.org/drawingml/2006/main">
              <a:ext uri="{FF2B5EF4-FFF2-40B4-BE49-F238E27FC236}">
                <a16:creationId xmlns:a16="http://schemas.microsoft.com/office/drawing/2014/main" id="{267C16DB-703C-4758-8B08-F9DA3110C5C8}"/>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Почему send вызывается в цикле?</a:t>
            </a:r>
          </a:p>
        </p:txBody>
      </p:sp>
      <p:sp>
        <p:nvSpPr>
          <p:cNvPr id="7" name="">
            <a:extLst xmlns:a="http://schemas.openxmlformats.org/drawingml/2006/main">
              <a:ext uri="{FF2B5EF4-FFF2-40B4-BE49-F238E27FC236}">
                <a16:creationId xmlns:a16="http://schemas.microsoft.com/office/drawing/2014/main" id="{9FE0F3FD-6440-4FBC-B2B4-2494FAA9AEEF}"/>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Он может отправить только часть переданного буфера.</a:t>
            </a:r>
          </a:p>
        </p:txBody>
      </p:sp>
      <p:sp>
        <p:nvSpPr>
          <p:cNvPr id="8" name="">
            <a:extLst xmlns:a="http://schemas.openxmlformats.org/drawingml/2006/main">
              <a:ext uri="{FF2B5EF4-FFF2-40B4-BE49-F238E27FC236}">
                <a16:creationId xmlns:a16="http://schemas.microsoft.com/office/drawing/2014/main" id="{80CE9C04-ECB5-4CE8-8753-E85780A29550}"/>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78  while (sent &lt; line.size())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79  ssize_t count = send(_socket, line.data() + sent,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line.size() - sent, 0);</a:t>
            </a:r>
          </a:p>
        </p:txBody>
      </p:sp>
      <p:sp>
        <p:nvSpPr>
          <p:cNvPr id="9" name="">
            <a:extLst xmlns:a="http://schemas.openxmlformats.org/drawingml/2006/main">
              <a:ext uri="{FF2B5EF4-FFF2-40B4-BE49-F238E27FC236}">
                <a16:creationId xmlns:a16="http://schemas.microsoft.com/office/drawing/2014/main" id="{A38B4612-9315-4DEB-9491-81555151DEDA}"/>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src/client/console_client.cpp:78,79</a:t>
            </a:r>
          </a:p>
        </p:txBody>
      </p:sp>
      <p:sp>
        <p:nvSpPr>
          <p:cNvPr id="10" name="">
            <a:extLst xmlns:a="http://schemas.openxmlformats.org/drawingml/2006/main">
              <a:ext uri="{FF2B5EF4-FFF2-40B4-BE49-F238E27FC236}">
                <a16:creationId xmlns:a16="http://schemas.microsoft.com/office/drawing/2014/main" id="{86274B37-3E0C-42C1-A014-4C6E0E460171}"/>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Почему нельзя просто крутить recv без ожидания?</a:t>
            </a:r>
          </a:p>
        </p:txBody>
      </p:sp>
      <p:sp>
        <p:nvSpPr>
          <p:cNvPr id="11" name="">
            <a:extLst xmlns:a="http://schemas.openxmlformats.org/drawingml/2006/main">
              <a:ext uri="{FF2B5EF4-FFF2-40B4-BE49-F238E27FC236}">
                <a16:creationId xmlns:a16="http://schemas.microsoft.com/office/drawing/2014/main" id="{56EE6E0A-AC46-4559-9BCF-2005D187E1CC}"/>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Чтение и отправка</a:t>
            </a:r>
          </a:p>
        </p:txBody>
      </p:sp>
      <p:sp>
        <p:nvSpPr>
          <p:cNvPr id="12" name="">
            <a:extLst xmlns:a="http://schemas.openxmlformats.org/drawingml/2006/main">
              <a:ext uri="{FF2B5EF4-FFF2-40B4-BE49-F238E27FC236}">
                <a16:creationId xmlns:a16="http://schemas.microsoft.com/office/drawing/2014/main" id="{5AF13201-4565-49B9-B8E3-F27F3F42DDF2}"/>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30 / 66</a:t>
            </a:r>
          </a:p>
        </p:txBody>
      </p:sp>
    </p:spTree>
    <p:extLst>
      <p:ext uri="{BB962C8B-B14F-4D97-AF65-F5344CB8AC3E}">
        <p14:creationId xmlns:p14="http://schemas.microsoft.com/office/powerpoint/2010/main" val="532587678"/>
      </p:ext>
    </p:extLst>
  </p:cSld>
</p:sld>
</file>

<file path=ppt/slides/slide31.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C0EF758-315E-4E53-9E93-BD194C327A0D}"/>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Подтверждение команды и выходной буфер</a:t>
            </a:r>
          </a:p>
        </p:txBody>
      </p:sp>
      <p:sp>
        <p:nvSpPr>
          <p:cNvPr id="2" name="">
            <a:extLst xmlns:a="http://schemas.openxmlformats.org/drawingml/2006/main">
              <a:ext uri="{FF2B5EF4-FFF2-40B4-BE49-F238E27FC236}">
                <a16:creationId xmlns:a16="http://schemas.microsoft.com/office/drawing/2014/main" id="{2E66AAE7-DF0F-49C3-A010-7219DE66603E}"/>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Доказывает ли успешный send, что сервер выполнил выражение?</a:t>
            </a:r>
          </a:p>
        </p:txBody>
      </p:sp>
      <p:sp>
        <p:nvSpPr>
          <p:cNvPr id="3" name="">
            <a:extLst xmlns:a="http://schemas.openxmlformats.org/drawingml/2006/main">
              <a:ext uri="{FF2B5EF4-FFF2-40B4-BE49-F238E27FC236}">
                <a16:creationId xmlns:a16="http://schemas.microsoft.com/office/drawing/2014/main" id="{DBC82F2C-5CEA-4F04-8924-6D44B5CC1337}"/>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Нет, он сообщает об успешном принятии соответствующих байтов на отправку.</a:t>
            </a:r>
          </a:p>
        </p:txBody>
      </p:sp>
      <p:sp>
        <p:nvSpPr>
          <p:cNvPr id="4" name="">
            <a:extLst xmlns:a="http://schemas.openxmlformats.org/drawingml/2006/main">
              <a:ext uri="{FF2B5EF4-FFF2-40B4-BE49-F238E27FC236}">
                <a16:creationId xmlns:a16="http://schemas.microsoft.com/office/drawing/2014/main" id="{B484A554-1FF6-4B5B-B60C-B864BD1B0F51}"/>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115  send_line(line);</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116  return receive_line();</a:t>
            </a:r>
          </a:p>
        </p:txBody>
      </p:sp>
      <p:sp>
        <p:nvSpPr>
          <p:cNvPr id="5" name="">
            <a:extLst xmlns:a="http://schemas.openxmlformats.org/drawingml/2006/main">
              <a:ext uri="{FF2B5EF4-FFF2-40B4-BE49-F238E27FC236}">
                <a16:creationId xmlns:a16="http://schemas.microsoft.com/office/drawing/2014/main" id="{8686EBD0-1FC5-4D3C-BC6C-3A4C018FAA2B}"/>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src/client/console_client.cpp:115,116</a:t>
            </a:r>
          </a:p>
        </p:txBody>
      </p:sp>
      <p:sp>
        <p:nvSpPr>
          <p:cNvPr id="6" name="">
            <a:extLst xmlns:a="http://schemas.openxmlformats.org/drawingml/2006/main">
              <a:ext uri="{FF2B5EF4-FFF2-40B4-BE49-F238E27FC236}">
                <a16:creationId xmlns:a16="http://schemas.microsoft.com/office/drawing/2014/main" id="{7116C818-8C31-4E54-9CAF-DBEB399C97A9}"/>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делает сервер после частичной отправки ответа?</a:t>
            </a:r>
          </a:p>
        </p:txBody>
      </p:sp>
      <p:sp>
        <p:nvSpPr>
          <p:cNvPr id="7" name="">
            <a:extLst xmlns:a="http://schemas.openxmlformats.org/drawingml/2006/main">
              <a:ext uri="{FF2B5EF4-FFF2-40B4-BE49-F238E27FC236}">
                <a16:creationId xmlns:a16="http://schemas.microsoft.com/office/drawing/2014/main" id="{DE793C72-34FE-4FE0-A18F-B4ADB6E31E65}"/>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Удаляет отправленный префикс и хранит оставшийся хвост.</a:t>
            </a:r>
          </a:p>
        </p:txBody>
      </p:sp>
      <p:sp>
        <p:nvSpPr>
          <p:cNvPr id="8" name="">
            <a:extLst xmlns:a="http://schemas.openxmlformats.org/drawingml/2006/main">
              <a:ext uri="{FF2B5EF4-FFF2-40B4-BE49-F238E27FC236}">
                <a16:creationId xmlns:a16="http://schemas.microsoft.com/office/drawing/2014/main" id="{C63EF81B-472B-44CC-B829-20C2A245942E}"/>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170  client.output.erase(0u, static_cast&lt;std::size_t&gt;(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count));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171  } else if (count &lt; 0 &amp;&amp; would_block())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172  return;</a:t>
            </a:r>
          </a:p>
        </p:txBody>
      </p:sp>
      <p:sp>
        <p:nvSpPr>
          <p:cNvPr id="9" name="">
            <a:extLst xmlns:a="http://schemas.openxmlformats.org/drawingml/2006/main">
              <a:ext uri="{FF2B5EF4-FFF2-40B4-BE49-F238E27FC236}">
                <a16:creationId xmlns:a16="http://schemas.microsoft.com/office/drawing/2014/main" id="{7E2F246D-1535-4467-85DA-B1F1C273429C}"/>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src/server/poll_server.cpp:170,171,172</a:t>
            </a:r>
          </a:p>
        </p:txBody>
      </p:sp>
      <p:sp>
        <p:nvSpPr>
          <p:cNvPr id="10" name="">
            <a:extLst xmlns:a="http://schemas.openxmlformats.org/drawingml/2006/main">
              <a:ext uri="{FF2B5EF4-FFF2-40B4-BE49-F238E27FC236}">
                <a16:creationId xmlns:a16="http://schemas.microsoft.com/office/drawing/2014/main" id="{B3D2439A-3A47-494C-902C-8DF1EF5D2470}"/>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Зачем после send_line вызывается receive_line?</a:t>
            </a:r>
          </a:p>
        </p:txBody>
      </p:sp>
      <p:sp>
        <p:nvSpPr>
          <p:cNvPr id="11" name="">
            <a:extLst xmlns:a="http://schemas.openxmlformats.org/drawingml/2006/main">
              <a:ext uri="{FF2B5EF4-FFF2-40B4-BE49-F238E27FC236}">
                <a16:creationId xmlns:a16="http://schemas.microsoft.com/office/drawing/2014/main" id="{D0EC3B76-B24C-4663-9B46-D8DAB6F347A3}"/>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Чтение и отправка</a:t>
            </a:r>
          </a:p>
        </p:txBody>
      </p:sp>
      <p:sp>
        <p:nvSpPr>
          <p:cNvPr id="12" name="">
            <a:extLst xmlns:a="http://schemas.openxmlformats.org/drawingml/2006/main">
              <a:ext uri="{FF2B5EF4-FFF2-40B4-BE49-F238E27FC236}">
                <a16:creationId xmlns:a16="http://schemas.microsoft.com/office/drawing/2014/main" id="{BF81A7C0-9B9A-450D-9325-D647D522D154}"/>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31 / 66</a:t>
            </a:r>
          </a:p>
        </p:txBody>
      </p:sp>
    </p:spTree>
    <p:extLst>
      <p:ext uri="{BB962C8B-B14F-4D97-AF65-F5344CB8AC3E}">
        <p14:creationId xmlns:p14="http://schemas.microsoft.com/office/powerpoint/2010/main" val="151434490"/>
      </p:ext>
    </p:extLst>
  </p:cSld>
</p:sld>
</file>

<file path=ppt/slides/slide32.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0EE432D-21C9-4E6E-ACE3-7CAA07F9D59F}"/>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SIGPIPE и errno</a:t>
            </a:r>
          </a:p>
        </p:txBody>
      </p:sp>
      <p:sp>
        <p:nvSpPr>
          <p:cNvPr id="2" name="">
            <a:extLst xmlns:a="http://schemas.openxmlformats.org/drawingml/2006/main">
              <a:ext uri="{FF2B5EF4-FFF2-40B4-BE49-F238E27FC236}">
                <a16:creationId xmlns:a16="http://schemas.microsoft.com/office/drawing/2014/main" id="{308BCDD1-F774-4C6A-82A3-626FFC46070B}"/>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Зачем сервер использует MSG_NOSIGNAL при send?</a:t>
            </a:r>
          </a:p>
        </p:txBody>
      </p:sp>
      <p:sp>
        <p:nvSpPr>
          <p:cNvPr id="3" name="">
            <a:extLst xmlns:a="http://schemas.openxmlformats.org/drawingml/2006/main">
              <a:ext uri="{FF2B5EF4-FFF2-40B4-BE49-F238E27FC236}">
                <a16:creationId xmlns:a16="http://schemas.microsoft.com/office/drawing/2014/main" id="{754D66BA-88BC-4A9D-A8A2-081E2F42B834}"/>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Чтобы ошибка записи в закрытое соединение не вызвала сигнал SIGPIPE для этого вызова.</a:t>
            </a:r>
          </a:p>
        </p:txBody>
      </p:sp>
      <p:sp>
        <p:nvSpPr>
          <p:cNvPr id="4" name="">
            <a:extLst xmlns:a="http://schemas.openxmlformats.org/drawingml/2006/main">
              <a:ext uri="{FF2B5EF4-FFF2-40B4-BE49-F238E27FC236}">
                <a16:creationId xmlns:a16="http://schemas.microsoft.com/office/drawing/2014/main" id="{6D0443EB-5308-415B-A081-72B2D1AB541D}"/>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168  ssize_t count = send(client.fd, client.output.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data(), client.output.size(), MSG_NOSIGNAL);</a:t>
            </a:r>
          </a:p>
        </p:txBody>
      </p:sp>
      <p:sp>
        <p:nvSpPr>
          <p:cNvPr id="5" name="">
            <a:extLst xmlns:a="http://schemas.openxmlformats.org/drawingml/2006/main">
              <a:ext uri="{FF2B5EF4-FFF2-40B4-BE49-F238E27FC236}">
                <a16:creationId xmlns:a16="http://schemas.microsoft.com/office/drawing/2014/main" id="{C372643E-4CFB-456D-916F-DA5D8B70A0D1}"/>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src/server/poll_server.cpp:168</a:t>
            </a:r>
          </a:p>
        </p:txBody>
      </p:sp>
      <p:sp>
        <p:nvSpPr>
          <p:cNvPr id="6" name="">
            <a:extLst xmlns:a="http://schemas.openxmlformats.org/drawingml/2006/main">
              <a:ext uri="{FF2B5EF4-FFF2-40B4-BE49-F238E27FC236}">
                <a16:creationId xmlns:a16="http://schemas.microsoft.com/office/drawing/2014/main" id="{A5FBC0A1-0486-45C6-A9AD-E84A96D2258D}"/>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Когда имеет смысл читать errno?</a:t>
            </a:r>
          </a:p>
        </p:txBody>
      </p:sp>
      <p:sp>
        <p:nvSpPr>
          <p:cNvPr id="7" name="">
            <a:extLst xmlns:a="http://schemas.openxmlformats.org/drawingml/2006/main">
              <a:ext uri="{FF2B5EF4-FFF2-40B4-BE49-F238E27FC236}">
                <a16:creationId xmlns:a16="http://schemas.microsoft.com/office/drawing/2014/main" id="{5683F2FD-91D7-474C-9C56-000F9AB517E9}"/>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После результата вызова, который сообщает об ошибке и использует errno.</a:t>
            </a:r>
          </a:p>
        </p:txBody>
      </p:sp>
      <p:sp>
        <p:nvSpPr>
          <p:cNvPr id="8" name="">
            <a:extLst xmlns:a="http://schemas.openxmlformats.org/drawingml/2006/main">
              <a:ext uri="{FF2B5EF4-FFF2-40B4-BE49-F238E27FC236}">
                <a16:creationId xmlns:a16="http://schemas.microsoft.com/office/drawing/2014/main" id="{0799D168-8706-4B26-A5FC-943D215C8797}"/>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60  if (_socket &lt; 0)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61  continue;</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62  }</a:t>
            </a:r>
          </a:p>
        </p:txBody>
      </p:sp>
      <p:sp>
        <p:nvSpPr>
          <p:cNvPr id="9" name="">
            <a:extLst xmlns:a="http://schemas.openxmlformats.org/drawingml/2006/main">
              <a:ext uri="{FF2B5EF4-FFF2-40B4-BE49-F238E27FC236}">
                <a16:creationId xmlns:a16="http://schemas.microsoft.com/office/drawing/2014/main" id="{450FA029-7E8D-4D08-8C44-E9D1688716DC}"/>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src/client/console_client.cpp:60,61,62</a:t>
            </a:r>
          </a:p>
        </p:txBody>
      </p:sp>
      <p:sp>
        <p:nvSpPr>
          <p:cNvPr id="10" name="">
            <a:extLst xmlns:a="http://schemas.openxmlformats.org/drawingml/2006/main">
              <a:ext uri="{FF2B5EF4-FFF2-40B4-BE49-F238E27FC236}">
                <a16:creationId xmlns:a16="http://schemas.microsoft.com/office/drawing/2014/main" id="{0709BD4A-5833-4A9C-A5A2-DCBC0B905B7E}"/>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Чем предотвращение сигнала отличается от успешной отправки?</a:t>
            </a:r>
          </a:p>
        </p:txBody>
      </p:sp>
      <p:sp>
        <p:nvSpPr>
          <p:cNvPr id="11" name="">
            <a:extLst xmlns:a="http://schemas.openxmlformats.org/drawingml/2006/main">
              <a:ext uri="{FF2B5EF4-FFF2-40B4-BE49-F238E27FC236}">
                <a16:creationId xmlns:a16="http://schemas.microsoft.com/office/drawing/2014/main" id="{93B3AD50-1CB4-4A65-8BE6-8B7F74D61703}"/>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Чтение и отправка</a:t>
            </a:r>
          </a:p>
        </p:txBody>
      </p:sp>
      <p:sp>
        <p:nvSpPr>
          <p:cNvPr id="12" name="">
            <a:extLst xmlns:a="http://schemas.openxmlformats.org/drawingml/2006/main">
              <a:ext uri="{FF2B5EF4-FFF2-40B4-BE49-F238E27FC236}">
                <a16:creationId xmlns:a16="http://schemas.microsoft.com/office/drawing/2014/main" id="{ACE2F012-E10F-4DA7-9399-EADB8BCCF12E}"/>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32 / 66</a:t>
            </a:r>
          </a:p>
        </p:txBody>
      </p:sp>
    </p:spTree>
    <p:extLst>
      <p:ext uri="{BB962C8B-B14F-4D97-AF65-F5344CB8AC3E}">
        <p14:creationId xmlns:p14="http://schemas.microsoft.com/office/powerpoint/2010/main" val="2107497429"/>
      </p:ext>
    </p:extLst>
  </p:cSld>
</p:sld>
</file>

<file path=ppt/slides/slide33.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8E29615-3595-4EA7-A232-0C765022DCCA}"/>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Прерывание poll и прием ответа</a:t>
            </a:r>
          </a:p>
        </p:txBody>
      </p:sp>
      <p:sp>
        <p:nvSpPr>
          <p:cNvPr id="2" name="">
            <a:extLst xmlns:a="http://schemas.openxmlformats.org/drawingml/2006/main">
              <a:ext uri="{FF2B5EF4-FFF2-40B4-BE49-F238E27FC236}">
                <a16:creationId xmlns:a16="http://schemas.microsoft.com/office/drawing/2014/main" id="{BED80C4E-97F0-40D7-AC66-33CBB8B048EB}"/>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означает EINTR у poll?</a:t>
            </a:r>
          </a:p>
        </p:txBody>
      </p:sp>
      <p:sp>
        <p:nvSpPr>
          <p:cNvPr id="3" name="">
            <a:extLst xmlns:a="http://schemas.openxmlformats.org/drawingml/2006/main">
              <a:ext uri="{FF2B5EF4-FFF2-40B4-BE49-F238E27FC236}">
                <a16:creationId xmlns:a16="http://schemas.microsoft.com/office/drawing/2014/main" id="{A5F13AF7-FF2B-42EB-9EA4-3BB56E166F96}"/>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Ожидание прервано обработкой сигнала.</a:t>
            </a:r>
          </a:p>
        </p:txBody>
      </p:sp>
      <p:sp>
        <p:nvSpPr>
          <p:cNvPr id="4" name="">
            <a:extLst xmlns:a="http://schemas.openxmlformats.org/drawingml/2006/main">
              <a:ext uri="{FF2B5EF4-FFF2-40B4-BE49-F238E27FC236}">
                <a16:creationId xmlns:a16="http://schemas.microsoft.com/office/drawing/2014/main" id="{7BA5E931-1316-4B1E-827E-3F5853BA6D30}"/>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86  if (errno == EINTR)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87  continue;</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88  }</a:t>
            </a:r>
          </a:p>
        </p:txBody>
      </p:sp>
      <p:sp>
        <p:nvSpPr>
          <p:cNvPr id="5" name="">
            <a:extLst xmlns:a="http://schemas.openxmlformats.org/drawingml/2006/main">
              <a:ext uri="{FF2B5EF4-FFF2-40B4-BE49-F238E27FC236}">
                <a16:creationId xmlns:a16="http://schemas.microsoft.com/office/drawing/2014/main" id="{F4DBA812-E55B-4ADD-ACAC-69A0A51F10E9}"/>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src/server/poll_server.cpp:86,87,88</a:t>
            </a:r>
          </a:p>
        </p:txBody>
      </p:sp>
      <p:sp>
        <p:nvSpPr>
          <p:cNvPr id="6" name="">
            <a:extLst xmlns:a="http://schemas.openxmlformats.org/drawingml/2006/main">
              <a:ext uri="{FF2B5EF4-FFF2-40B4-BE49-F238E27FC236}">
                <a16:creationId xmlns:a16="http://schemas.microsoft.com/office/drawing/2014/main" id="{9D35905E-BD5A-4927-AE11-D9A653C4D783}"/>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Как устроен прием ответа у консольного клиента?</a:t>
            </a:r>
          </a:p>
        </p:txBody>
      </p:sp>
      <p:sp>
        <p:nvSpPr>
          <p:cNvPr id="7" name="">
            <a:extLst xmlns:a="http://schemas.openxmlformats.org/drawingml/2006/main">
              <a:ext uri="{FF2B5EF4-FFF2-40B4-BE49-F238E27FC236}">
                <a16:creationId xmlns:a16="http://schemas.microsoft.com/office/drawing/2014/main" id="{48692AF5-F96C-4FE9-83EA-71513589960C}"/>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Блокирующее чтение по одному байту до \n.</a:t>
            </a:r>
          </a:p>
        </p:txBody>
      </p:sp>
      <p:sp>
        <p:nvSpPr>
          <p:cNvPr id="8" name="">
            <a:extLst xmlns:a="http://schemas.openxmlformats.org/drawingml/2006/main">
              <a:ext uri="{FF2B5EF4-FFF2-40B4-BE49-F238E27FC236}">
                <a16:creationId xmlns:a16="http://schemas.microsoft.com/office/drawing/2014/main" id="{346365DE-5781-44DB-829A-F7EF3C117D42}"/>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94  ssize_t count = recv(_socket, &amp;c, 1u, 0);</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95  if (count &lt; 0)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96  throw std::runtime_error(errno_message(</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"recv(2) error"));</a:t>
            </a:r>
          </a:p>
        </p:txBody>
      </p:sp>
      <p:sp>
        <p:nvSpPr>
          <p:cNvPr id="9" name="">
            <a:extLst xmlns:a="http://schemas.openxmlformats.org/drawingml/2006/main">
              <a:ext uri="{FF2B5EF4-FFF2-40B4-BE49-F238E27FC236}">
                <a16:creationId xmlns:a16="http://schemas.microsoft.com/office/drawing/2014/main" id="{9C3CDF94-0FD5-45D8-A369-B642D13A83BC}"/>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src/client/console_client.cpp:94,95,96</a:t>
            </a:r>
          </a:p>
        </p:txBody>
      </p:sp>
      <p:sp>
        <p:nvSpPr>
          <p:cNvPr id="10" name="">
            <a:extLst xmlns:a="http://schemas.openxmlformats.org/drawingml/2006/main">
              <a:ext uri="{FF2B5EF4-FFF2-40B4-BE49-F238E27FC236}">
                <a16:creationId xmlns:a16="http://schemas.microsoft.com/office/drawing/2014/main" id="{F38DFA92-0CB2-40FB-91CF-09EB80D996F0}"/>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Почему нельзя утверждать, что весь код устойчив к EINTR?</a:t>
            </a:r>
          </a:p>
        </p:txBody>
      </p:sp>
      <p:sp>
        <p:nvSpPr>
          <p:cNvPr id="11" name="">
            <a:extLst xmlns:a="http://schemas.openxmlformats.org/drawingml/2006/main">
              <a:ext uri="{FF2B5EF4-FFF2-40B4-BE49-F238E27FC236}">
                <a16:creationId xmlns:a16="http://schemas.microsoft.com/office/drawing/2014/main" id="{D0D5669B-FF71-4FBC-B9E0-83890B2E0E86}"/>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Чтение и отправка</a:t>
            </a:r>
          </a:p>
        </p:txBody>
      </p:sp>
      <p:sp>
        <p:nvSpPr>
          <p:cNvPr id="12" name="">
            <a:extLst xmlns:a="http://schemas.openxmlformats.org/drawingml/2006/main">
              <a:ext uri="{FF2B5EF4-FFF2-40B4-BE49-F238E27FC236}">
                <a16:creationId xmlns:a16="http://schemas.microsoft.com/office/drawing/2014/main" id="{932BF3F0-5B84-434A-9D05-668005FECBC7}"/>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33 / 66</a:t>
            </a:r>
          </a:p>
        </p:txBody>
      </p:sp>
    </p:spTree>
    <p:extLst>
      <p:ext uri="{BB962C8B-B14F-4D97-AF65-F5344CB8AC3E}">
        <p14:creationId xmlns:p14="http://schemas.microsoft.com/office/powerpoint/2010/main" val="611114401"/>
      </p:ext>
    </p:extLst>
  </p:cSld>
</p:sld>
</file>

<file path=ppt/slides/slide34.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3028856-CF4E-4E54-A023-316766BC990B}"/>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Массив pollfd и число элементов</a:t>
            </a:r>
          </a:p>
        </p:txBody>
      </p:sp>
      <p:sp>
        <p:nvSpPr>
          <p:cNvPr id="2" name="">
            <a:extLst xmlns:a="http://schemas.openxmlformats.org/drawingml/2006/main">
              <a:ext uri="{FF2B5EF4-FFF2-40B4-BE49-F238E27FC236}">
                <a16:creationId xmlns:a16="http://schemas.microsoft.com/office/drawing/2014/main" id="{B2F4A21D-F970-4DD9-8299-64E5871DA9D8}"/>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делает poll в главном цикле?</a:t>
            </a:r>
          </a:p>
        </p:txBody>
      </p:sp>
      <p:sp>
        <p:nvSpPr>
          <p:cNvPr id="3" name="">
            <a:extLst xmlns:a="http://schemas.openxmlformats.org/drawingml/2006/main">
              <a:ext uri="{FF2B5EF4-FFF2-40B4-BE49-F238E27FC236}">
                <a16:creationId xmlns:a16="http://schemas.microsoft.com/office/drawing/2014/main" id="{3391B03E-B214-4C58-8CBD-616A3725C71F}"/>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Ждет готовности или особых событий у набора дескрипторов.</a:t>
            </a:r>
          </a:p>
        </p:txBody>
      </p:sp>
      <p:sp>
        <p:nvSpPr>
          <p:cNvPr id="4" name="">
            <a:extLst xmlns:a="http://schemas.openxmlformats.org/drawingml/2006/main">
              <a:ext uri="{FF2B5EF4-FFF2-40B4-BE49-F238E27FC236}">
                <a16:creationId xmlns:a16="http://schemas.microsoft.com/office/drawing/2014/main" id="{67EF3761-E214-4F37-A9DB-36165F38630F}"/>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84  int ready = poll(_poll_fds.data(), _poll_fds.size(</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 -1);</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85  if (ready &lt; 0) {</a:t>
            </a:r>
          </a:p>
        </p:txBody>
      </p:sp>
      <p:sp>
        <p:nvSpPr>
          <p:cNvPr id="5" name="">
            <a:extLst xmlns:a="http://schemas.openxmlformats.org/drawingml/2006/main">
              <a:ext uri="{FF2B5EF4-FFF2-40B4-BE49-F238E27FC236}">
                <a16:creationId xmlns:a16="http://schemas.microsoft.com/office/drawing/2014/main" id="{E9025690-E32D-4D6E-BC79-49015C078876}"/>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src/server/poll_server.cpp:84,85</a:t>
            </a:r>
          </a:p>
        </p:txBody>
      </p:sp>
      <p:sp>
        <p:nvSpPr>
          <p:cNvPr id="6" name="">
            <a:extLst xmlns:a="http://schemas.openxmlformats.org/drawingml/2006/main">
              <a:ext uri="{FF2B5EF4-FFF2-40B4-BE49-F238E27FC236}">
                <a16:creationId xmlns:a16="http://schemas.microsoft.com/office/drawing/2014/main" id="{8A167FB9-25AC-475F-ACDF-039078BCD756}"/>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передается вторым аргументом poll?</a:t>
            </a:r>
          </a:p>
        </p:txBody>
      </p:sp>
      <p:sp>
        <p:nvSpPr>
          <p:cNvPr id="7" name="">
            <a:extLst xmlns:a="http://schemas.openxmlformats.org/drawingml/2006/main">
              <a:ext uri="{FF2B5EF4-FFF2-40B4-BE49-F238E27FC236}">
                <a16:creationId xmlns:a16="http://schemas.microsoft.com/office/drawing/2014/main" id="{F5F7CD75-6B68-4C1B-8E5A-46C706EC8DC8}"/>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Количество элементов pollfd.</a:t>
            </a:r>
          </a:p>
        </p:txBody>
      </p:sp>
      <p:sp>
        <p:nvSpPr>
          <p:cNvPr id="8" name="">
            <a:extLst xmlns:a="http://schemas.openxmlformats.org/drawingml/2006/main">
              <a:ext uri="{FF2B5EF4-FFF2-40B4-BE49-F238E27FC236}">
                <a16:creationId xmlns:a16="http://schemas.microsoft.com/office/drawing/2014/main" id="{D89E7163-C30D-4108-9E12-F272540F430E}"/>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84  int ready = poll(_poll_fds.data(), _poll_fds.size(</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 -1);</a:t>
            </a:r>
          </a:p>
        </p:txBody>
      </p:sp>
      <p:sp>
        <p:nvSpPr>
          <p:cNvPr id="9" name="">
            <a:extLst xmlns:a="http://schemas.openxmlformats.org/drawingml/2006/main">
              <a:ext uri="{FF2B5EF4-FFF2-40B4-BE49-F238E27FC236}">
                <a16:creationId xmlns:a16="http://schemas.microsoft.com/office/drawing/2014/main" id="{8524207C-3DE0-4568-8C46-D84A3F647AA7}"/>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src/server/poll_server.cpp:84</a:t>
            </a:r>
          </a:p>
        </p:txBody>
      </p:sp>
      <p:sp>
        <p:nvSpPr>
          <p:cNvPr id="10" name="">
            <a:extLst xmlns:a="http://schemas.openxmlformats.org/drawingml/2006/main">
              <a:ext uri="{FF2B5EF4-FFF2-40B4-BE49-F238E27FC236}">
                <a16:creationId xmlns:a16="http://schemas.microsoft.com/office/drawing/2014/main" id="{00CEA1DD-8B8D-486D-ABEA-DDEC0C8B49C0}"/>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Почему после poll еще нужны recv и send?</a:t>
            </a:r>
          </a:p>
        </p:txBody>
      </p:sp>
      <p:sp>
        <p:nvSpPr>
          <p:cNvPr id="11" name="">
            <a:extLst xmlns:a="http://schemas.openxmlformats.org/drawingml/2006/main">
              <a:ext uri="{FF2B5EF4-FFF2-40B4-BE49-F238E27FC236}">
                <a16:creationId xmlns:a16="http://schemas.microsoft.com/office/drawing/2014/main" id="{40F71B16-1396-4C00-A80D-5359A4CE6AFB}"/>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Событийный сервер</a:t>
            </a:r>
          </a:p>
        </p:txBody>
      </p:sp>
      <p:sp>
        <p:nvSpPr>
          <p:cNvPr id="12" name="">
            <a:extLst xmlns:a="http://schemas.openxmlformats.org/drawingml/2006/main">
              <a:ext uri="{FF2B5EF4-FFF2-40B4-BE49-F238E27FC236}">
                <a16:creationId xmlns:a16="http://schemas.microsoft.com/office/drawing/2014/main" id="{2DA962F6-522E-4410-A58B-5FFC4015FCAD}"/>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34 / 66</a:t>
            </a:r>
          </a:p>
        </p:txBody>
      </p:sp>
    </p:spTree>
    <p:extLst>
      <p:ext uri="{BB962C8B-B14F-4D97-AF65-F5344CB8AC3E}">
        <p14:creationId xmlns:p14="http://schemas.microsoft.com/office/powerpoint/2010/main" val="476960907"/>
      </p:ext>
    </p:extLst>
  </p:cSld>
</p:sld>
</file>

<file path=ppt/slides/slide35.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0C47C47-C204-4DEA-BA52-C981F686B0E5}"/>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Ожидание и события готовности</a:t>
            </a:r>
          </a:p>
        </p:txBody>
      </p:sp>
      <p:sp>
        <p:nvSpPr>
          <p:cNvPr id="2" name="">
            <a:extLst xmlns:a="http://schemas.openxmlformats.org/drawingml/2006/main">
              <a:ext uri="{FF2B5EF4-FFF2-40B4-BE49-F238E27FC236}">
                <a16:creationId xmlns:a16="http://schemas.microsoft.com/office/drawing/2014/main" id="{F2C1BC0F-B88B-4346-8281-CB103A618874}"/>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означает timeout = -1 у poll?</a:t>
            </a:r>
          </a:p>
        </p:txBody>
      </p:sp>
      <p:sp>
        <p:nvSpPr>
          <p:cNvPr id="3" name="">
            <a:extLst xmlns:a="http://schemas.openxmlformats.org/drawingml/2006/main">
              <a:ext uri="{FF2B5EF4-FFF2-40B4-BE49-F238E27FC236}">
                <a16:creationId xmlns:a16="http://schemas.microsoft.com/office/drawing/2014/main" id="{443BEF49-540F-40B7-A510-A4B2ADBD144D}"/>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Ожидание без заданного предела времени до события или прерывания.</a:t>
            </a:r>
          </a:p>
        </p:txBody>
      </p:sp>
      <p:sp>
        <p:nvSpPr>
          <p:cNvPr id="4" name="">
            <a:extLst xmlns:a="http://schemas.openxmlformats.org/drawingml/2006/main">
              <a:ext uri="{FF2B5EF4-FFF2-40B4-BE49-F238E27FC236}">
                <a16:creationId xmlns:a16="http://schemas.microsoft.com/office/drawing/2014/main" id="{B0E705D0-FCC2-4E92-93DA-306DDC4BA8D7}"/>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84  int ready = poll(_poll_fds.data(), _poll_fds.size(</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 -1);</a:t>
            </a:r>
          </a:p>
        </p:txBody>
      </p:sp>
      <p:sp>
        <p:nvSpPr>
          <p:cNvPr id="5" name="">
            <a:extLst xmlns:a="http://schemas.openxmlformats.org/drawingml/2006/main">
              <a:ext uri="{FF2B5EF4-FFF2-40B4-BE49-F238E27FC236}">
                <a16:creationId xmlns:a16="http://schemas.microsoft.com/office/drawing/2014/main" id="{6BE94CA2-233F-454C-B975-F80063A03CBA}"/>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src/server/poll_server.cpp:84</a:t>
            </a:r>
          </a:p>
        </p:txBody>
      </p:sp>
      <p:sp>
        <p:nvSpPr>
          <p:cNvPr id="6" name="">
            <a:extLst xmlns:a="http://schemas.openxmlformats.org/drawingml/2006/main">
              <a:ext uri="{FF2B5EF4-FFF2-40B4-BE49-F238E27FC236}">
                <a16:creationId xmlns:a16="http://schemas.microsoft.com/office/drawing/2014/main" id="{97D8E8D7-2F4A-4841-952C-DE16A6A565C5}"/>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Чем events отличается от revents?</a:t>
            </a:r>
          </a:p>
        </p:txBody>
      </p:sp>
      <p:sp>
        <p:nvSpPr>
          <p:cNvPr id="7" name="">
            <a:extLst xmlns:a="http://schemas.openxmlformats.org/drawingml/2006/main">
              <a:ext uri="{FF2B5EF4-FFF2-40B4-BE49-F238E27FC236}">
                <a16:creationId xmlns:a16="http://schemas.microsoft.com/office/drawing/2014/main" id="{8F4D6D55-F179-4BA7-9143-D09F9C9CB3F4}"/>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events задает интересующие события, revents содержит произошедшие.</a:t>
            </a:r>
          </a:p>
        </p:txBody>
      </p:sp>
      <p:sp>
        <p:nvSpPr>
          <p:cNvPr id="8" name="">
            <a:extLst xmlns:a="http://schemas.openxmlformats.org/drawingml/2006/main">
              <a:ext uri="{FF2B5EF4-FFF2-40B4-BE49-F238E27FC236}">
                <a16:creationId xmlns:a16="http://schemas.microsoft.com/office/drawing/2014/main" id="{A6A43884-252D-48E1-9E60-4203C04781EE}"/>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280  item.events = POLLIN;</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281  if (!client.output.empty())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282  item.events |= POLLOUT;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283  }</a:t>
            </a:r>
          </a:p>
        </p:txBody>
      </p:sp>
      <p:sp>
        <p:nvSpPr>
          <p:cNvPr id="9" name="">
            <a:extLst xmlns:a="http://schemas.openxmlformats.org/drawingml/2006/main">
              <a:ext uri="{FF2B5EF4-FFF2-40B4-BE49-F238E27FC236}">
                <a16:creationId xmlns:a16="http://schemas.microsoft.com/office/drawing/2014/main" id="{465A1D04-6B8A-4958-B245-4AD11BB1FCA4}"/>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src/server/poll_server.cpp:280,281,282,283</a:t>
            </a:r>
          </a:p>
        </p:txBody>
      </p:sp>
      <p:sp>
        <p:nvSpPr>
          <p:cNvPr id="10" name="">
            <a:extLst xmlns:a="http://schemas.openxmlformats.org/drawingml/2006/main">
              <a:ext uri="{FF2B5EF4-FFF2-40B4-BE49-F238E27FC236}">
                <a16:creationId xmlns:a16="http://schemas.microsoft.com/office/drawing/2014/main" id="{4632F3C9-3FF0-4B4F-ABB9-1E5F9F100EBB}"/>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Почему неблокирующий сервер может блокироваться внутри poll?</a:t>
            </a:r>
          </a:p>
        </p:txBody>
      </p:sp>
      <p:sp>
        <p:nvSpPr>
          <p:cNvPr id="11" name="">
            <a:extLst xmlns:a="http://schemas.openxmlformats.org/drawingml/2006/main">
              <a:ext uri="{FF2B5EF4-FFF2-40B4-BE49-F238E27FC236}">
                <a16:creationId xmlns:a16="http://schemas.microsoft.com/office/drawing/2014/main" id="{F09A218E-3F93-4FEF-9B88-99FFD84F8375}"/>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Событийный сервер</a:t>
            </a:r>
          </a:p>
        </p:txBody>
      </p:sp>
      <p:sp>
        <p:nvSpPr>
          <p:cNvPr id="12" name="">
            <a:extLst xmlns:a="http://schemas.openxmlformats.org/drawingml/2006/main">
              <a:ext uri="{FF2B5EF4-FFF2-40B4-BE49-F238E27FC236}">
                <a16:creationId xmlns:a16="http://schemas.microsoft.com/office/drawing/2014/main" id="{8765C93D-1D6E-4690-AED0-423C91DE6306}"/>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35 / 66</a:t>
            </a:r>
          </a:p>
        </p:txBody>
      </p:sp>
    </p:spTree>
    <p:extLst>
      <p:ext uri="{BB962C8B-B14F-4D97-AF65-F5344CB8AC3E}">
        <p14:creationId xmlns:p14="http://schemas.microsoft.com/office/powerpoint/2010/main" val="1730532285"/>
      </p:ext>
    </p:extLst>
  </p:cSld>
</p:sld>
</file>

<file path=ppt/slides/slide36.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C8F3E04-9597-4DA8-9079-33135833ECE1}"/>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Слушающий сокет и битовая маска</a:t>
            </a:r>
          </a:p>
        </p:txBody>
      </p:sp>
      <p:sp>
        <p:nvSpPr>
          <p:cNvPr id="2" name="">
            <a:extLst xmlns:a="http://schemas.openxmlformats.org/drawingml/2006/main">
              <a:ext uri="{FF2B5EF4-FFF2-40B4-BE49-F238E27FC236}">
                <a16:creationId xmlns:a16="http://schemas.microsoft.com/office/drawing/2014/main" id="{F42EF556-2993-4D05-B455-84CA78BBF480}"/>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означает POLLIN на слушающем сокете?</a:t>
            </a:r>
          </a:p>
        </p:txBody>
      </p:sp>
      <p:sp>
        <p:nvSpPr>
          <p:cNvPr id="3" name="">
            <a:extLst xmlns:a="http://schemas.openxmlformats.org/drawingml/2006/main">
              <a:ext uri="{FF2B5EF4-FFF2-40B4-BE49-F238E27FC236}">
                <a16:creationId xmlns:a16="http://schemas.microsoft.com/office/drawing/2014/main" id="{8FDA91A0-F0E0-4BF8-8454-A88D98012671}"/>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Можно попытаться принять ожидающее соединение.</a:t>
            </a:r>
          </a:p>
        </p:txBody>
      </p:sp>
      <p:sp>
        <p:nvSpPr>
          <p:cNvPr id="4" name="">
            <a:extLst xmlns:a="http://schemas.openxmlformats.org/drawingml/2006/main">
              <a:ext uri="{FF2B5EF4-FFF2-40B4-BE49-F238E27FC236}">
                <a16:creationId xmlns:a16="http://schemas.microsoft.com/office/drawing/2014/main" id="{7A722AE2-CA64-4A04-9A60-F66FC876DB15}"/>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92  if (!_poll_fds.empty() &amp;&amp; (_poll_fds[0].revents &amp;</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POLLIN))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93  accept_clients();</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94  }</a:t>
            </a:r>
          </a:p>
        </p:txBody>
      </p:sp>
      <p:sp>
        <p:nvSpPr>
          <p:cNvPr id="5" name="">
            <a:extLst xmlns:a="http://schemas.openxmlformats.org/drawingml/2006/main">
              <a:ext uri="{FF2B5EF4-FFF2-40B4-BE49-F238E27FC236}">
                <a16:creationId xmlns:a16="http://schemas.microsoft.com/office/drawing/2014/main" id="{16AE1241-E9B6-4BD3-A37E-76582389D981}"/>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src/server/poll_server.cpp:92,93,94</a:t>
            </a:r>
          </a:p>
        </p:txBody>
      </p:sp>
      <p:sp>
        <p:nvSpPr>
          <p:cNvPr id="6" name="">
            <a:extLst xmlns:a="http://schemas.openxmlformats.org/drawingml/2006/main">
              <a:ext uri="{FF2B5EF4-FFF2-40B4-BE49-F238E27FC236}">
                <a16:creationId xmlns:a16="http://schemas.microsoft.com/office/drawing/2014/main" id="{EFF7514A-C2BF-4F4E-95E0-9837B2946632}"/>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Зачем проверяют events &amp; POLLIN, а не events == POLLIN?</a:t>
            </a:r>
          </a:p>
        </p:txBody>
      </p:sp>
      <p:sp>
        <p:nvSpPr>
          <p:cNvPr id="7" name="">
            <a:extLst xmlns:a="http://schemas.openxmlformats.org/drawingml/2006/main">
              <a:ext uri="{FF2B5EF4-FFF2-40B4-BE49-F238E27FC236}">
                <a16:creationId xmlns:a16="http://schemas.microsoft.com/office/drawing/2014/main" id="{FF14A736-DCD2-48A4-B002-5C592ED940F4}"/>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Потому что одновременно могут быть установлены несколько битов событий.</a:t>
            </a:r>
          </a:p>
        </p:txBody>
      </p:sp>
      <p:sp>
        <p:nvSpPr>
          <p:cNvPr id="8" name="">
            <a:extLst xmlns:a="http://schemas.openxmlformats.org/drawingml/2006/main">
              <a:ext uri="{FF2B5EF4-FFF2-40B4-BE49-F238E27FC236}">
                <a16:creationId xmlns:a16="http://schemas.microsoft.com/office/drawing/2014/main" id="{A15E2482-E0EB-4938-B7B2-B300D7184CA2}"/>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103  if (events &amp; POLLIN)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104  read_client(index);</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105  }</a:t>
            </a:r>
          </a:p>
        </p:txBody>
      </p:sp>
      <p:sp>
        <p:nvSpPr>
          <p:cNvPr id="9" name="">
            <a:extLst xmlns:a="http://schemas.openxmlformats.org/drawingml/2006/main">
              <a:ext uri="{FF2B5EF4-FFF2-40B4-BE49-F238E27FC236}">
                <a16:creationId xmlns:a16="http://schemas.microsoft.com/office/drawing/2014/main" id="{E27B3656-6DCC-4D01-94F9-E5BDB817E9A0}"/>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src/server/poll_server.cpp:103,104,105</a:t>
            </a:r>
          </a:p>
        </p:txBody>
      </p:sp>
      <p:sp>
        <p:nvSpPr>
          <p:cNvPr id="10" name="">
            <a:extLst xmlns:a="http://schemas.openxmlformats.org/drawingml/2006/main">
              <a:ext uri="{FF2B5EF4-FFF2-40B4-BE49-F238E27FC236}">
                <a16:creationId xmlns:a16="http://schemas.microsoft.com/office/drawing/2014/main" id="{E83007CF-9523-41CB-93FB-D93B57ABA0DE}"/>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Сравни реакцию на POLLIN у listener и у client fd.</a:t>
            </a:r>
          </a:p>
        </p:txBody>
      </p:sp>
      <p:sp>
        <p:nvSpPr>
          <p:cNvPr id="11" name="">
            <a:extLst xmlns:a="http://schemas.openxmlformats.org/drawingml/2006/main">
              <a:ext uri="{FF2B5EF4-FFF2-40B4-BE49-F238E27FC236}">
                <a16:creationId xmlns:a16="http://schemas.microsoft.com/office/drawing/2014/main" id="{BBAA73B3-B2EB-4FF5-AA88-E484E83631E1}"/>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Событийный сервер</a:t>
            </a:r>
          </a:p>
        </p:txBody>
      </p:sp>
      <p:sp>
        <p:nvSpPr>
          <p:cNvPr id="12" name="">
            <a:extLst xmlns:a="http://schemas.openxmlformats.org/drawingml/2006/main">
              <a:ext uri="{FF2B5EF4-FFF2-40B4-BE49-F238E27FC236}">
                <a16:creationId xmlns:a16="http://schemas.microsoft.com/office/drawing/2014/main" id="{D290623E-D9AE-44A5-93A2-616B17D1ABE9}"/>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36 / 66</a:t>
            </a:r>
          </a:p>
        </p:txBody>
      </p:sp>
    </p:spTree>
    <p:extLst>
      <p:ext uri="{BB962C8B-B14F-4D97-AF65-F5344CB8AC3E}">
        <p14:creationId xmlns:p14="http://schemas.microsoft.com/office/powerpoint/2010/main" val="1605924425"/>
      </p:ext>
    </p:extLst>
  </p:cSld>
</p:sld>
</file>

<file path=ppt/slides/slide37.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7B14B53-CA3C-492E-BD8F-203751C0EA72}"/>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POLLOUT и неблокирующий режим</a:t>
            </a:r>
          </a:p>
        </p:txBody>
      </p:sp>
      <p:sp>
        <p:nvSpPr>
          <p:cNvPr id="2" name="">
            <a:extLst xmlns:a="http://schemas.openxmlformats.org/drawingml/2006/main">
              <a:ext uri="{FF2B5EF4-FFF2-40B4-BE49-F238E27FC236}">
                <a16:creationId xmlns:a16="http://schemas.microsoft.com/office/drawing/2014/main" id="{F4DB7A2F-E774-4A7F-A269-8F9596B598F8}"/>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Почему POLLOUT запрашивается только при непустом output?</a:t>
            </a:r>
          </a:p>
        </p:txBody>
      </p:sp>
      <p:sp>
        <p:nvSpPr>
          <p:cNvPr id="3" name="">
            <a:extLst xmlns:a="http://schemas.openxmlformats.org/drawingml/2006/main">
              <a:ext uri="{FF2B5EF4-FFF2-40B4-BE49-F238E27FC236}">
                <a16:creationId xmlns:a16="http://schemas.microsoft.com/office/drawing/2014/main" id="{5328341A-26BA-46CE-A979-A03FA054872A}"/>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Иначе обычно готовый к записи сокет может постоянно будить цикл без полезной работы.</a:t>
            </a:r>
          </a:p>
        </p:txBody>
      </p:sp>
      <p:sp>
        <p:nvSpPr>
          <p:cNvPr id="4" name="">
            <a:extLst xmlns:a="http://schemas.openxmlformats.org/drawingml/2006/main">
              <a:ext uri="{FF2B5EF4-FFF2-40B4-BE49-F238E27FC236}">
                <a16:creationId xmlns:a16="http://schemas.microsoft.com/office/drawing/2014/main" id="{1E0FF077-FA69-4C1B-A2BA-5E919CBFD711}"/>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281  if (!client.output.empty())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282  item.events |= POLLOUT;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283  }</a:t>
            </a:r>
          </a:p>
        </p:txBody>
      </p:sp>
      <p:sp>
        <p:nvSpPr>
          <p:cNvPr id="5" name="">
            <a:extLst xmlns:a="http://schemas.openxmlformats.org/drawingml/2006/main">
              <a:ext uri="{FF2B5EF4-FFF2-40B4-BE49-F238E27FC236}">
                <a16:creationId xmlns:a16="http://schemas.microsoft.com/office/drawing/2014/main" id="{C9D65D81-539C-4AAC-89C0-D06F88416388}"/>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src/server/poll_server.cpp:281,282,283</a:t>
            </a:r>
          </a:p>
        </p:txBody>
      </p:sp>
      <p:sp>
        <p:nvSpPr>
          <p:cNvPr id="6" name="">
            <a:extLst xmlns:a="http://schemas.openxmlformats.org/drawingml/2006/main">
              <a:ext uri="{FF2B5EF4-FFF2-40B4-BE49-F238E27FC236}">
                <a16:creationId xmlns:a16="http://schemas.microsoft.com/office/drawing/2014/main" id="{9DD52E2C-D32A-4F7F-A004-7DE86DD02A70}"/>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устанавливает O_NONBLOCK?</a:t>
            </a:r>
          </a:p>
        </p:txBody>
      </p:sp>
      <p:sp>
        <p:nvSpPr>
          <p:cNvPr id="7" name="">
            <a:extLst xmlns:a="http://schemas.openxmlformats.org/drawingml/2006/main">
              <a:ext uri="{FF2B5EF4-FFF2-40B4-BE49-F238E27FC236}">
                <a16:creationId xmlns:a16="http://schemas.microsoft.com/office/drawing/2014/main" id="{950AF777-BA00-4B1F-B70C-E9A2E785CF24}"/>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Запрет операции ждать готовности, если сейчас она не может продвинуться.</a:t>
            </a:r>
          </a:p>
        </p:txBody>
      </p:sp>
      <p:sp>
        <p:nvSpPr>
          <p:cNvPr id="8" name="">
            <a:extLst xmlns:a="http://schemas.openxmlformats.org/drawingml/2006/main">
              <a:ext uri="{FF2B5EF4-FFF2-40B4-BE49-F238E27FC236}">
                <a16:creationId xmlns:a16="http://schemas.microsoft.com/office/drawing/2014/main" id="{AC4A106A-D71B-4C0F-A1D2-E4298CBF5434}"/>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24  if (fcntl(fd, F_SETFL, flags | O_NONBLOCK) &lt; 0)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25  throw std::runtime_error("fcntl(F_SETFL) error");</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26  }</a:t>
            </a:r>
          </a:p>
        </p:txBody>
      </p:sp>
      <p:sp>
        <p:nvSpPr>
          <p:cNvPr id="9" name="">
            <a:extLst xmlns:a="http://schemas.openxmlformats.org/drawingml/2006/main">
              <a:ext uri="{FF2B5EF4-FFF2-40B4-BE49-F238E27FC236}">
                <a16:creationId xmlns:a16="http://schemas.microsoft.com/office/drawing/2014/main" id="{F404B1F6-0A59-418F-9084-B88BC7534991}"/>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src/server/poll_server.cpp:24,25,26</a:t>
            </a:r>
          </a:p>
        </p:txBody>
      </p:sp>
      <p:sp>
        <p:nvSpPr>
          <p:cNvPr id="10" name="">
            <a:extLst xmlns:a="http://schemas.openxmlformats.org/drawingml/2006/main">
              <a:ext uri="{FF2B5EF4-FFF2-40B4-BE49-F238E27FC236}">
                <a16:creationId xmlns:a16="http://schemas.microsoft.com/office/drawing/2014/main" id="{4325E62D-4392-4509-A031-3590F5B3854B}"/>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Как образуется холостой цикл при постоянном POLLOUT?</a:t>
            </a:r>
          </a:p>
        </p:txBody>
      </p:sp>
      <p:sp>
        <p:nvSpPr>
          <p:cNvPr id="11" name="">
            <a:extLst xmlns:a="http://schemas.openxmlformats.org/drawingml/2006/main">
              <a:ext uri="{FF2B5EF4-FFF2-40B4-BE49-F238E27FC236}">
                <a16:creationId xmlns:a16="http://schemas.microsoft.com/office/drawing/2014/main" id="{DC2EE9AA-1036-43B8-9898-29A34CC8E0BF}"/>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Событийный сервер</a:t>
            </a:r>
          </a:p>
        </p:txBody>
      </p:sp>
      <p:sp>
        <p:nvSpPr>
          <p:cNvPr id="12" name="">
            <a:extLst xmlns:a="http://schemas.openxmlformats.org/drawingml/2006/main">
              <a:ext uri="{FF2B5EF4-FFF2-40B4-BE49-F238E27FC236}">
                <a16:creationId xmlns:a16="http://schemas.microsoft.com/office/drawing/2014/main" id="{17BF9EDE-0D5F-4111-A9E5-0E2354074173}"/>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37 / 66</a:t>
            </a:r>
          </a:p>
        </p:txBody>
      </p:sp>
    </p:spTree>
    <p:extLst>
      <p:ext uri="{BB962C8B-B14F-4D97-AF65-F5344CB8AC3E}">
        <p14:creationId xmlns:p14="http://schemas.microsoft.com/office/powerpoint/2010/main" val="1896920722"/>
      </p:ext>
    </p:extLst>
  </p:cSld>
</p:sld>
</file>

<file path=ppt/slides/slide38.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93B0C8E-FB56-4668-A191-9DB6B6371110}"/>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Флаги дескриптора и цикл accept</a:t>
            </a:r>
          </a:p>
        </p:txBody>
      </p:sp>
      <p:sp>
        <p:nvSpPr>
          <p:cNvPr id="2" name="">
            <a:extLst xmlns:a="http://schemas.openxmlformats.org/drawingml/2006/main">
              <a:ext uri="{FF2B5EF4-FFF2-40B4-BE49-F238E27FC236}">
                <a16:creationId xmlns:a16="http://schemas.microsoft.com/office/drawing/2014/main" id="{58F19F82-8865-467D-BDCD-8C131C5B4A3E}"/>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Почему новые флаги задаются как flags | O_NONBLOCK?</a:t>
            </a:r>
          </a:p>
        </p:txBody>
      </p:sp>
      <p:sp>
        <p:nvSpPr>
          <p:cNvPr id="3" name="">
            <a:extLst xmlns:a="http://schemas.openxmlformats.org/drawingml/2006/main">
              <a:ext uri="{FF2B5EF4-FFF2-40B4-BE49-F238E27FC236}">
                <a16:creationId xmlns:a16="http://schemas.microsoft.com/office/drawing/2014/main" id="{3EBA01A1-7192-438E-A1EA-1AE8DA12DD2B}"/>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Чтобы добавить нужный бит и сохранить уже установленные флаги состояния.</a:t>
            </a:r>
          </a:p>
        </p:txBody>
      </p:sp>
      <p:sp>
        <p:nvSpPr>
          <p:cNvPr id="4" name="">
            <a:extLst xmlns:a="http://schemas.openxmlformats.org/drawingml/2006/main">
              <a:ext uri="{FF2B5EF4-FFF2-40B4-BE49-F238E27FC236}">
                <a16:creationId xmlns:a16="http://schemas.microsoft.com/office/drawing/2014/main" id="{49C0D41B-7A61-4CCF-9524-7D4E392FB526}"/>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20  int flags = fcntl(fd, F_GETFL, 0);</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21  if (flags &lt; 0)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22  throw std::runtime_error("fcntl(F_GETFL) error");</a:t>
            </a:r>
          </a:p>
        </p:txBody>
      </p:sp>
      <p:sp>
        <p:nvSpPr>
          <p:cNvPr id="5" name="">
            <a:extLst xmlns:a="http://schemas.openxmlformats.org/drawingml/2006/main">
              <a:ext uri="{FF2B5EF4-FFF2-40B4-BE49-F238E27FC236}">
                <a16:creationId xmlns:a16="http://schemas.microsoft.com/office/drawing/2014/main" id="{29424216-F66C-4584-AC01-43E637AF0355}"/>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src/server/poll_server.cpp:20,21,22</a:t>
            </a:r>
          </a:p>
        </p:txBody>
      </p:sp>
      <p:sp>
        <p:nvSpPr>
          <p:cNvPr id="6" name="">
            <a:extLst xmlns:a="http://schemas.openxmlformats.org/drawingml/2006/main">
              <a:ext uri="{FF2B5EF4-FFF2-40B4-BE49-F238E27FC236}">
                <a16:creationId xmlns:a16="http://schemas.microsoft.com/office/drawing/2014/main" id="{04DBCA66-08DA-4016-AED6-C66F5B0522AD}"/>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Почему accept выполняется в цикле до EAGAIN?</a:t>
            </a:r>
          </a:p>
        </p:txBody>
      </p:sp>
      <p:sp>
        <p:nvSpPr>
          <p:cNvPr id="7" name="">
            <a:extLst xmlns:a="http://schemas.openxmlformats.org/drawingml/2006/main">
              <a:ext uri="{FF2B5EF4-FFF2-40B4-BE49-F238E27FC236}">
                <a16:creationId xmlns:a16="http://schemas.microsoft.com/office/drawing/2014/main" id="{17039ECF-BD34-470F-828D-5D5223335B9D}"/>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За одно событие может накопиться несколько ожидающих соединений.</a:t>
            </a:r>
          </a:p>
        </p:txBody>
      </p:sp>
      <p:sp>
        <p:nvSpPr>
          <p:cNvPr id="8" name="">
            <a:extLst xmlns:a="http://schemas.openxmlformats.org/drawingml/2006/main">
              <a:ext uri="{FF2B5EF4-FFF2-40B4-BE49-F238E27FC236}">
                <a16:creationId xmlns:a16="http://schemas.microsoft.com/office/drawing/2014/main" id="{0406BB6E-7819-4FA5-B8DB-A9D3DD573B54}"/>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121  if (would_block())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122  break;</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123  }</a:t>
            </a:r>
          </a:p>
        </p:txBody>
      </p:sp>
      <p:sp>
        <p:nvSpPr>
          <p:cNvPr id="9" name="">
            <a:extLst xmlns:a="http://schemas.openxmlformats.org/drawingml/2006/main">
              <a:ext uri="{FF2B5EF4-FFF2-40B4-BE49-F238E27FC236}">
                <a16:creationId xmlns:a16="http://schemas.microsoft.com/office/drawing/2014/main" id="{A0CF4241-8EBC-4849-B36D-95CAC0309474}"/>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src/server/poll_server.cpp:121,122,123</a:t>
            </a:r>
          </a:p>
        </p:txBody>
      </p:sp>
      <p:sp>
        <p:nvSpPr>
          <p:cNvPr id="10" name="">
            <a:extLst xmlns:a="http://schemas.openxmlformats.org/drawingml/2006/main">
              <a:ext uri="{FF2B5EF4-FFF2-40B4-BE49-F238E27FC236}">
                <a16:creationId xmlns:a16="http://schemas.microsoft.com/office/drawing/2014/main" id="{34AB8D6B-69CB-4DBD-A72C-3C212795972F}"/>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Чем |= отличается от присваивания только O_NONBLOCK?</a:t>
            </a:r>
          </a:p>
        </p:txBody>
      </p:sp>
      <p:sp>
        <p:nvSpPr>
          <p:cNvPr id="11" name="">
            <a:extLst xmlns:a="http://schemas.openxmlformats.org/drawingml/2006/main">
              <a:ext uri="{FF2B5EF4-FFF2-40B4-BE49-F238E27FC236}">
                <a16:creationId xmlns:a16="http://schemas.microsoft.com/office/drawing/2014/main" id="{7FCE5416-8C49-443C-B466-A32C40F73AB7}"/>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Событийный сервер</a:t>
            </a:r>
          </a:p>
        </p:txBody>
      </p:sp>
      <p:sp>
        <p:nvSpPr>
          <p:cNvPr id="12" name="">
            <a:extLst xmlns:a="http://schemas.openxmlformats.org/drawingml/2006/main">
              <a:ext uri="{FF2B5EF4-FFF2-40B4-BE49-F238E27FC236}">
                <a16:creationId xmlns:a16="http://schemas.microsoft.com/office/drawing/2014/main" id="{B3FBE270-3283-457C-BDF8-53CB0361AB82}"/>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38 / 66</a:t>
            </a:r>
          </a:p>
        </p:txBody>
      </p:sp>
    </p:spTree>
    <p:extLst>
      <p:ext uri="{BB962C8B-B14F-4D97-AF65-F5344CB8AC3E}">
        <p14:creationId xmlns:p14="http://schemas.microsoft.com/office/powerpoint/2010/main" val="708651528"/>
      </p:ext>
    </p:extLst>
  </p:cSld>
</p:sld>
</file>

<file path=ppt/slides/slide39.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C628593-6297-449D-AA9C-488F81DA8415}"/>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Удаление клиента и долгие вычисления</a:t>
            </a:r>
          </a:p>
        </p:txBody>
      </p:sp>
      <p:sp>
        <p:nvSpPr>
          <p:cNvPr id="2" name="">
            <a:extLst xmlns:a="http://schemas.openxmlformats.org/drawingml/2006/main">
              <a:ext uri="{FF2B5EF4-FFF2-40B4-BE49-F238E27FC236}">
                <a16:creationId xmlns:a16="http://schemas.microsoft.com/office/drawing/2014/main" id="{02F899F9-CE92-477C-8D04-2927F7C7DAC3}"/>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Почему клиенты обходятся от конца вектора к началу?</a:t>
            </a:r>
          </a:p>
        </p:txBody>
      </p:sp>
      <p:sp>
        <p:nvSpPr>
          <p:cNvPr id="3" name="">
            <a:extLst xmlns:a="http://schemas.openxmlformats.org/drawingml/2006/main">
              <a:ext uri="{FF2B5EF4-FFF2-40B4-BE49-F238E27FC236}">
                <a16:creationId xmlns:a16="http://schemas.microsoft.com/office/drawing/2014/main" id="{54EE6702-A1B8-41AD-8BEC-28F362C920B8}"/>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Чтобы удаление текущего элемента не смещало еще не обработанные меньшие индексы.</a:t>
            </a:r>
          </a:p>
        </p:txBody>
      </p:sp>
      <p:sp>
        <p:nvSpPr>
          <p:cNvPr id="4" name="">
            <a:extLst xmlns:a="http://schemas.openxmlformats.org/drawingml/2006/main">
              <a:ext uri="{FF2B5EF4-FFF2-40B4-BE49-F238E27FC236}">
                <a16:creationId xmlns:a16="http://schemas.microsoft.com/office/drawing/2014/main" id="{70022995-49F5-4F45-9AB6-367A22CC17DB}"/>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96  for (std::size_t i = _clients.size(); i &gt; 0u; --i)</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97  std::size_t index = i - 1u;</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98  short events = _poll_fds[index + 1u].revents;</a:t>
            </a:r>
          </a:p>
        </p:txBody>
      </p:sp>
      <p:sp>
        <p:nvSpPr>
          <p:cNvPr id="5" name="">
            <a:extLst xmlns:a="http://schemas.openxmlformats.org/drawingml/2006/main">
              <a:ext uri="{FF2B5EF4-FFF2-40B4-BE49-F238E27FC236}">
                <a16:creationId xmlns:a16="http://schemas.microsoft.com/office/drawing/2014/main" id="{A56027C9-7CCE-4342-B058-5C66C30F1590}"/>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src/server/poll_server.cpp:96,97,98</a:t>
            </a:r>
          </a:p>
        </p:txBody>
      </p:sp>
      <p:sp>
        <p:nvSpPr>
          <p:cNvPr id="6" name="">
            <a:extLst xmlns:a="http://schemas.openxmlformats.org/drawingml/2006/main">
              <a:ext uri="{FF2B5EF4-FFF2-40B4-BE49-F238E27FC236}">
                <a16:creationId xmlns:a16="http://schemas.microsoft.com/office/drawing/2014/main" id="{C76F7FDE-ED35-41C8-9AFB-4B5C1D44E10E}"/>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Почему один тяжелый расчет может задержать всех клиентов?</a:t>
            </a:r>
          </a:p>
        </p:txBody>
      </p:sp>
      <p:sp>
        <p:nvSpPr>
          <p:cNvPr id="7" name="">
            <a:extLst xmlns:a="http://schemas.openxmlformats.org/drawingml/2006/main">
              <a:ext uri="{FF2B5EF4-FFF2-40B4-BE49-F238E27FC236}">
                <a16:creationId xmlns:a16="http://schemas.microsoft.com/office/drawing/2014/main" id="{C70E0BAE-E2D0-425B-B725-7784E03E374C}"/>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Все обработчики выполняются в одном потоке событийного цикла.</a:t>
            </a:r>
          </a:p>
        </p:txBody>
      </p:sp>
      <p:sp>
        <p:nvSpPr>
          <p:cNvPr id="8" name="">
            <a:extLst xmlns:a="http://schemas.openxmlformats.org/drawingml/2006/main">
              <a:ext uri="{FF2B5EF4-FFF2-40B4-BE49-F238E27FC236}">
                <a16:creationId xmlns:a16="http://schemas.microsoft.com/office/drawing/2014/main" id="{404FBB9A-3CC9-49DF-8A86-5CAADF25454C}"/>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259  std::string result = _model.execute(client.user,</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command);</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260  client.output += protocol::response("OK", result)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a:t>
            </a:r>
          </a:p>
        </p:txBody>
      </p:sp>
      <p:sp>
        <p:nvSpPr>
          <p:cNvPr id="9" name="">
            <a:extLst xmlns:a="http://schemas.openxmlformats.org/drawingml/2006/main">
              <a:ext uri="{FF2B5EF4-FFF2-40B4-BE49-F238E27FC236}">
                <a16:creationId xmlns:a16="http://schemas.microsoft.com/office/drawing/2014/main" id="{A15A4993-D139-4F45-ABA6-1209EC69CA97}"/>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src/server/poll_server.cpp:259,260</a:t>
            </a:r>
          </a:p>
        </p:txBody>
      </p:sp>
      <p:sp>
        <p:nvSpPr>
          <p:cNvPr id="10" name="">
            <a:extLst xmlns:a="http://schemas.openxmlformats.org/drawingml/2006/main">
              <a:ext uri="{FF2B5EF4-FFF2-40B4-BE49-F238E27FC236}">
                <a16:creationId xmlns:a16="http://schemas.microsoft.com/office/drawing/2014/main" id="{8F7D171A-1906-478F-BC36-14B99D9BB5DD}"/>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Почему обратного обхода недостаточно для безопасности новых подключений?</a:t>
            </a:r>
          </a:p>
        </p:txBody>
      </p:sp>
      <p:sp>
        <p:nvSpPr>
          <p:cNvPr id="11" name="">
            <a:extLst xmlns:a="http://schemas.openxmlformats.org/drawingml/2006/main">
              <a:ext uri="{FF2B5EF4-FFF2-40B4-BE49-F238E27FC236}">
                <a16:creationId xmlns:a16="http://schemas.microsoft.com/office/drawing/2014/main" id="{7273DB62-ADE4-405D-8E36-5B302C81F06B}"/>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Событийный сервер</a:t>
            </a:r>
          </a:p>
        </p:txBody>
      </p:sp>
      <p:sp>
        <p:nvSpPr>
          <p:cNvPr id="12" name="">
            <a:extLst xmlns:a="http://schemas.openxmlformats.org/drawingml/2006/main">
              <a:ext uri="{FF2B5EF4-FFF2-40B4-BE49-F238E27FC236}">
                <a16:creationId xmlns:a16="http://schemas.microsoft.com/office/drawing/2014/main" id="{13619F83-88DE-4347-B917-24F74A24940D}"/>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39 / 66</a:t>
            </a:r>
          </a:p>
        </p:txBody>
      </p:sp>
    </p:spTree>
    <p:extLst>
      <p:ext uri="{BB962C8B-B14F-4D97-AF65-F5344CB8AC3E}">
        <p14:creationId xmlns:p14="http://schemas.microsoft.com/office/powerpoint/2010/main" val="1735796599"/>
      </p:ext>
    </p:extLst>
  </p:cSld>
</p:sld>
</file>

<file path=ppt/slides/slide40.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2BE4CB1-37E2-4935-9CAE-AB108E6827C7}"/>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Строки протокола и начало диалога</a:t>
            </a:r>
          </a:p>
        </p:txBody>
      </p:sp>
      <p:sp>
        <p:nvSpPr>
          <p:cNvPr id="2" name="">
            <a:extLst xmlns:a="http://schemas.openxmlformats.org/drawingml/2006/main">
              <a:ext uri="{FF2B5EF4-FFF2-40B4-BE49-F238E27FC236}">
                <a16:creationId xmlns:a16="http://schemas.microsoft.com/office/drawing/2014/main" id="{46630E60-DFCF-4869-B91A-F9E0A071D23B}"/>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Как программа определяет конец прикладного сообщения?</a:t>
            </a:r>
          </a:p>
        </p:txBody>
      </p:sp>
      <p:sp>
        <p:nvSpPr>
          <p:cNvPr id="3" name="">
            <a:extLst xmlns:a="http://schemas.openxmlformats.org/drawingml/2006/main">
              <a:ext uri="{FF2B5EF4-FFF2-40B4-BE49-F238E27FC236}">
                <a16:creationId xmlns:a16="http://schemas.microsoft.com/office/drawing/2014/main" id="{64B4A3A3-7CE1-4461-809F-B3D1B971B3ED}"/>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По байту перевода строки \n.</a:t>
            </a:r>
          </a:p>
        </p:txBody>
      </p:sp>
      <p:sp>
        <p:nvSpPr>
          <p:cNvPr id="4" name="">
            <a:extLst xmlns:a="http://schemas.openxmlformats.org/drawingml/2006/main">
              <a:ext uri="{FF2B5EF4-FFF2-40B4-BE49-F238E27FC236}">
                <a16:creationId xmlns:a16="http://schemas.microsoft.com/office/drawing/2014/main" id="{F528997C-F629-474E-99B6-C984E23EECF9}"/>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196  std::size_t pos = client.input.find('\n');</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197  if (pos == std::string::npos)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198  break;</a:t>
            </a:r>
          </a:p>
        </p:txBody>
      </p:sp>
      <p:sp>
        <p:nvSpPr>
          <p:cNvPr id="5" name="">
            <a:extLst xmlns:a="http://schemas.openxmlformats.org/drawingml/2006/main">
              <a:ext uri="{FF2B5EF4-FFF2-40B4-BE49-F238E27FC236}">
                <a16:creationId xmlns:a16="http://schemas.microsoft.com/office/drawing/2014/main" id="{22FE4BDF-89E7-435A-AFD9-043BE1AE4F77}"/>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src/server/poll_server.cpp:196,197,198</a:t>
            </a:r>
          </a:p>
        </p:txBody>
      </p:sp>
      <p:sp>
        <p:nvSpPr>
          <p:cNvPr id="6" name="">
            <a:extLst xmlns:a="http://schemas.openxmlformats.org/drawingml/2006/main">
              <a:ext uri="{FF2B5EF4-FFF2-40B4-BE49-F238E27FC236}">
                <a16:creationId xmlns:a16="http://schemas.microsoft.com/office/drawing/2014/main" id="{E754A6BC-C104-4F2A-A2FD-638BBFDA08F4}"/>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клиент делает после подключения перед первой командой?</a:t>
            </a:r>
          </a:p>
        </p:txBody>
      </p:sp>
      <p:sp>
        <p:nvSpPr>
          <p:cNvPr id="7" name="">
            <a:extLst xmlns:a="http://schemas.openxmlformats.org/drawingml/2006/main">
              <a:ext uri="{FF2B5EF4-FFF2-40B4-BE49-F238E27FC236}">
                <a16:creationId xmlns:a16="http://schemas.microsoft.com/office/drawing/2014/main" id="{7AC3CF47-A79D-455E-96F4-422094E0AB51}"/>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Читает приветствие и отправляет HELLO с именем.</a:t>
            </a:r>
          </a:p>
        </p:txBody>
      </p:sp>
      <p:sp>
        <p:nvSpPr>
          <p:cNvPr id="8" name="">
            <a:extLst xmlns:a="http://schemas.openxmlformats.org/drawingml/2006/main">
              <a:ext uri="{FF2B5EF4-FFF2-40B4-BE49-F238E27FC236}">
                <a16:creationId xmlns:a16="http://schemas.microsoft.com/office/drawing/2014/main" id="{43AF6C49-BA6D-40E6-B10A-57B475CCAF91}"/>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33  std::string answer = request("HELLO " + _user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"\n");</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34  std::cout &lt;&lt; "&lt; " &lt;&lt; answer &lt;&lt; std::endl;</a:t>
            </a:r>
          </a:p>
        </p:txBody>
      </p:sp>
      <p:sp>
        <p:nvSpPr>
          <p:cNvPr id="9" name="">
            <a:extLst xmlns:a="http://schemas.openxmlformats.org/drawingml/2006/main">
              <a:ext uri="{FF2B5EF4-FFF2-40B4-BE49-F238E27FC236}">
                <a16:creationId xmlns:a16="http://schemas.microsoft.com/office/drawing/2014/main" id="{3D3F2A18-5158-48CD-910B-C3759B279C2C}"/>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src/client/console_client.cpp:33,34</a:t>
            </a:r>
          </a:p>
        </p:txBody>
      </p:sp>
      <p:sp>
        <p:nvSpPr>
          <p:cNvPr id="10" name="">
            <a:extLst xmlns:a="http://schemas.openxmlformats.org/drawingml/2006/main">
              <a:ext uri="{FF2B5EF4-FFF2-40B4-BE49-F238E27FC236}">
                <a16:creationId xmlns:a16="http://schemas.microsoft.com/office/drawing/2014/main" id="{F8003025-0B9A-4606-98A3-4274B00DAB52}"/>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Зачем обработчик снимает завершающий \r?</a:t>
            </a:r>
          </a:p>
        </p:txBody>
      </p:sp>
      <p:sp>
        <p:nvSpPr>
          <p:cNvPr id="11" name="">
            <a:extLst xmlns:a="http://schemas.openxmlformats.org/drawingml/2006/main">
              <a:ext uri="{FF2B5EF4-FFF2-40B4-BE49-F238E27FC236}">
                <a16:creationId xmlns:a16="http://schemas.microsoft.com/office/drawing/2014/main" id="{3CD7EB19-1CA3-4C05-B52E-6D5AE7437E25}"/>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Прикладной протокол</a:t>
            </a:r>
          </a:p>
        </p:txBody>
      </p:sp>
      <p:sp>
        <p:nvSpPr>
          <p:cNvPr id="12" name="">
            <a:extLst xmlns:a="http://schemas.openxmlformats.org/drawingml/2006/main">
              <a:ext uri="{FF2B5EF4-FFF2-40B4-BE49-F238E27FC236}">
                <a16:creationId xmlns:a16="http://schemas.microsoft.com/office/drawing/2014/main" id="{BA8E6076-3CD0-4D62-B8AB-8AF93D73537F}"/>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40 / 66</a:t>
            </a:r>
          </a:p>
        </p:txBody>
      </p:sp>
    </p:spTree>
    <p:extLst>
      <p:ext uri="{BB962C8B-B14F-4D97-AF65-F5344CB8AC3E}">
        <p14:creationId xmlns:p14="http://schemas.microsoft.com/office/powerpoint/2010/main" val="338352050"/>
      </p:ext>
    </p:extLst>
  </p:cSld>
</p:sld>
</file>

<file path=ppt/slides/slide41.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4ABAC3B-5B7D-41CE-BD6A-24B41E72DD8B}"/>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HELLO и состояние соединения</a:t>
            </a:r>
          </a:p>
        </p:txBody>
      </p:sp>
      <p:sp>
        <p:nvSpPr>
          <p:cNvPr id="2" name="">
            <a:extLst xmlns:a="http://schemas.openxmlformats.org/drawingml/2006/main">
              <a:ext uri="{FF2B5EF4-FFF2-40B4-BE49-F238E27FC236}">
                <a16:creationId xmlns:a16="http://schemas.microsoft.com/office/drawing/2014/main" id="{9AB85F34-3DC2-40E2-8AB9-AA39AB0584ED}"/>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Является ли HELLO &lt;имя&gt; полноценной проверкой личности?</a:t>
            </a:r>
          </a:p>
        </p:txBody>
      </p:sp>
      <p:sp>
        <p:nvSpPr>
          <p:cNvPr id="3" name="">
            <a:extLst xmlns:a="http://schemas.openxmlformats.org/drawingml/2006/main">
              <a:ext uri="{FF2B5EF4-FFF2-40B4-BE49-F238E27FC236}">
                <a16:creationId xmlns:a16="http://schemas.microsoft.com/office/drawing/2014/main" id="{450344E0-D15D-4106-BBF9-EE5715B3DED7}"/>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Нет, это выбор имени без пароля и проверки владения им.</a:t>
            </a:r>
          </a:p>
        </p:txBody>
      </p:sp>
      <p:sp>
        <p:nvSpPr>
          <p:cNvPr id="4" name="">
            <a:extLst xmlns:a="http://schemas.openxmlformats.org/drawingml/2006/main">
              <a:ext uri="{FF2B5EF4-FFF2-40B4-BE49-F238E27FC236}">
                <a16:creationId xmlns:a16="http://schemas.microsoft.com/office/drawing/2014/main" id="{6AA5ACAA-4BE1-4A97-8B71-AC8CC6B2FBDC}"/>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230  client.user = words[1];</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231  client.authorized = true;</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232  client.output += protocol::response("OK",</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"пользователь " + client.user + " подключён");</a:t>
            </a:r>
          </a:p>
        </p:txBody>
      </p:sp>
      <p:sp>
        <p:nvSpPr>
          <p:cNvPr id="5" name="">
            <a:extLst xmlns:a="http://schemas.openxmlformats.org/drawingml/2006/main">
              <a:ext uri="{FF2B5EF4-FFF2-40B4-BE49-F238E27FC236}">
                <a16:creationId xmlns:a16="http://schemas.microsoft.com/office/drawing/2014/main" id="{71065EEB-962A-47CA-8A1A-97E623C15223}"/>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src/server/poll_server.cpp:230,231,232</a:t>
            </a:r>
          </a:p>
        </p:txBody>
      </p:sp>
      <p:sp>
        <p:nvSpPr>
          <p:cNvPr id="6" name="">
            <a:extLst xmlns:a="http://schemas.openxmlformats.org/drawingml/2006/main">
              <a:ext uri="{FF2B5EF4-FFF2-40B4-BE49-F238E27FC236}">
                <a16:creationId xmlns:a16="http://schemas.microsoft.com/office/drawing/2014/main" id="{1E536E73-0765-451A-8B16-7C8DBD6A1B01}"/>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произойдет с CMD до успешного HELLO?</a:t>
            </a:r>
          </a:p>
        </p:txBody>
      </p:sp>
      <p:sp>
        <p:nvSpPr>
          <p:cNvPr id="7" name="">
            <a:extLst xmlns:a="http://schemas.openxmlformats.org/drawingml/2006/main">
              <a:ext uri="{FF2B5EF4-FFF2-40B4-BE49-F238E27FC236}">
                <a16:creationId xmlns:a16="http://schemas.microsoft.com/office/drawing/2014/main" id="{4322E7BF-E6E7-4520-9E22-1F9740A4CD59}"/>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Сервер ответит ERR с просьбой сначала отправить HELLO.</a:t>
            </a:r>
          </a:p>
        </p:txBody>
      </p:sp>
      <p:sp>
        <p:nvSpPr>
          <p:cNvPr id="8" name="">
            <a:extLst xmlns:a="http://schemas.openxmlformats.org/drawingml/2006/main">
              <a:ext uri="{FF2B5EF4-FFF2-40B4-BE49-F238E27FC236}">
                <a16:creationId xmlns:a16="http://schemas.microsoft.com/office/drawing/2014/main" id="{F3210A8A-74A1-4C54-B278-E0ECD5206A53}"/>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222  if (!client.authorized)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223  if (words[0] != "HELLO" || words.size() != 2u)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224  client.output += protocol::response("ERR",</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"сначала отправьте HELLO &lt;имя&gt;");</a:t>
            </a:r>
          </a:p>
        </p:txBody>
      </p:sp>
      <p:sp>
        <p:nvSpPr>
          <p:cNvPr id="9" name="">
            <a:extLst xmlns:a="http://schemas.openxmlformats.org/drawingml/2006/main">
              <a:ext uri="{FF2B5EF4-FFF2-40B4-BE49-F238E27FC236}">
                <a16:creationId xmlns:a16="http://schemas.microsoft.com/office/drawing/2014/main" id="{A94708B0-E92E-4700-94FB-411D6B43202A}"/>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src/server/poll_server.cpp:222,223,224</a:t>
            </a:r>
          </a:p>
        </p:txBody>
      </p:sp>
      <p:sp>
        <p:nvSpPr>
          <p:cNvPr id="10" name="">
            <a:extLst xmlns:a="http://schemas.openxmlformats.org/drawingml/2006/main">
              <a:ext uri="{FF2B5EF4-FFF2-40B4-BE49-F238E27FC236}">
                <a16:creationId xmlns:a16="http://schemas.microsoft.com/office/drawing/2014/main" id="{166FF29F-354B-482D-B8AD-008CF5A602E9}"/>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Почему слово authorized в коде не доказывает безопасность входа?</a:t>
            </a:r>
          </a:p>
        </p:txBody>
      </p:sp>
      <p:sp>
        <p:nvSpPr>
          <p:cNvPr id="11" name="">
            <a:extLst xmlns:a="http://schemas.openxmlformats.org/drawingml/2006/main">
              <a:ext uri="{FF2B5EF4-FFF2-40B4-BE49-F238E27FC236}">
                <a16:creationId xmlns:a16="http://schemas.microsoft.com/office/drawing/2014/main" id="{6011FE27-88A8-474B-B1E2-1A0BB1FACD38}"/>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Прикладной протокол</a:t>
            </a:r>
          </a:p>
        </p:txBody>
      </p:sp>
      <p:sp>
        <p:nvSpPr>
          <p:cNvPr id="12" name="">
            <a:extLst xmlns:a="http://schemas.openxmlformats.org/drawingml/2006/main">
              <a:ext uri="{FF2B5EF4-FFF2-40B4-BE49-F238E27FC236}">
                <a16:creationId xmlns:a16="http://schemas.microsoft.com/office/drawing/2014/main" id="{87A891B1-7136-47F8-8247-33D3A29DFAC4}"/>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41 / 66</a:t>
            </a:r>
          </a:p>
        </p:txBody>
      </p:sp>
    </p:spTree>
    <p:extLst>
      <p:ext uri="{BB962C8B-B14F-4D97-AF65-F5344CB8AC3E}">
        <p14:creationId xmlns:p14="http://schemas.microsoft.com/office/powerpoint/2010/main" val="457474511"/>
      </p:ext>
    </p:extLst>
  </p:cSld>
</p:sld>
</file>

<file path=ppt/slides/slide42.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1B35097-B06F-49B4-B381-493EC43D322F}"/>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Последовательные запросы без seq</a:t>
            </a:r>
          </a:p>
        </p:txBody>
      </p:sp>
      <p:sp>
        <p:nvSpPr>
          <p:cNvPr id="2" name="">
            <a:extLst xmlns:a="http://schemas.openxmlformats.org/drawingml/2006/main">
              <a:ext uri="{FF2B5EF4-FFF2-40B4-BE49-F238E27FC236}">
                <a16:creationId xmlns:a16="http://schemas.microsoft.com/office/drawing/2014/main" id="{35AA7752-6980-4421-B6C9-8A88FDDA4785}"/>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Почему здесь убрали seq из сообщений?</a:t>
            </a:r>
          </a:p>
        </p:txBody>
      </p:sp>
      <p:sp>
        <p:nvSpPr>
          <p:cNvPr id="3" name="">
            <a:extLst xmlns:a="http://schemas.openxmlformats.org/drawingml/2006/main">
              <a:ext uri="{FF2B5EF4-FFF2-40B4-BE49-F238E27FC236}">
                <a16:creationId xmlns:a16="http://schemas.microsoft.com/office/drawing/2014/main" id="{F9BC5363-90C2-4F6D-A730-01A7A3B4B0E6}"/>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Клиент держит только один ожидающий запрос и читает ответы последовательно.</a:t>
            </a:r>
          </a:p>
        </p:txBody>
      </p:sp>
      <p:sp>
        <p:nvSpPr>
          <p:cNvPr id="4" name="">
            <a:extLst xmlns:a="http://schemas.openxmlformats.org/drawingml/2006/main">
              <a:ext uri="{FF2B5EF4-FFF2-40B4-BE49-F238E27FC236}">
                <a16:creationId xmlns:a16="http://schemas.microsoft.com/office/drawing/2014/main" id="{3C7AA83F-8FAF-421D-BE4E-B41AEE88FD61}"/>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115  send_line(line);</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116  return receive_line();</a:t>
            </a:r>
          </a:p>
        </p:txBody>
      </p:sp>
      <p:sp>
        <p:nvSpPr>
          <p:cNvPr id="5" name="">
            <a:extLst xmlns:a="http://schemas.openxmlformats.org/drawingml/2006/main">
              <a:ext uri="{FF2B5EF4-FFF2-40B4-BE49-F238E27FC236}">
                <a16:creationId xmlns:a16="http://schemas.microsoft.com/office/drawing/2014/main" id="{2B33FDC4-3034-4EFD-936E-00159848188F}"/>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src/client/console_client.cpp:115,116</a:t>
            </a:r>
          </a:p>
        </p:txBody>
      </p:sp>
      <p:sp>
        <p:nvSpPr>
          <p:cNvPr id="6" name="">
            <a:extLst xmlns:a="http://schemas.openxmlformats.org/drawingml/2006/main">
              <a:ext uri="{FF2B5EF4-FFF2-40B4-BE49-F238E27FC236}">
                <a16:creationId xmlns:a16="http://schemas.microsoft.com/office/drawing/2014/main" id="{AC503677-44C5-4EA1-93E7-D25B29EA0BB9}"/>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Как выглядит команда клиента на проводе для X = 10?</a:t>
            </a:r>
          </a:p>
        </p:txBody>
      </p:sp>
      <p:sp>
        <p:nvSpPr>
          <p:cNvPr id="7" name="">
            <a:extLst xmlns:a="http://schemas.openxmlformats.org/drawingml/2006/main">
              <a:ext uri="{FF2B5EF4-FFF2-40B4-BE49-F238E27FC236}">
                <a16:creationId xmlns:a16="http://schemas.microsoft.com/office/drawing/2014/main" id="{3C29EC8A-BB4C-4B4B-B46E-ADCEE07717D9}"/>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CMD X = 10 с завершающим \n.</a:t>
            </a:r>
          </a:p>
        </p:txBody>
      </p:sp>
      <p:sp>
        <p:nvSpPr>
          <p:cNvPr id="8" name="">
            <a:extLst xmlns:a="http://schemas.openxmlformats.org/drawingml/2006/main">
              <a:ext uri="{FF2B5EF4-FFF2-40B4-BE49-F238E27FC236}">
                <a16:creationId xmlns:a16="http://schemas.microsoft.com/office/drawing/2014/main" id="{269921BF-B1BB-4DB5-AD9F-5D9FC92AF32D}"/>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191  packet = "CMD " + protocol::one_line(command)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"\n";</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192  }</a:t>
            </a:r>
          </a:p>
        </p:txBody>
      </p:sp>
      <p:sp>
        <p:nvSpPr>
          <p:cNvPr id="9" name="">
            <a:extLst xmlns:a="http://schemas.openxmlformats.org/drawingml/2006/main">
              <a:ext uri="{FF2B5EF4-FFF2-40B4-BE49-F238E27FC236}">
                <a16:creationId xmlns:a16="http://schemas.microsoft.com/office/drawing/2014/main" id="{4E0B8F0F-AB6B-4756-99B4-3418F8ECA9E1}"/>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src/client/console_client.cpp:191,192</a:t>
            </a:r>
          </a:p>
        </p:txBody>
      </p:sp>
      <p:sp>
        <p:nvSpPr>
          <p:cNvPr id="10" name="">
            <a:extLst xmlns:a="http://schemas.openxmlformats.org/drawingml/2006/main">
              <a:ext uri="{FF2B5EF4-FFF2-40B4-BE49-F238E27FC236}">
                <a16:creationId xmlns:a16="http://schemas.microsoft.com/office/drawing/2014/main" id="{29535B7A-9D0B-4B89-A3A5-17342274D404}"/>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Когда придется вернуть идентификатор запроса?</a:t>
            </a:r>
          </a:p>
        </p:txBody>
      </p:sp>
      <p:sp>
        <p:nvSpPr>
          <p:cNvPr id="11" name="">
            <a:extLst xmlns:a="http://schemas.openxmlformats.org/drawingml/2006/main">
              <a:ext uri="{FF2B5EF4-FFF2-40B4-BE49-F238E27FC236}">
                <a16:creationId xmlns:a16="http://schemas.microsoft.com/office/drawing/2014/main" id="{EA8E7AB6-9CA7-4E48-8735-F57F86CD9469}"/>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Прикладной протокол</a:t>
            </a:r>
          </a:p>
        </p:txBody>
      </p:sp>
      <p:sp>
        <p:nvSpPr>
          <p:cNvPr id="12" name="">
            <a:extLst xmlns:a="http://schemas.openxmlformats.org/drawingml/2006/main">
              <a:ext uri="{FF2B5EF4-FFF2-40B4-BE49-F238E27FC236}">
                <a16:creationId xmlns:a16="http://schemas.microsoft.com/office/drawing/2014/main" id="{9DF47FE2-1F5C-4B04-9E87-6541607971B7}"/>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42 / 66</a:t>
            </a:r>
          </a:p>
        </p:txBody>
      </p:sp>
    </p:spTree>
    <p:extLst>
      <p:ext uri="{BB962C8B-B14F-4D97-AF65-F5344CB8AC3E}">
        <p14:creationId xmlns:p14="http://schemas.microsoft.com/office/powerpoint/2010/main" val="2107802084"/>
      </p:ext>
    </p:extLst>
  </p:cSld>
</p:sld>
</file>

<file path=ppt/slides/slide43.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AD7157D-835C-40E1-907A-973380823FB2}"/>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Безопасная строка ответа и PERF</a:t>
            </a:r>
          </a:p>
        </p:txBody>
      </p:sp>
      <p:sp>
        <p:nvSpPr>
          <p:cNvPr id="2" name="">
            <a:extLst xmlns:a="http://schemas.openxmlformats.org/drawingml/2006/main">
              <a:ext uri="{FF2B5EF4-FFF2-40B4-BE49-F238E27FC236}">
                <a16:creationId xmlns:a16="http://schemas.microsoft.com/office/drawing/2014/main" id="{F2F04712-CEA3-4628-94E5-83BF61AF36FF}"/>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Зачем protocol::one_line заменяет \n и \r пробелами?</a:t>
            </a:r>
          </a:p>
        </p:txBody>
      </p:sp>
      <p:sp>
        <p:nvSpPr>
          <p:cNvPr id="3" name="">
            <a:extLst xmlns:a="http://schemas.openxmlformats.org/drawingml/2006/main">
              <a:ext uri="{FF2B5EF4-FFF2-40B4-BE49-F238E27FC236}">
                <a16:creationId xmlns:a16="http://schemas.microsoft.com/office/drawing/2014/main" id="{FB55C654-A0D3-4171-ABD5-8DA5FFE2F9C7}"/>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Чтобы содержимое ответа или команды не создало дополнительные строки протокола.</a:t>
            </a:r>
          </a:p>
        </p:txBody>
      </p:sp>
      <p:sp>
        <p:nvSpPr>
          <p:cNvPr id="4" name="">
            <a:extLst xmlns:a="http://schemas.openxmlformats.org/drawingml/2006/main">
              <a:ext uri="{FF2B5EF4-FFF2-40B4-BE49-F238E27FC236}">
                <a16:creationId xmlns:a16="http://schemas.microsoft.com/office/drawing/2014/main" id="{9FDE7203-8E5E-4349-B82D-E63EE6F28D9B}"/>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35  std::replace(s.begin(), s.end(), '\n', '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36  std::replace(s.begin(), s.end(), '\r', '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37  return s;</a:t>
            </a:r>
          </a:p>
        </p:txBody>
      </p:sp>
      <p:sp>
        <p:nvSpPr>
          <p:cNvPr id="5" name="">
            <a:extLst xmlns:a="http://schemas.openxmlformats.org/drawingml/2006/main">
              <a:ext uri="{FF2B5EF4-FFF2-40B4-BE49-F238E27FC236}">
                <a16:creationId xmlns:a16="http://schemas.microsoft.com/office/drawing/2014/main" id="{52DA4B91-0E2A-489E-AEC0-9D434FD4E627}"/>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src/common/protocol.cpp:35,36,37</a:t>
            </a:r>
          </a:p>
        </p:txBody>
      </p:sp>
      <p:sp>
        <p:nvSpPr>
          <p:cNvPr id="6" name="">
            <a:extLst xmlns:a="http://schemas.openxmlformats.org/drawingml/2006/main">
              <a:ext uri="{FF2B5EF4-FFF2-40B4-BE49-F238E27FC236}">
                <a16:creationId xmlns:a16="http://schemas.microsoft.com/office/drawing/2014/main" id="{0430B4B2-893F-400D-8A49-90408495C787}"/>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Изменяет ли PERF X = 100 значение X?</a:t>
            </a:r>
          </a:p>
        </p:txBody>
      </p:sp>
      <p:sp>
        <p:nvSpPr>
          <p:cNvPr id="7" name="">
            <a:extLst xmlns:a="http://schemas.openxmlformats.org/drawingml/2006/main">
              <a:ext uri="{FF2B5EF4-FFF2-40B4-BE49-F238E27FC236}">
                <a16:creationId xmlns:a16="http://schemas.microsoft.com/office/drawing/2014/main" id="{285FACA6-F36A-4FD8-936D-16FFB7B83674}"/>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Нет, сервер отвечает OK PERF, не вызывая модель.</a:t>
            </a:r>
          </a:p>
        </p:txBody>
      </p:sp>
      <p:sp>
        <p:nvSpPr>
          <p:cNvPr id="8" name="">
            <a:extLst xmlns:a="http://schemas.openxmlformats.org/drawingml/2006/main">
              <a:ext uri="{FF2B5EF4-FFF2-40B4-BE49-F238E27FC236}">
                <a16:creationId xmlns:a16="http://schemas.microsoft.com/office/drawing/2014/main" id="{89BBBF9A-91DC-45AC-9B6C-C990AAA4E242}"/>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246  if (verb == "PERF")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247  client.output += protocol::response("OK", "PERF")</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248  return;</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249  }</a:t>
            </a:r>
          </a:p>
        </p:txBody>
      </p:sp>
      <p:sp>
        <p:nvSpPr>
          <p:cNvPr id="9" name="">
            <a:extLst xmlns:a="http://schemas.openxmlformats.org/drawingml/2006/main">
              <a:ext uri="{FF2B5EF4-FFF2-40B4-BE49-F238E27FC236}">
                <a16:creationId xmlns:a16="http://schemas.microsoft.com/office/drawing/2014/main" id="{812BF031-F85A-454E-83C4-50445451FD86}"/>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src/server/poll_server.cpp:246,247,248,249</a:t>
            </a:r>
          </a:p>
        </p:txBody>
      </p:sp>
      <p:sp>
        <p:nvSpPr>
          <p:cNvPr id="10" name="">
            <a:extLst xmlns:a="http://schemas.openxmlformats.org/drawingml/2006/main">
              <a:ext uri="{FF2B5EF4-FFF2-40B4-BE49-F238E27FC236}">
                <a16:creationId xmlns:a16="http://schemas.microsoft.com/office/drawing/2014/main" id="{4878882B-AECD-43E7-A12E-9A01C4B31E77}"/>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Чем замена разделителя отличается от универсального экранирования?</a:t>
            </a:r>
          </a:p>
        </p:txBody>
      </p:sp>
      <p:sp>
        <p:nvSpPr>
          <p:cNvPr id="11" name="">
            <a:extLst xmlns:a="http://schemas.openxmlformats.org/drawingml/2006/main">
              <a:ext uri="{FF2B5EF4-FFF2-40B4-BE49-F238E27FC236}">
                <a16:creationId xmlns:a16="http://schemas.microsoft.com/office/drawing/2014/main" id="{12B2F5BB-73CA-4B0B-AE84-C12918D0CFD1}"/>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Прикладной протокол</a:t>
            </a:r>
          </a:p>
        </p:txBody>
      </p:sp>
      <p:sp>
        <p:nvSpPr>
          <p:cNvPr id="12" name="">
            <a:extLst xmlns:a="http://schemas.openxmlformats.org/drawingml/2006/main">
              <a:ext uri="{FF2B5EF4-FFF2-40B4-BE49-F238E27FC236}">
                <a16:creationId xmlns:a16="http://schemas.microsoft.com/office/drawing/2014/main" id="{8F12EDA1-5FA4-45BA-9603-AB57C384C618}"/>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43 / 66</a:t>
            </a:r>
          </a:p>
        </p:txBody>
      </p:sp>
    </p:spTree>
    <p:extLst>
      <p:ext uri="{BB962C8B-B14F-4D97-AF65-F5344CB8AC3E}">
        <p14:creationId xmlns:p14="http://schemas.microsoft.com/office/powerpoint/2010/main" val="747154836"/>
      </p:ext>
    </p:extLst>
  </p:cSld>
</p:sld>
</file>

<file path=ppt/slides/slide44.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359C5A2-2BC9-48C3-9608-1E23C0532769}"/>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Завершение диалога и статус ответа</a:t>
            </a:r>
          </a:p>
        </p:txBody>
      </p:sp>
      <p:sp>
        <p:nvSpPr>
          <p:cNvPr id="2" name="">
            <a:extLst xmlns:a="http://schemas.openxmlformats.org/drawingml/2006/main">
              <a:ext uri="{FF2B5EF4-FFF2-40B4-BE49-F238E27FC236}">
                <a16:creationId xmlns:a16="http://schemas.microsoft.com/office/drawing/2014/main" id="{F346DDE6-EB3A-4D49-B138-E4D5CCA5DEC9}"/>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реально делает сервер при QUIT?</a:t>
            </a:r>
          </a:p>
        </p:txBody>
      </p:sp>
      <p:sp>
        <p:nvSpPr>
          <p:cNvPr id="3" name="">
            <a:extLst xmlns:a="http://schemas.openxmlformats.org/drawingml/2006/main">
              <a:ext uri="{FF2B5EF4-FFF2-40B4-BE49-F238E27FC236}">
                <a16:creationId xmlns:a16="http://schemas.microsoft.com/office/drawing/2014/main" id="{B96C000F-C691-4C4E-8EA5-021AD8BCF4E1}"/>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Добавляет прощальный ответ, а штатный клиент затем сам выходит и закрывает соединение.</a:t>
            </a:r>
          </a:p>
        </p:txBody>
      </p:sp>
      <p:sp>
        <p:nvSpPr>
          <p:cNvPr id="4" name="">
            <a:extLst xmlns:a="http://schemas.openxmlformats.org/drawingml/2006/main">
              <a:ext uri="{FF2B5EF4-FFF2-40B4-BE49-F238E27FC236}">
                <a16:creationId xmlns:a16="http://schemas.microsoft.com/office/drawing/2014/main" id="{CDD65535-08F7-459B-9622-69CBF5A300E1}"/>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241  if (verb == "QUIT")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242  client.output += protocol::response("OK",</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"до свидания");</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243  return;</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244  }</a:t>
            </a:r>
          </a:p>
        </p:txBody>
      </p:sp>
      <p:sp>
        <p:nvSpPr>
          <p:cNvPr id="5" name="">
            <a:extLst xmlns:a="http://schemas.openxmlformats.org/drawingml/2006/main">
              <a:ext uri="{FF2B5EF4-FFF2-40B4-BE49-F238E27FC236}">
                <a16:creationId xmlns:a16="http://schemas.microsoft.com/office/drawing/2014/main" id="{8DD73CC5-A927-4038-BF87-CA1D2BF391C5}"/>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src/server/poll_server.cpp:241,242,243,244</a:t>
            </a:r>
          </a:p>
        </p:txBody>
      </p:sp>
      <p:sp>
        <p:nvSpPr>
          <p:cNvPr id="6" name="">
            <a:extLst xmlns:a="http://schemas.openxmlformats.org/drawingml/2006/main">
              <a:ext uri="{FF2B5EF4-FFF2-40B4-BE49-F238E27FC236}">
                <a16:creationId xmlns:a16="http://schemas.microsoft.com/office/drawing/2014/main" id="{95E57F02-E195-47AC-B544-AF6B53224117}"/>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означают префиксы OK и ERR?</a:t>
            </a:r>
          </a:p>
        </p:txBody>
      </p:sp>
      <p:sp>
        <p:nvSpPr>
          <p:cNvPr id="7" name="">
            <a:extLst xmlns:a="http://schemas.openxmlformats.org/drawingml/2006/main">
              <a:ext uri="{FF2B5EF4-FFF2-40B4-BE49-F238E27FC236}">
                <a16:creationId xmlns:a16="http://schemas.microsoft.com/office/drawing/2014/main" id="{518A1F32-851B-46A7-9AFC-83DE79290A26}"/>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Прикладной результат обработки строки.</a:t>
            </a:r>
          </a:p>
        </p:txBody>
      </p:sp>
      <p:sp>
        <p:nvSpPr>
          <p:cNvPr id="8" name="">
            <a:extLst xmlns:a="http://schemas.openxmlformats.org/drawingml/2006/main">
              <a:ext uri="{FF2B5EF4-FFF2-40B4-BE49-F238E27FC236}">
                <a16:creationId xmlns:a16="http://schemas.microsoft.com/office/drawing/2014/main" id="{830405FF-A0C1-45CD-A0F1-7ECDD424F6BC}"/>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259  std::string result = _model.execute(client.user,</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command);</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260  client.output += protocol::response("OK", result)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261  } catch (const CalculatorError&amp; error)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262  client.output += protocol::response("ERR",</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std::string("Ошибка: ") + error.what());</a:t>
            </a:r>
          </a:p>
        </p:txBody>
      </p:sp>
      <p:sp>
        <p:nvSpPr>
          <p:cNvPr id="9" name="">
            <a:extLst xmlns:a="http://schemas.openxmlformats.org/drawingml/2006/main">
              <a:ext uri="{FF2B5EF4-FFF2-40B4-BE49-F238E27FC236}">
                <a16:creationId xmlns:a16="http://schemas.microsoft.com/office/drawing/2014/main" id="{DB570E79-CFE1-41E4-BD25-C0D65F1C29BF}"/>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src/server/poll_server.cpp:259,260,261,262</a:t>
            </a:r>
          </a:p>
        </p:txBody>
      </p:sp>
      <p:sp>
        <p:nvSpPr>
          <p:cNvPr id="10" name="">
            <a:extLst xmlns:a="http://schemas.openxmlformats.org/drawingml/2006/main">
              <a:ext uri="{FF2B5EF4-FFF2-40B4-BE49-F238E27FC236}">
                <a16:creationId xmlns:a16="http://schemas.microsoft.com/office/drawing/2014/main" id="{C9001062-B9D7-4DE8-9703-360ECF5657EB}"/>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Что добавить, чтобы сервер закрывал соединение после отправки прощания?</a:t>
            </a:r>
          </a:p>
        </p:txBody>
      </p:sp>
      <p:sp>
        <p:nvSpPr>
          <p:cNvPr id="11" name="">
            <a:extLst xmlns:a="http://schemas.openxmlformats.org/drawingml/2006/main">
              <a:ext uri="{FF2B5EF4-FFF2-40B4-BE49-F238E27FC236}">
                <a16:creationId xmlns:a16="http://schemas.microsoft.com/office/drawing/2014/main" id="{C7DFA62C-2BF8-473B-8196-960548BCD62A}"/>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Прикладной протокол</a:t>
            </a:r>
          </a:p>
        </p:txBody>
      </p:sp>
      <p:sp>
        <p:nvSpPr>
          <p:cNvPr id="12" name="">
            <a:extLst xmlns:a="http://schemas.openxmlformats.org/drawingml/2006/main">
              <a:ext uri="{FF2B5EF4-FFF2-40B4-BE49-F238E27FC236}">
                <a16:creationId xmlns:a16="http://schemas.microsoft.com/office/drawing/2014/main" id="{B7786F39-3E55-417E-861D-D4E12426C243}"/>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44 / 66</a:t>
            </a:r>
          </a:p>
        </p:txBody>
      </p:sp>
    </p:spTree>
    <p:extLst>
      <p:ext uri="{BB962C8B-B14F-4D97-AF65-F5344CB8AC3E}">
        <p14:creationId xmlns:p14="http://schemas.microsoft.com/office/powerpoint/2010/main" val="1854309502"/>
      </p:ext>
    </p:extLst>
  </p:cSld>
</p:sld>
</file>

<file path=ppt/slides/slide45.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7CF31F2-80D9-42C5-B2FE-9D701F208319}"/>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Рекурсивный спуск и приоритет операций</a:t>
            </a:r>
          </a:p>
        </p:txBody>
      </p:sp>
      <p:sp>
        <p:nvSpPr>
          <p:cNvPr id="2" name="">
            <a:extLst xmlns:a="http://schemas.openxmlformats.org/drawingml/2006/main">
              <a:ext uri="{FF2B5EF4-FFF2-40B4-BE49-F238E27FC236}">
                <a16:creationId xmlns:a16="http://schemas.microsoft.com/office/drawing/2014/main" id="{D452AF70-B691-4584-B9BF-2010A9A77F12}"/>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Зачем парсер разделен на expression, term и factor?</a:t>
            </a:r>
          </a:p>
        </p:txBody>
      </p:sp>
      <p:sp>
        <p:nvSpPr>
          <p:cNvPr id="3" name="">
            <a:extLst xmlns:a="http://schemas.openxmlformats.org/drawingml/2006/main">
              <a:ext uri="{FF2B5EF4-FFF2-40B4-BE49-F238E27FC236}">
                <a16:creationId xmlns:a16="http://schemas.microsoft.com/office/drawing/2014/main" id="{1D7E9CE7-F5D4-4DAB-B206-8DB5C8200352}"/>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Чтобы реализовать приоритеты арифметических операций.</a:t>
            </a:r>
          </a:p>
        </p:txBody>
      </p:sp>
      <p:sp>
        <p:nvSpPr>
          <p:cNvPr id="4" name="">
            <a:extLst xmlns:a="http://schemas.openxmlformats.org/drawingml/2006/main">
              <a:ext uri="{FF2B5EF4-FFF2-40B4-BE49-F238E27FC236}">
                <a16:creationId xmlns:a16="http://schemas.microsoft.com/office/drawing/2014/main" id="{AC306AC1-4FDA-43CD-8700-4F7D8738C6E3}"/>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34  long long parse_expression()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35  long long value = parse_term();</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36  while (true) {</a:t>
            </a:r>
          </a:p>
        </p:txBody>
      </p:sp>
      <p:sp>
        <p:nvSpPr>
          <p:cNvPr id="5" name="">
            <a:extLst xmlns:a="http://schemas.openxmlformats.org/drawingml/2006/main">
              <a:ext uri="{FF2B5EF4-FFF2-40B4-BE49-F238E27FC236}">
                <a16:creationId xmlns:a16="http://schemas.microsoft.com/office/drawing/2014/main" id="{A4EA1618-C172-4009-B47C-3EB7A725C3C6}"/>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src/model/calculator.cpp:34,35,36</a:t>
            </a:r>
          </a:p>
        </p:txBody>
      </p:sp>
      <p:sp>
        <p:nvSpPr>
          <p:cNvPr id="6" name="">
            <a:extLst xmlns:a="http://schemas.openxmlformats.org/drawingml/2006/main">
              <a:ext uri="{FF2B5EF4-FFF2-40B4-BE49-F238E27FC236}">
                <a16:creationId xmlns:a16="http://schemas.microsoft.com/office/drawing/2014/main" id="{3A0831C8-32B1-485C-8C4F-74826CB214F1}"/>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Почему (2 + 3) * 4 дает 20?</a:t>
            </a:r>
          </a:p>
        </p:txBody>
      </p:sp>
      <p:sp>
        <p:nvSpPr>
          <p:cNvPr id="7" name="">
            <a:extLst xmlns:a="http://schemas.openxmlformats.org/drawingml/2006/main">
              <a:ext uri="{FF2B5EF4-FFF2-40B4-BE49-F238E27FC236}">
                <a16:creationId xmlns:a16="http://schemas.microsoft.com/office/drawing/2014/main" id="{0F2E8C77-7D2F-4BAD-8FF6-106F620843B3}"/>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factor внутри скобок снова вызывает разбор выражения.</a:t>
            </a:r>
          </a:p>
        </p:txBody>
      </p:sp>
      <p:sp>
        <p:nvSpPr>
          <p:cNvPr id="8" name="">
            <a:extLst xmlns:a="http://schemas.openxmlformats.org/drawingml/2006/main">
              <a:ext uri="{FF2B5EF4-FFF2-40B4-BE49-F238E27FC236}">
                <a16:creationId xmlns:a16="http://schemas.microsoft.com/office/drawing/2014/main" id="{3EAABC0A-1DE3-4C45-A0D1-87B24181D71D}"/>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80  if (match('('))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81  long long value = parse_expression();</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82  skip_spaces();</a:t>
            </a:r>
          </a:p>
        </p:txBody>
      </p:sp>
      <p:sp>
        <p:nvSpPr>
          <p:cNvPr id="9" name="">
            <a:extLst xmlns:a="http://schemas.openxmlformats.org/drawingml/2006/main">
              <a:ext uri="{FF2B5EF4-FFF2-40B4-BE49-F238E27FC236}">
                <a16:creationId xmlns:a16="http://schemas.microsoft.com/office/drawing/2014/main" id="{A466334F-B1CD-4544-86A9-F3BB6127FC6A}"/>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src/model/calculator.cpp:80,81,82</a:t>
            </a:r>
          </a:p>
        </p:txBody>
      </p:sp>
      <p:sp>
        <p:nvSpPr>
          <p:cNvPr id="10" name="">
            <a:extLst xmlns:a="http://schemas.openxmlformats.org/drawingml/2006/main">
              <a:ext uri="{FF2B5EF4-FFF2-40B4-BE49-F238E27FC236}">
                <a16:creationId xmlns:a16="http://schemas.microsoft.com/office/drawing/2014/main" id="{5084647E-D71E-495D-A5F7-152A657BCA75}"/>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Проследи 2 + 3 * 4 и объясни результат 14.</a:t>
            </a:r>
          </a:p>
        </p:txBody>
      </p:sp>
      <p:sp>
        <p:nvSpPr>
          <p:cNvPr id="11" name="">
            <a:extLst xmlns:a="http://schemas.openxmlformats.org/drawingml/2006/main">
              <a:ext uri="{FF2B5EF4-FFF2-40B4-BE49-F238E27FC236}">
                <a16:creationId xmlns:a16="http://schemas.microsoft.com/office/drawing/2014/main" id="{2306A745-375B-4ADE-8CC4-607A8045AB7C}"/>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Калькулятор и хранение</a:t>
            </a:r>
          </a:p>
        </p:txBody>
      </p:sp>
      <p:sp>
        <p:nvSpPr>
          <p:cNvPr id="12" name="">
            <a:extLst xmlns:a="http://schemas.openxmlformats.org/drawingml/2006/main">
              <a:ext uri="{FF2B5EF4-FFF2-40B4-BE49-F238E27FC236}">
                <a16:creationId xmlns:a16="http://schemas.microsoft.com/office/drawing/2014/main" id="{0CC25C21-B46D-412C-9D1D-D4944A8EE785}"/>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45 / 66</a:t>
            </a:r>
          </a:p>
        </p:txBody>
      </p:sp>
    </p:spTree>
    <p:extLst>
      <p:ext uri="{BB962C8B-B14F-4D97-AF65-F5344CB8AC3E}">
        <p14:creationId xmlns:p14="http://schemas.microsoft.com/office/powerpoint/2010/main" val="885775341"/>
      </p:ext>
    </p:extLst>
  </p:cSld>
</p:sld>
</file>

<file path=ppt/slides/slide46.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C795840-ADE1-4999-867B-EAD9E0903DD8}"/>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Деление и арифметические ошибки</a:t>
            </a:r>
          </a:p>
        </p:txBody>
      </p:sp>
      <p:sp>
        <p:nvSpPr>
          <p:cNvPr id="2" name="">
            <a:extLst xmlns:a="http://schemas.openxmlformats.org/drawingml/2006/main">
              <a:ext uri="{FF2B5EF4-FFF2-40B4-BE49-F238E27FC236}">
                <a16:creationId xmlns:a16="http://schemas.microsoft.com/office/drawing/2014/main" id="{324161B1-388B-4854-A99E-72682DC94311}"/>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Где обнаруживается деление на ноль?</a:t>
            </a:r>
          </a:p>
        </p:txBody>
      </p:sp>
      <p:sp>
        <p:nvSpPr>
          <p:cNvPr id="3" name="">
            <a:extLst xmlns:a="http://schemas.openxmlformats.org/drawingml/2006/main">
              <a:ext uri="{FF2B5EF4-FFF2-40B4-BE49-F238E27FC236}">
                <a16:creationId xmlns:a16="http://schemas.microsoft.com/office/drawing/2014/main" id="{59E85961-4B3A-4637-8769-2CCD82C3DF96}"/>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В parse_term после вычисления делителя.</a:t>
            </a:r>
          </a:p>
        </p:txBody>
      </p:sp>
      <p:sp>
        <p:nvSpPr>
          <p:cNvPr id="4" name="">
            <a:extLst xmlns:a="http://schemas.openxmlformats.org/drawingml/2006/main">
              <a:ext uri="{FF2B5EF4-FFF2-40B4-BE49-F238E27FC236}">
                <a16:creationId xmlns:a16="http://schemas.microsoft.com/office/drawing/2014/main" id="{05EFC028-FEBF-4AB4-916E-2EDE1AF5F106}"/>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57  if (divisor == 0)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58  throw CalculatorError("деление на ноль");</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59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60  value /= divisor;</a:t>
            </a:r>
          </a:p>
        </p:txBody>
      </p:sp>
      <p:sp>
        <p:nvSpPr>
          <p:cNvPr id="5" name="">
            <a:extLst xmlns:a="http://schemas.openxmlformats.org/drawingml/2006/main">
              <a:ext uri="{FF2B5EF4-FFF2-40B4-BE49-F238E27FC236}">
                <a16:creationId xmlns:a16="http://schemas.microsoft.com/office/drawing/2014/main" id="{C524F4C3-1DDB-4155-A14E-EA341AFB976F}"/>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src/model/calculator.cpp:57,58,59,60</a:t>
            </a:r>
          </a:p>
        </p:txBody>
      </p:sp>
      <p:sp>
        <p:nvSpPr>
          <p:cNvPr id="6" name="">
            <a:extLst xmlns:a="http://schemas.openxmlformats.org/drawingml/2006/main">
              <a:ext uri="{FF2B5EF4-FFF2-40B4-BE49-F238E27FC236}">
                <a16:creationId xmlns:a16="http://schemas.microsoft.com/office/drawing/2014/main" id="{9D6C1A12-D56E-4004-BCAC-316E1DF92B8A}"/>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Как вычислится 7 / 2 в этой программе?</a:t>
            </a:r>
          </a:p>
        </p:txBody>
      </p:sp>
      <p:sp>
        <p:nvSpPr>
          <p:cNvPr id="7" name="">
            <a:extLst xmlns:a="http://schemas.openxmlformats.org/drawingml/2006/main">
              <a:ext uri="{FF2B5EF4-FFF2-40B4-BE49-F238E27FC236}">
                <a16:creationId xmlns:a16="http://schemas.microsoft.com/office/drawing/2014/main" id="{CEB9ACEC-1A80-4A93-84B2-38090EE80235}"/>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Получится 3, поскольку используются целые long long.</a:t>
            </a:r>
          </a:p>
        </p:txBody>
      </p:sp>
      <p:sp>
        <p:nvSpPr>
          <p:cNvPr id="8" name="">
            <a:extLst xmlns:a="http://schemas.openxmlformats.org/drawingml/2006/main">
              <a:ext uri="{FF2B5EF4-FFF2-40B4-BE49-F238E27FC236}">
                <a16:creationId xmlns:a16="http://schemas.microsoft.com/office/drawing/2014/main" id="{721D819C-6F42-4F24-8DAB-C6539978ACDF}"/>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60  value /= divisor;</a:t>
            </a:r>
          </a:p>
        </p:txBody>
      </p:sp>
      <p:sp>
        <p:nvSpPr>
          <p:cNvPr id="9" name="">
            <a:extLst xmlns:a="http://schemas.openxmlformats.org/drawingml/2006/main">
              <a:ext uri="{FF2B5EF4-FFF2-40B4-BE49-F238E27FC236}">
                <a16:creationId xmlns:a16="http://schemas.microsoft.com/office/drawing/2014/main" id="{47681169-75A3-4D6E-AEA7-78232159A40D}"/>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src/model/calculator.cpp:60</a:t>
            </a:r>
          </a:p>
        </p:txBody>
      </p:sp>
      <p:sp>
        <p:nvSpPr>
          <p:cNvPr id="10" name="">
            <a:extLst xmlns:a="http://schemas.openxmlformats.org/drawingml/2006/main">
              <a:ext uri="{FF2B5EF4-FFF2-40B4-BE49-F238E27FC236}">
                <a16:creationId xmlns:a16="http://schemas.microsoft.com/office/drawing/2014/main" id="{B3109FC2-E3EF-492B-ABED-C5F8F71162C7}"/>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Проследи путь CalculatorError до ответа клиенту.</a:t>
            </a:r>
          </a:p>
        </p:txBody>
      </p:sp>
      <p:sp>
        <p:nvSpPr>
          <p:cNvPr id="11" name="">
            <a:extLst xmlns:a="http://schemas.openxmlformats.org/drawingml/2006/main">
              <a:ext uri="{FF2B5EF4-FFF2-40B4-BE49-F238E27FC236}">
                <a16:creationId xmlns:a16="http://schemas.microsoft.com/office/drawing/2014/main" id="{8177DF56-11FD-4733-A3C3-D263428190D6}"/>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Калькулятор и хранение</a:t>
            </a:r>
          </a:p>
        </p:txBody>
      </p:sp>
      <p:sp>
        <p:nvSpPr>
          <p:cNvPr id="12" name="">
            <a:extLst xmlns:a="http://schemas.openxmlformats.org/drawingml/2006/main">
              <a:ext uri="{FF2B5EF4-FFF2-40B4-BE49-F238E27FC236}">
                <a16:creationId xmlns:a16="http://schemas.microsoft.com/office/drawing/2014/main" id="{75F7B4FE-3A7F-43D7-8586-78ED5475F421}"/>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46 / 66</a:t>
            </a:r>
          </a:p>
        </p:txBody>
      </p:sp>
    </p:spTree>
    <p:extLst>
      <p:ext uri="{BB962C8B-B14F-4D97-AF65-F5344CB8AC3E}">
        <p14:creationId xmlns:p14="http://schemas.microsoft.com/office/powerpoint/2010/main" val="1448293399"/>
      </p:ext>
    </p:extLst>
  </p:cSld>
</p:sld>
</file>

<file path=ppt/slides/slide47.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CEFB0E4-220B-47BA-A0B7-3FF5C2D9D38D}"/>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Полный разбор выражения и map</a:t>
            </a:r>
          </a:p>
        </p:txBody>
      </p:sp>
      <p:sp>
        <p:nvSpPr>
          <p:cNvPr id="2" name="">
            <a:extLst xmlns:a="http://schemas.openxmlformats.org/drawingml/2006/main">
              <a:ext uri="{FF2B5EF4-FFF2-40B4-BE49-F238E27FC236}">
                <a16:creationId xmlns:a16="http://schemas.microsoft.com/office/drawing/2014/main" id="{159ACA9E-7455-419A-B0AC-3923769DDE52}"/>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проверяет parse после разбора выражения?</a:t>
            </a:r>
          </a:p>
        </p:txBody>
      </p:sp>
      <p:sp>
        <p:nvSpPr>
          <p:cNvPr id="3" name="">
            <a:extLst xmlns:a="http://schemas.openxmlformats.org/drawingml/2006/main">
              <a:ext uri="{FF2B5EF4-FFF2-40B4-BE49-F238E27FC236}">
                <a16:creationId xmlns:a16="http://schemas.microsoft.com/office/drawing/2014/main" id="{2F0BEA36-14D8-4C76-8921-12EBB43C5DCB}"/>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Не остались ли непотребленные символы после пропуска пробелов.</a:t>
            </a:r>
          </a:p>
        </p:txBody>
      </p:sp>
      <p:sp>
        <p:nvSpPr>
          <p:cNvPr id="4" name="">
            <a:extLst xmlns:a="http://schemas.openxmlformats.org/drawingml/2006/main">
              <a:ext uri="{FF2B5EF4-FFF2-40B4-BE49-F238E27FC236}">
                <a16:creationId xmlns:a16="http://schemas.microsoft.com/office/drawing/2014/main" id="{E607BBFE-B580-483A-A47E-16EF628D3800}"/>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23  long long parse()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24  long long value = parse_expression();</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25  skip_spaces();</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26  if (_pos != _input.size()) {</a:t>
            </a:r>
          </a:p>
        </p:txBody>
      </p:sp>
      <p:sp>
        <p:nvSpPr>
          <p:cNvPr id="5" name="">
            <a:extLst xmlns:a="http://schemas.openxmlformats.org/drawingml/2006/main">
              <a:ext uri="{FF2B5EF4-FFF2-40B4-BE49-F238E27FC236}">
                <a16:creationId xmlns:a16="http://schemas.microsoft.com/office/drawing/2014/main" id="{F985137D-19A1-4600-931B-702032DA9F30}"/>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src/model/calculator.cpp:23,24,25,26</a:t>
            </a:r>
          </a:p>
        </p:txBody>
      </p:sp>
      <p:sp>
        <p:nvSpPr>
          <p:cNvPr id="6" name="">
            <a:extLst xmlns:a="http://schemas.openxmlformats.org/drawingml/2006/main">
              <a:ext uri="{FF2B5EF4-FFF2-40B4-BE49-F238E27FC236}">
                <a16:creationId xmlns:a16="http://schemas.microsoft.com/office/drawing/2014/main" id="{B25CF52B-172A-4F80-ACEE-68B0815FDC35}"/>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Почему _vars имеет тип map&lt;string, Variables&gt;?</a:t>
            </a:r>
          </a:p>
        </p:txBody>
      </p:sp>
      <p:sp>
        <p:nvSpPr>
          <p:cNvPr id="7" name="">
            <a:extLst xmlns:a="http://schemas.openxmlformats.org/drawingml/2006/main">
              <a:ext uri="{FF2B5EF4-FFF2-40B4-BE49-F238E27FC236}">
                <a16:creationId xmlns:a16="http://schemas.microsoft.com/office/drawing/2014/main" id="{A44696D7-71A2-4B5D-96FE-1A879147CCA8}"/>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Имя пользователя служит ключом к его трем значениям.</a:t>
            </a:r>
          </a:p>
        </p:txBody>
      </p:sp>
      <p:sp>
        <p:nvSpPr>
          <p:cNvPr id="8" name="">
            <a:extLst xmlns:a="http://schemas.openxmlformats.org/drawingml/2006/main">
              <a:ext uri="{FF2B5EF4-FFF2-40B4-BE49-F238E27FC236}">
                <a16:creationId xmlns:a16="http://schemas.microsoft.com/office/drawing/2014/main" id="{6A1B3EFC-C6AB-46CD-8D14-FE2A3D9C52BB}"/>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52  std::map&lt;std::string, Variables&gt; _vars;</a:t>
            </a:r>
          </a:p>
        </p:txBody>
      </p:sp>
      <p:sp>
        <p:nvSpPr>
          <p:cNvPr id="9" name="">
            <a:extLst xmlns:a="http://schemas.openxmlformats.org/drawingml/2006/main">
              <a:ext uri="{FF2B5EF4-FFF2-40B4-BE49-F238E27FC236}">
                <a16:creationId xmlns:a16="http://schemas.microsoft.com/office/drawing/2014/main" id="{D55F148F-4B22-42D5-BBF3-98B1BB838E2E}"/>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src/model/calculator.hpp:52</a:t>
            </a:r>
          </a:p>
        </p:txBody>
      </p:sp>
      <p:sp>
        <p:nvSpPr>
          <p:cNvPr id="10" name="">
            <a:extLst xmlns:a="http://schemas.openxmlformats.org/drawingml/2006/main">
              <a:ext uri="{FF2B5EF4-FFF2-40B4-BE49-F238E27FC236}">
                <a16:creationId xmlns:a16="http://schemas.microsoft.com/office/drawing/2014/main" id="{2EFA7CAA-9BF1-49BF-A012-457824AAD200}"/>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Почему недостаточно успешно прочитать первое число?</a:t>
            </a:r>
          </a:p>
        </p:txBody>
      </p:sp>
      <p:sp>
        <p:nvSpPr>
          <p:cNvPr id="11" name="">
            <a:extLst xmlns:a="http://schemas.openxmlformats.org/drawingml/2006/main">
              <a:ext uri="{FF2B5EF4-FFF2-40B4-BE49-F238E27FC236}">
                <a16:creationId xmlns:a16="http://schemas.microsoft.com/office/drawing/2014/main" id="{A4DBFFE6-8F94-4996-B1C2-B526E19E4196}"/>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Калькулятор и хранение</a:t>
            </a:r>
          </a:p>
        </p:txBody>
      </p:sp>
      <p:sp>
        <p:nvSpPr>
          <p:cNvPr id="12" name="">
            <a:extLst xmlns:a="http://schemas.openxmlformats.org/drawingml/2006/main">
              <a:ext uri="{FF2B5EF4-FFF2-40B4-BE49-F238E27FC236}">
                <a16:creationId xmlns:a16="http://schemas.microsoft.com/office/drawing/2014/main" id="{359CE362-0394-4559-ADEA-6921AACB6EC2}"/>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47 / 66</a:t>
            </a:r>
          </a:p>
        </p:txBody>
      </p:sp>
    </p:spTree>
    <p:extLst>
      <p:ext uri="{BB962C8B-B14F-4D97-AF65-F5344CB8AC3E}">
        <p14:creationId xmlns:p14="http://schemas.microsoft.com/office/powerpoint/2010/main" val="558671495"/>
      </p:ext>
    </p:extLst>
  </p:cSld>
</p:sld>
</file>

<file path=ppt/slides/slide48.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44729F6-91F9-4DB3-B104-FEC61208B91E}"/>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Новый пользователь и запись переменных</a:t>
            </a:r>
          </a:p>
        </p:txBody>
      </p:sp>
      <p:sp>
        <p:nvSpPr>
          <p:cNvPr id="2" name="">
            <a:extLst xmlns:a="http://schemas.openxmlformats.org/drawingml/2006/main">
              <a:ext uri="{FF2B5EF4-FFF2-40B4-BE49-F238E27FC236}">
                <a16:creationId xmlns:a16="http://schemas.microsoft.com/office/drawing/2014/main" id="{3E395F5F-F52C-4B0A-B6BA-8114382885C9}"/>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делает _vars[user] для нового допустимого имени?</a:t>
            </a:r>
          </a:p>
        </p:txBody>
      </p:sp>
      <p:sp>
        <p:nvSpPr>
          <p:cNvPr id="3" name="">
            <a:extLst xmlns:a="http://schemas.openxmlformats.org/drawingml/2006/main">
              <a:ext uri="{FF2B5EF4-FFF2-40B4-BE49-F238E27FC236}">
                <a16:creationId xmlns:a16="http://schemas.microsoft.com/office/drawing/2014/main" id="{A209164F-B8BD-4A5B-9D2A-CB8270513FFE}"/>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Создает запись с Variables по умолчанию, где X, Y, Z равны нулю.</a:t>
            </a:r>
          </a:p>
        </p:txBody>
      </p:sp>
      <p:sp>
        <p:nvSpPr>
          <p:cNvPr id="4" name="">
            <a:extLst xmlns:a="http://schemas.openxmlformats.org/drawingml/2006/main">
              <a:ext uri="{FF2B5EF4-FFF2-40B4-BE49-F238E27FC236}">
                <a16:creationId xmlns:a16="http://schemas.microsoft.com/office/drawing/2014/main" id="{84F83340-36FE-4CAE-8E98-839D077F05A8}"/>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220  return _vars[user];</a:t>
            </a:r>
          </a:p>
        </p:txBody>
      </p:sp>
      <p:sp>
        <p:nvSpPr>
          <p:cNvPr id="5" name="">
            <a:extLst xmlns:a="http://schemas.openxmlformats.org/drawingml/2006/main">
              <a:ext uri="{FF2B5EF4-FFF2-40B4-BE49-F238E27FC236}">
                <a16:creationId xmlns:a16="http://schemas.microsoft.com/office/drawing/2014/main" id="{16579695-712D-4D56-8CDE-F27A1C8ED5B3}"/>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src/model/calculator.cpp:220</a:t>
            </a:r>
          </a:p>
        </p:txBody>
      </p:sp>
      <p:sp>
        <p:nvSpPr>
          <p:cNvPr id="6" name="">
            <a:extLst xmlns:a="http://schemas.openxmlformats.org/drawingml/2006/main">
              <a:ext uri="{FF2B5EF4-FFF2-40B4-BE49-F238E27FC236}">
                <a16:creationId xmlns:a16="http://schemas.microsoft.com/office/drawing/2014/main" id="{C4C8E3E6-23BB-4E72-9EE6-D6F0112E4538}"/>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Когда новая величина переменной записывается в файл?</a:t>
            </a:r>
          </a:p>
        </p:txBody>
      </p:sp>
      <p:sp>
        <p:nvSpPr>
          <p:cNvPr id="7" name="">
            <a:extLst xmlns:a="http://schemas.openxmlformats.org/drawingml/2006/main">
              <a:ext uri="{FF2B5EF4-FFF2-40B4-BE49-F238E27FC236}">
                <a16:creationId xmlns:a16="http://schemas.microsoft.com/office/drawing/2014/main" id="{AA04E90F-825E-4D86-8D67-CA6124EB02DF}"/>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После успешного вычисления и присваивания в execute вызывается save.</a:t>
            </a:r>
          </a:p>
        </p:txBody>
      </p:sp>
      <p:sp>
        <p:nvSpPr>
          <p:cNvPr id="8" name="">
            <a:extLst xmlns:a="http://schemas.openxmlformats.org/drawingml/2006/main">
              <a:ext uri="{FF2B5EF4-FFF2-40B4-BE49-F238E27FC236}">
                <a16:creationId xmlns:a16="http://schemas.microsoft.com/office/drawing/2014/main" id="{7DE07FDB-6EC1-448A-B635-F1CEB8B031C5}"/>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266  save();</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267  } catch (...)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268  current = backup;</a:t>
            </a:r>
          </a:p>
        </p:txBody>
      </p:sp>
      <p:sp>
        <p:nvSpPr>
          <p:cNvPr id="9" name="">
            <a:extLst xmlns:a="http://schemas.openxmlformats.org/drawingml/2006/main">
              <a:ext uri="{FF2B5EF4-FFF2-40B4-BE49-F238E27FC236}">
                <a16:creationId xmlns:a16="http://schemas.microsoft.com/office/drawing/2014/main" id="{F7D78769-98D3-4A23-BA13-4421569C03AA}"/>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src/model/calculator.cpp:266,267,268</a:t>
            </a:r>
          </a:p>
        </p:txBody>
      </p:sp>
      <p:sp>
        <p:nvSpPr>
          <p:cNvPr id="10" name="">
            <a:extLst xmlns:a="http://schemas.openxmlformats.org/drawingml/2006/main">
              <a:ext uri="{FF2B5EF4-FFF2-40B4-BE49-F238E27FC236}">
                <a16:creationId xmlns:a16="http://schemas.microsoft.com/office/drawing/2014/main" id="{6AF888D3-51DD-42ED-B7D1-E5D273A11A89}"/>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Почему чтение через operator[] иногда меняет контейнер?</a:t>
            </a:r>
          </a:p>
        </p:txBody>
      </p:sp>
      <p:sp>
        <p:nvSpPr>
          <p:cNvPr id="11" name="">
            <a:extLst xmlns:a="http://schemas.openxmlformats.org/drawingml/2006/main">
              <a:ext uri="{FF2B5EF4-FFF2-40B4-BE49-F238E27FC236}">
                <a16:creationId xmlns:a16="http://schemas.microsoft.com/office/drawing/2014/main" id="{0194832F-361D-40BA-9DB7-13C0CF6A6CC6}"/>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Калькулятор и хранение</a:t>
            </a:r>
          </a:p>
        </p:txBody>
      </p:sp>
      <p:sp>
        <p:nvSpPr>
          <p:cNvPr id="12" name="">
            <a:extLst xmlns:a="http://schemas.openxmlformats.org/drawingml/2006/main">
              <a:ext uri="{FF2B5EF4-FFF2-40B4-BE49-F238E27FC236}">
                <a16:creationId xmlns:a16="http://schemas.microsoft.com/office/drawing/2014/main" id="{8BAAF1AA-970E-42C5-BE1F-71F326B56728}"/>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48 / 66</a:t>
            </a:r>
          </a:p>
        </p:txBody>
      </p:sp>
    </p:spTree>
    <p:extLst>
      <p:ext uri="{BB962C8B-B14F-4D97-AF65-F5344CB8AC3E}">
        <p14:creationId xmlns:p14="http://schemas.microsoft.com/office/powerpoint/2010/main" val="1414997317"/>
      </p:ext>
    </p:extLst>
  </p:cSld>
</p:sld>
</file>

<file path=ppt/slides/slide49.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0FF0EEC-3924-4170-855C-27A030A0D881}"/>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Откат в памяти и формат файла</a:t>
            </a:r>
          </a:p>
        </p:txBody>
      </p:sp>
      <p:sp>
        <p:nvSpPr>
          <p:cNvPr id="2" name="">
            <a:extLst xmlns:a="http://schemas.openxmlformats.org/drawingml/2006/main">
              <a:ext uri="{FF2B5EF4-FFF2-40B4-BE49-F238E27FC236}">
                <a16:creationId xmlns:a16="http://schemas.microsoft.com/office/drawing/2014/main" id="{D5506530-5EC1-4F14-9D94-CB82042CA28E}"/>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Для чего в execute создается Variables backup?</a:t>
            </a:r>
          </a:p>
        </p:txBody>
      </p:sp>
      <p:sp>
        <p:nvSpPr>
          <p:cNvPr id="3" name="">
            <a:extLst xmlns:a="http://schemas.openxmlformats.org/drawingml/2006/main">
              <a:ext uri="{FF2B5EF4-FFF2-40B4-BE49-F238E27FC236}">
                <a16:creationId xmlns:a16="http://schemas.microsoft.com/office/drawing/2014/main" id="{8F790DA1-F90E-483C-9BDE-AD78FDAD402D}"/>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Чтобы восстановить состояние в памяти, если save бросит исключение.</a:t>
            </a:r>
          </a:p>
        </p:txBody>
      </p:sp>
      <p:sp>
        <p:nvSpPr>
          <p:cNvPr id="4" name="">
            <a:extLst xmlns:a="http://schemas.openxmlformats.org/drawingml/2006/main">
              <a:ext uri="{FF2B5EF4-FFF2-40B4-BE49-F238E27FC236}">
                <a16:creationId xmlns:a16="http://schemas.microsoft.com/office/drawing/2014/main" id="{4F40E430-A020-41A6-8F70-4F3557953F78}"/>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267  } catch (...)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268  current = backup;</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269  throw;</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270  }</a:t>
            </a:r>
          </a:p>
        </p:txBody>
      </p:sp>
      <p:sp>
        <p:nvSpPr>
          <p:cNvPr id="5" name="">
            <a:extLst xmlns:a="http://schemas.openxmlformats.org/drawingml/2006/main">
              <a:ext uri="{FF2B5EF4-FFF2-40B4-BE49-F238E27FC236}">
                <a16:creationId xmlns:a16="http://schemas.microsoft.com/office/drawing/2014/main" id="{30352A82-9CC9-4408-9764-7CDD92EFDC0A}"/>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src/model/calculator.cpp:267,268,269,270</a:t>
            </a:r>
          </a:p>
        </p:txBody>
      </p:sp>
      <p:sp>
        <p:nvSpPr>
          <p:cNvPr id="6" name="">
            <a:extLst xmlns:a="http://schemas.openxmlformats.org/drawingml/2006/main">
              <a:ext uri="{FF2B5EF4-FFF2-40B4-BE49-F238E27FC236}">
                <a16:creationId xmlns:a16="http://schemas.microsoft.com/office/drawing/2014/main" id="{7DC63A28-71FE-4775-AF8A-04860DC7C68E}"/>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представляет собой users.db?</a:t>
            </a:r>
          </a:p>
        </p:txBody>
      </p:sp>
      <p:sp>
        <p:nvSpPr>
          <p:cNvPr id="7" name="">
            <a:extLst xmlns:a="http://schemas.openxmlformats.org/drawingml/2006/main">
              <a:ext uri="{FF2B5EF4-FFF2-40B4-BE49-F238E27FC236}">
                <a16:creationId xmlns:a16="http://schemas.microsoft.com/office/drawing/2014/main" id="{B1C3DFE8-969C-4C50-BF06-7D84FA5C2614}"/>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Текстовый файл с именем и тремя целыми числами в строке.</a:t>
            </a:r>
          </a:p>
        </p:txBody>
      </p:sp>
      <p:sp>
        <p:nvSpPr>
          <p:cNvPr id="8" name="">
            <a:extLst xmlns:a="http://schemas.openxmlformats.org/drawingml/2006/main">
              <a:ext uri="{FF2B5EF4-FFF2-40B4-BE49-F238E27FC236}">
                <a16:creationId xmlns:a16="http://schemas.microsoft.com/office/drawing/2014/main" id="{BC59706A-469A-4966-A3E7-015E719FAEF7}"/>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286  while (input &gt;&gt; user &gt;&gt; v.x &gt;&gt; v.y &gt;&gt; v.z)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287  if (valid_user_name(user))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288  _vars[user] = v;</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289  }</a:t>
            </a:r>
          </a:p>
        </p:txBody>
      </p:sp>
      <p:sp>
        <p:nvSpPr>
          <p:cNvPr id="9" name="">
            <a:extLst xmlns:a="http://schemas.openxmlformats.org/drawingml/2006/main">
              <a:ext uri="{FF2B5EF4-FFF2-40B4-BE49-F238E27FC236}">
                <a16:creationId xmlns:a16="http://schemas.microsoft.com/office/drawing/2014/main" id="{75747719-E0D3-4AA1-99FE-A5B7C2C0EC07}"/>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src/model/calculator.cpp:286,287,288,289</a:t>
            </a:r>
          </a:p>
        </p:txBody>
      </p:sp>
      <p:sp>
        <p:nvSpPr>
          <p:cNvPr id="10" name="">
            <a:extLst xmlns:a="http://schemas.openxmlformats.org/drawingml/2006/main">
              <a:ext uri="{FF2B5EF4-FFF2-40B4-BE49-F238E27FC236}">
                <a16:creationId xmlns:a16="http://schemas.microsoft.com/office/drawing/2014/main" id="{5DC42331-D47D-4F90-923E-E9EAE5A972DE}"/>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Почему откат памяти и надежное сохранение файла - разные задачи?</a:t>
            </a:r>
          </a:p>
        </p:txBody>
      </p:sp>
      <p:sp>
        <p:nvSpPr>
          <p:cNvPr id="11" name="">
            <a:extLst xmlns:a="http://schemas.openxmlformats.org/drawingml/2006/main">
              <a:ext uri="{FF2B5EF4-FFF2-40B4-BE49-F238E27FC236}">
                <a16:creationId xmlns:a16="http://schemas.microsoft.com/office/drawing/2014/main" id="{0210B9FB-C941-44D9-93F8-DD047C65D29D}"/>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Калькулятор и хранение</a:t>
            </a:r>
          </a:p>
        </p:txBody>
      </p:sp>
      <p:sp>
        <p:nvSpPr>
          <p:cNvPr id="12" name="">
            <a:extLst xmlns:a="http://schemas.openxmlformats.org/drawingml/2006/main">
              <a:ext uri="{FF2B5EF4-FFF2-40B4-BE49-F238E27FC236}">
                <a16:creationId xmlns:a16="http://schemas.microsoft.com/office/drawing/2014/main" id="{38773B1B-6877-477B-A4B0-DD28A073448F}"/>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49 / 66</a:t>
            </a:r>
          </a:p>
        </p:txBody>
      </p:sp>
    </p:spTree>
    <p:extLst>
      <p:ext uri="{BB962C8B-B14F-4D97-AF65-F5344CB8AC3E}">
        <p14:creationId xmlns:p14="http://schemas.microsoft.com/office/powerpoint/2010/main" val="153624568"/>
      </p:ext>
    </p:extLst>
  </p:cSld>
</p:sld>
</file>

<file path=ppt/slides/slide50.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E197E6E-0A0B-4864-9EF4-5E8B3744EB09}"/>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Ссылки C++ и const-параметры</a:t>
            </a:r>
          </a:p>
        </p:txBody>
      </p:sp>
      <p:sp>
        <p:nvSpPr>
          <p:cNvPr id="2" name="">
            <a:extLst xmlns:a="http://schemas.openxmlformats.org/drawingml/2006/main">
              <a:ext uri="{FF2B5EF4-FFF2-40B4-BE49-F238E27FC236}">
                <a16:creationId xmlns:a16="http://schemas.microsoft.com/office/drawing/2014/main" id="{345FCBF0-D7DD-4DD3-9C77-FF6D1E9CFF08}"/>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обозначает Client&amp; client = _clients[index]?</a:t>
            </a:r>
          </a:p>
        </p:txBody>
      </p:sp>
      <p:sp>
        <p:nvSpPr>
          <p:cNvPr id="3" name="">
            <a:extLst xmlns:a="http://schemas.openxmlformats.org/drawingml/2006/main">
              <a:ext uri="{FF2B5EF4-FFF2-40B4-BE49-F238E27FC236}">
                <a16:creationId xmlns:a16="http://schemas.microsoft.com/office/drawing/2014/main" id="{ABC05C86-DE27-45FF-A806-88A365AB762E}"/>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Ссылку на существующий элемент вектора.</a:t>
            </a:r>
          </a:p>
        </p:txBody>
      </p:sp>
      <p:sp>
        <p:nvSpPr>
          <p:cNvPr id="4" name="">
            <a:extLst xmlns:a="http://schemas.openxmlformats.org/drawingml/2006/main">
              <a:ext uri="{FF2B5EF4-FFF2-40B4-BE49-F238E27FC236}">
                <a16:creationId xmlns:a16="http://schemas.microsoft.com/office/drawing/2014/main" id="{33835342-F85F-493F-BA41-2FB55C89E89A}"/>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137  Client&amp; client = _clients[index];</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138  char buffer[4096];</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139  while (true) {</a:t>
            </a:r>
          </a:p>
        </p:txBody>
      </p:sp>
      <p:sp>
        <p:nvSpPr>
          <p:cNvPr id="5" name="">
            <a:extLst xmlns:a="http://schemas.openxmlformats.org/drawingml/2006/main">
              <a:ext uri="{FF2B5EF4-FFF2-40B4-BE49-F238E27FC236}">
                <a16:creationId xmlns:a16="http://schemas.microsoft.com/office/drawing/2014/main" id="{C691F58D-8233-4E0F-BCE4-540A7C9BA837}"/>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src/server/poll_server.cpp:137,138,139</a:t>
            </a:r>
          </a:p>
        </p:txBody>
      </p:sp>
      <p:sp>
        <p:nvSpPr>
          <p:cNvPr id="6" name="">
            <a:extLst xmlns:a="http://schemas.openxmlformats.org/drawingml/2006/main">
              <a:ext uri="{FF2B5EF4-FFF2-40B4-BE49-F238E27FC236}">
                <a16:creationId xmlns:a16="http://schemas.microsoft.com/office/drawing/2014/main" id="{26E3D883-E2FC-45F5-BF30-AC9730C6ACDA}"/>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означает const std::string&amp; в параметре функции?</a:t>
            </a:r>
          </a:p>
        </p:txBody>
      </p:sp>
      <p:sp>
        <p:nvSpPr>
          <p:cNvPr id="7" name="">
            <a:extLst xmlns:a="http://schemas.openxmlformats.org/drawingml/2006/main">
              <a:ext uri="{FF2B5EF4-FFF2-40B4-BE49-F238E27FC236}">
                <a16:creationId xmlns:a16="http://schemas.microsoft.com/office/drawing/2014/main" id="{D538D5AE-D5D8-4DEE-890B-2F4F8CD61143}"/>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Ссылку без копирования строки и без изменения ее через этот параметр.</a:t>
            </a:r>
          </a:p>
        </p:txBody>
      </p:sp>
      <p:sp>
        <p:nvSpPr>
          <p:cNvPr id="8" name="">
            <a:extLst xmlns:a="http://schemas.openxmlformats.org/drawingml/2006/main">
              <a:ext uri="{FF2B5EF4-FFF2-40B4-BE49-F238E27FC236}">
                <a16:creationId xmlns:a16="http://schemas.microsoft.com/office/drawing/2014/main" id="{DF8122BB-5F78-4B81-8252-7BF4D740269B}"/>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223  std::string CalculatorModel::execute(const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std::string&amp; user, const std::string&amp; command) {</a:t>
            </a:r>
          </a:p>
        </p:txBody>
      </p:sp>
      <p:sp>
        <p:nvSpPr>
          <p:cNvPr id="9" name="">
            <a:extLst xmlns:a="http://schemas.openxmlformats.org/drawingml/2006/main">
              <a:ext uri="{FF2B5EF4-FFF2-40B4-BE49-F238E27FC236}">
                <a16:creationId xmlns:a16="http://schemas.microsoft.com/office/drawing/2014/main" id="{4058A543-A8E0-45C0-8D54-14934D6CDACF}"/>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src/model/calculator.cpp:223</a:t>
            </a:r>
          </a:p>
        </p:txBody>
      </p:sp>
      <p:sp>
        <p:nvSpPr>
          <p:cNvPr id="10" name="">
            <a:extLst xmlns:a="http://schemas.openxmlformats.org/drawingml/2006/main">
              <a:ext uri="{FF2B5EF4-FFF2-40B4-BE49-F238E27FC236}">
                <a16:creationId xmlns:a16="http://schemas.microsoft.com/office/drawing/2014/main" id="{971A4D63-D5F7-4306-AE9E-6936AC8537A8}"/>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Какие операции vector могут сделать ссылку недействительной?</a:t>
            </a:r>
          </a:p>
        </p:txBody>
      </p:sp>
      <p:sp>
        <p:nvSpPr>
          <p:cNvPr id="11" name="">
            <a:extLst xmlns:a="http://schemas.openxmlformats.org/drawingml/2006/main">
              <a:ext uri="{FF2B5EF4-FFF2-40B4-BE49-F238E27FC236}">
                <a16:creationId xmlns:a16="http://schemas.microsoft.com/office/drawing/2014/main" id="{DEE30D7C-50A8-47B6-9E90-51C271B55C7F}"/>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Конструкции C++</a:t>
            </a:r>
          </a:p>
        </p:txBody>
      </p:sp>
      <p:sp>
        <p:nvSpPr>
          <p:cNvPr id="12" name="">
            <a:extLst xmlns:a="http://schemas.openxmlformats.org/drawingml/2006/main">
              <a:ext uri="{FF2B5EF4-FFF2-40B4-BE49-F238E27FC236}">
                <a16:creationId xmlns:a16="http://schemas.microsoft.com/office/drawing/2014/main" id="{3BCA9883-E29B-4533-9AE6-B32369B9F163}"/>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50 / 66</a:t>
            </a:r>
          </a:p>
        </p:txBody>
      </p:sp>
    </p:spTree>
    <p:extLst>
      <p:ext uri="{BB962C8B-B14F-4D97-AF65-F5344CB8AC3E}">
        <p14:creationId xmlns:p14="http://schemas.microsoft.com/office/powerpoint/2010/main" val="975355342"/>
      </p:ext>
    </p:extLst>
  </p:cSld>
</p:sld>
</file>

<file path=ppt/slides/slide51.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F29837F-15A8-4253-97D0-356910BD703F}"/>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Непрерывная память и деструктор</a:t>
            </a:r>
          </a:p>
        </p:txBody>
      </p:sp>
      <p:sp>
        <p:nvSpPr>
          <p:cNvPr id="2" name="">
            <a:extLst xmlns:a="http://schemas.openxmlformats.org/drawingml/2006/main">
              <a:ext uri="{FF2B5EF4-FFF2-40B4-BE49-F238E27FC236}">
                <a16:creationId xmlns:a16="http://schemas.microsoft.com/office/drawing/2014/main" id="{B787125F-4122-47DE-808F-981FC4B95543}"/>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Почему vector&lt;pollfd&gt; можно передать в poll через data()?</a:t>
            </a:r>
          </a:p>
        </p:txBody>
      </p:sp>
      <p:sp>
        <p:nvSpPr>
          <p:cNvPr id="3" name="">
            <a:extLst xmlns:a="http://schemas.openxmlformats.org/drawingml/2006/main">
              <a:ext uri="{FF2B5EF4-FFF2-40B4-BE49-F238E27FC236}">
                <a16:creationId xmlns:a16="http://schemas.microsoft.com/office/drawing/2014/main" id="{B604CBD5-8656-4049-9438-19A9348EC48D}"/>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Элементы vector лежат непрерывно в памяти.</a:t>
            </a:r>
          </a:p>
        </p:txBody>
      </p:sp>
      <p:sp>
        <p:nvSpPr>
          <p:cNvPr id="4" name="">
            <a:extLst xmlns:a="http://schemas.openxmlformats.org/drawingml/2006/main">
              <a:ext uri="{FF2B5EF4-FFF2-40B4-BE49-F238E27FC236}">
                <a16:creationId xmlns:a16="http://schemas.microsoft.com/office/drawing/2014/main" id="{D38B2018-07F7-4C95-A684-A9140843E17F}"/>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84  int ready = poll(_poll_fds.data(), _poll_fds.size(</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 -1);</a:t>
            </a:r>
          </a:p>
        </p:txBody>
      </p:sp>
      <p:sp>
        <p:nvSpPr>
          <p:cNvPr id="5" name="">
            <a:extLst xmlns:a="http://schemas.openxmlformats.org/drawingml/2006/main">
              <a:ext uri="{FF2B5EF4-FFF2-40B4-BE49-F238E27FC236}">
                <a16:creationId xmlns:a16="http://schemas.microsoft.com/office/drawing/2014/main" id="{E84C77E1-43A7-47CB-8B2C-0F914102AC61}"/>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src/server/poll_server.cpp:84</a:t>
            </a:r>
          </a:p>
        </p:txBody>
      </p:sp>
      <p:sp>
        <p:nvSpPr>
          <p:cNvPr id="6" name="">
            <a:extLst xmlns:a="http://schemas.openxmlformats.org/drawingml/2006/main">
              <a:ext uri="{FF2B5EF4-FFF2-40B4-BE49-F238E27FC236}">
                <a16:creationId xmlns:a16="http://schemas.microsoft.com/office/drawing/2014/main" id="{1D99D98C-81B9-40D1-B60B-C7058C6329B2}"/>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Для чего деструктор PollServer закрывает дескрипторы?</a:t>
            </a:r>
          </a:p>
        </p:txBody>
      </p:sp>
      <p:sp>
        <p:nvSpPr>
          <p:cNvPr id="7" name="">
            <a:extLst xmlns:a="http://schemas.openxmlformats.org/drawingml/2006/main">
              <a:ext uri="{FF2B5EF4-FFF2-40B4-BE49-F238E27FC236}">
                <a16:creationId xmlns:a16="http://schemas.microsoft.com/office/drawing/2014/main" id="{4927B535-6591-484C-9728-ECC1964727FE}"/>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Чтобы освободить принадлежащие объекту ресурсы при его уничтожении.</a:t>
            </a:r>
          </a:p>
        </p:txBody>
      </p:sp>
      <p:sp>
        <p:nvSpPr>
          <p:cNvPr id="8" name="">
            <a:extLst xmlns:a="http://schemas.openxmlformats.org/drawingml/2006/main">
              <a:ext uri="{FF2B5EF4-FFF2-40B4-BE49-F238E27FC236}">
                <a16:creationId xmlns:a16="http://schemas.microsoft.com/office/drawing/2014/main" id="{A665F87B-05AF-4586-A971-AE551AA2B6FA}"/>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50  if (_listen_fd &gt;= 0)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51  close(_listen_fd);</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52  }</a:t>
            </a:r>
          </a:p>
        </p:txBody>
      </p:sp>
      <p:sp>
        <p:nvSpPr>
          <p:cNvPr id="9" name="">
            <a:extLst xmlns:a="http://schemas.openxmlformats.org/drawingml/2006/main">
              <a:ext uri="{FF2B5EF4-FFF2-40B4-BE49-F238E27FC236}">
                <a16:creationId xmlns:a16="http://schemas.microsoft.com/office/drawing/2014/main" id="{376E00FC-B285-4914-BF38-EFD9E42E5960}"/>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src/server/poll_server.cpp:50,51,52</a:t>
            </a:r>
          </a:p>
        </p:txBody>
      </p:sp>
      <p:sp>
        <p:nvSpPr>
          <p:cNvPr id="10" name="">
            <a:extLst xmlns:a="http://schemas.openxmlformats.org/drawingml/2006/main">
              <a:ext uri="{FF2B5EF4-FFF2-40B4-BE49-F238E27FC236}">
                <a16:creationId xmlns:a16="http://schemas.microsoft.com/office/drawing/2014/main" id="{518C9234-5F10-4FA5-AD47-EDDEF243A3D6}"/>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Можно ли вместо vector напрямую передать list?</a:t>
            </a:r>
          </a:p>
        </p:txBody>
      </p:sp>
      <p:sp>
        <p:nvSpPr>
          <p:cNvPr id="11" name="">
            <a:extLst xmlns:a="http://schemas.openxmlformats.org/drawingml/2006/main">
              <a:ext uri="{FF2B5EF4-FFF2-40B4-BE49-F238E27FC236}">
                <a16:creationId xmlns:a16="http://schemas.microsoft.com/office/drawing/2014/main" id="{AC4EF764-733F-497F-98BB-8069556CD1CB}"/>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Конструкции C++</a:t>
            </a:r>
          </a:p>
        </p:txBody>
      </p:sp>
      <p:sp>
        <p:nvSpPr>
          <p:cNvPr id="12" name="">
            <a:extLst xmlns:a="http://schemas.openxmlformats.org/drawingml/2006/main">
              <a:ext uri="{FF2B5EF4-FFF2-40B4-BE49-F238E27FC236}">
                <a16:creationId xmlns:a16="http://schemas.microsoft.com/office/drawing/2014/main" id="{64B38271-77C0-4AC3-93EF-C102D90EB11C}"/>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51 / 66</a:t>
            </a:r>
          </a:p>
        </p:txBody>
      </p:sp>
    </p:spTree>
    <p:extLst>
      <p:ext uri="{BB962C8B-B14F-4D97-AF65-F5344CB8AC3E}">
        <p14:creationId xmlns:p14="http://schemas.microsoft.com/office/powerpoint/2010/main" val="642067498"/>
      </p:ext>
    </p:extLst>
  </p:cSld>
</p:sld>
</file>

<file path=ppt/slides/slide52.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0AB2A74-657C-40DF-848C-F97E5E72C7DA}"/>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Исключения и explicit</a:t>
            </a:r>
          </a:p>
        </p:txBody>
      </p:sp>
      <p:sp>
        <p:nvSpPr>
          <p:cNvPr id="2" name="">
            <a:extLst xmlns:a="http://schemas.openxmlformats.org/drawingml/2006/main">
              <a:ext uri="{FF2B5EF4-FFF2-40B4-BE49-F238E27FC236}">
                <a16:creationId xmlns:a16="http://schemas.microsoft.com/office/drawing/2014/main" id="{84438A78-2504-42D0-ACAF-3EB8ABC11C12}"/>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Почему исключение ловят как const CalculatorError&amp;?</a:t>
            </a:r>
          </a:p>
        </p:txBody>
      </p:sp>
      <p:sp>
        <p:nvSpPr>
          <p:cNvPr id="3" name="">
            <a:extLst xmlns:a="http://schemas.openxmlformats.org/drawingml/2006/main">
              <a:ext uri="{FF2B5EF4-FFF2-40B4-BE49-F238E27FC236}">
                <a16:creationId xmlns:a16="http://schemas.microsoft.com/office/drawing/2014/main" id="{C704C184-DD52-4BC2-9879-9AA0B7242447}"/>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Чтобы принять исходный объект исключения без лишней копии и с сохранением динамического типа.</a:t>
            </a:r>
          </a:p>
        </p:txBody>
      </p:sp>
      <p:sp>
        <p:nvSpPr>
          <p:cNvPr id="4" name="">
            <a:extLst xmlns:a="http://schemas.openxmlformats.org/drawingml/2006/main">
              <a:ext uri="{FF2B5EF4-FFF2-40B4-BE49-F238E27FC236}">
                <a16:creationId xmlns:a16="http://schemas.microsoft.com/office/drawing/2014/main" id="{354B16E1-AE9B-40BC-8029-0B6240B43297}"/>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233  } catch (const CalculatorError&amp; error)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234  client.output += protocol::response("ERR", error.</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what());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235  }</a:t>
            </a:r>
          </a:p>
        </p:txBody>
      </p:sp>
      <p:sp>
        <p:nvSpPr>
          <p:cNvPr id="5" name="">
            <a:extLst xmlns:a="http://schemas.openxmlformats.org/drawingml/2006/main">
              <a:ext uri="{FF2B5EF4-FFF2-40B4-BE49-F238E27FC236}">
                <a16:creationId xmlns:a16="http://schemas.microsoft.com/office/drawing/2014/main" id="{A2A4C2F1-839E-4D76-B95E-5AD20EC6B67E}"/>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src/server/poll_server.cpp:233,234,235</a:t>
            </a:r>
          </a:p>
        </p:txBody>
      </p:sp>
      <p:sp>
        <p:nvSpPr>
          <p:cNvPr id="6" name="">
            <a:extLst xmlns:a="http://schemas.openxmlformats.org/drawingml/2006/main">
              <a:ext uri="{FF2B5EF4-FFF2-40B4-BE49-F238E27FC236}">
                <a16:creationId xmlns:a16="http://schemas.microsoft.com/office/drawing/2014/main" id="{F75C7981-E604-4CD5-A9C1-51BDDADC1F99}"/>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означает explicit у конструктора CalculatorModel?</a:t>
            </a:r>
          </a:p>
        </p:txBody>
      </p:sp>
      <p:sp>
        <p:nvSpPr>
          <p:cNvPr id="7" name="">
            <a:extLst xmlns:a="http://schemas.openxmlformats.org/drawingml/2006/main">
              <a:ext uri="{FF2B5EF4-FFF2-40B4-BE49-F238E27FC236}">
                <a16:creationId xmlns:a16="http://schemas.microsoft.com/office/drawing/2014/main" id="{610EB4BE-D187-4246-8AE3-A0EB0098DFAD}"/>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Запрещает неявное преобразование подходящего аргумента в объект модели через этот конструктор.</a:t>
            </a:r>
          </a:p>
        </p:txBody>
      </p:sp>
      <p:sp>
        <p:nvSpPr>
          <p:cNvPr id="8" name="">
            <a:extLst xmlns:a="http://schemas.openxmlformats.org/drawingml/2006/main">
              <a:ext uri="{FF2B5EF4-FFF2-40B4-BE49-F238E27FC236}">
                <a16:creationId xmlns:a16="http://schemas.microsoft.com/office/drawing/2014/main" id="{0E45BBDC-6298-4BFD-87A7-D09DE0610D63}"/>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31  explicit CalculatorModel(const std::string&amp;</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storage_file);</a:t>
            </a:r>
          </a:p>
        </p:txBody>
      </p:sp>
      <p:sp>
        <p:nvSpPr>
          <p:cNvPr id="9" name="">
            <a:extLst xmlns:a="http://schemas.openxmlformats.org/drawingml/2006/main">
              <a:ext uri="{FF2B5EF4-FFF2-40B4-BE49-F238E27FC236}">
                <a16:creationId xmlns:a16="http://schemas.microsoft.com/office/drawing/2014/main" id="{EEE8CD35-F2D8-4866-ACB2-AFCBAC529F90}"/>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src/model/calculator.hpp:31</a:t>
            </a:r>
          </a:p>
        </p:txBody>
      </p:sp>
      <p:sp>
        <p:nvSpPr>
          <p:cNvPr id="10" name="">
            <a:extLst xmlns:a="http://schemas.openxmlformats.org/drawingml/2006/main">
              <a:ext uri="{FF2B5EF4-FFF2-40B4-BE49-F238E27FC236}">
                <a16:creationId xmlns:a16="http://schemas.microsoft.com/office/drawing/2014/main" id="{F5EE8C81-8715-4606-87F3-820B6B4ADC1B}"/>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Как отличаются CalculatorError и std::exception в соседних catch?</a:t>
            </a:r>
          </a:p>
        </p:txBody>
      </p:sp>
      <p:sp>
        <p:nvSpPr>
          <p:cNvPr id="11" name="">
            <a:extLst xmlns:a="http://schemas.openxmlformats.org/drawingml/2006/main">
              <a:ext uri="{FF2B5EF4-FFF2-40B4-BE49-F238E27FC236}">
                <a16:creationId xmlns:a16="http://schemas.microsoft.com/office/drawing/2014/main" id="{E161D97D-8D2E-4128-ACF4-52BE302FA447}"/>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Конструкции C++</a:t>
            </a:r>
          </a:p>
        </p:txBody>
      </p:sp>
      <p:sp>
        <p:nvSpPr>
          <p:cNvPr id="12" name="">
            <a:extLst xmlns:a="http://schemas.openxmlformats.org/drawingml/2006/main">
              <a:ext uri="{FF2B5EF4-FFF2-40B4-BE49-F238E27FC236}">
                <a16:creationId xmlns:a16="http://schemas.microsoft.com/office/drawing/2014/main" id="{A074F0CC-95A3-4A19-A50B-076A317F79CB}"/>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52 / 66</a:t>
            </a:r>
          </a:p>
        </p:txBody>
      </p:sp>
    </p:spTree>
    <p:extLst>
      <p:ext uri="{BB962C8B-B14F-4D97-AF65-F5344CB8AC3E}">
        <p14:creationId xmlns:p14="http://schemas.microsoft.com/office/powerpoint/2010/main" val="1403368350"/>
      </p:ext>
    </p:extLst>
  </p:cSld>
</p:sld>
</file>

<file path=ppt/slides/slide53.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49EA3CD-8501-4BB4-B600-E445E3197089}"/>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Заголовки и область видимости</a:t>
            </a:r>
          </a:p>
        </p:txBody>
      </p:sp>
      <p:sp>
        <p:nvSpPr>
          <p:cNvPr id="2" name="">
            <a:extLst xmlns:a="http://schemas.openxmlformats.org/drawingml/2006/main">
              <a:ext uri="{FF2B5EF4-FFF2-40B4-BE49-F238E27FC236}">
                <a16:creationId xmlns:a16="http://schemas.microsoft.com/office/drawing/2014/main" id="{D2064036-3858-45C9-A801-197DB39B55B5}"/>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Зачем в заголовке используются include guards?</a:t>
            </a:r>
          </a:p>
        </p:txBody>
      </p:sp>
      <p:sp>
        <p:nvSpPr>
          <p:cNvPr id="3" name="">
            <a:extLst xmlns:a="http://schemas.openxmlformats.org/drawingml/2006/main">
              <a:ext uri="{FF2B5EF4-FFF2-40B4-BE49-F238E27FC236}">
                <a16:creationId xmlns:a16="http://schemas.microsoft.com/office/drawing/2014/main" id="{B6A72EFD-7833-4434-A28C-09EE026AFFAB}"/>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Чтобы повторное включение не дало повторных определений в одной единице трансляции.</a:t>
            </a:r>
          </a:p>
        </p:txBody>
      </p:sp>
      <p:sp>
        <p:nvSpPr>
          <p:cNvPr id="4" name="">
            <a:extLst xmlns:a="http://schemas.openxmlformats.org/drawingml/2006/main">
              <a:ext uri="{FF2B5EF4-FFF2-40B4-BE49-F238E27FC236}">
                <a16:creationId xmlns:a16="http://schemas.microsoft.com/office/drawing/2014/main" id="{C1EF6C06-7191-473D-917E-E25C71449E24}"/>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4  #ifndef POLL_SERVER_HPP</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  #define POLL_SERVER_HPP</a:t>
            </a:r>
          </a:p>
        </p:txBody>
      </p:sp>
      <p:sp>
        <p:nvSpPr>
          <p:cNvPr id="5" name="">
            <a:extLst xmlns:a="http://schemas.openxmlformats.org/drawingml/2006/main">
              <a:ext uri="{FF2B5EF4-FFF2-40B4-BE49-F238E27FC236}">
                <a16:creationId xmlns:a16="http://schemas.microsoft.com/office/drawing/2014/main" id="{C7F8E797-F6F6-42DB-B92B-C0D443C7DF16}"/>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src/server/poll_server.hpp:4,5</a:t>
            </a:r>
          </a:p>
        </p:txBody>
      </p:sp>
      <p:sp>
        <p:nvSpPr>
          <p:cNvPr id="6" name="">
            <a:extLst xmlns:a="http://schemas.openxmlformats.org/drawingml/2006/main">
              <a:ext uri="{FF2B5EF4-FFF2-40B4-BE49-F238E27FC236}">
                <a16:creationId xmlns:a16="http://schemas.microsoft.com/office/drawing/2014/main" id="{4A1FFA3B-5EA9-416C-9321-69920A9BBFAA}"/>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Зачем вспомогательные функции помещены в безымянное пространство имен?</a:t>
            </a:r>
          </a:p>
        </p:txBody>
      </p:sp>
      <p:sp>
        <p:nvSpPr>
          <p:cNvPr id="7" name="">
            <a:extLst xmlns:a="http://schemas.openxmlformats.org/drawingml/2006/main">
              <a:ext uri="{FF2B5EF4-FFF2-40B4-BE49-F238E27FC236}">
                <a16:creationId xmlns:a16="http://schemas.microsoft.com/office/drawing/2014/main" id="{9FC8AC8D-A3D4-4D51-B028-ADF1307A9541}"/>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Чтобы ограничить их связь текущей единицей трансляции.</a:t>
            </a:r>
          </a:p>
        </p:txBody>
      </p:sp>
      <p:sp>
        <p:nvSpPr>
          <p:cNvPr id="8" name="">
            <a:extLst xmlns:a="http://schemas.openxmlformats.org/drawingml/2006/main">
              <a:ext uri="{FF2B5EF4-FFF2-40B4-BE49-F238E27FC236}">
                <a16:creationId xmlns:a16="http://schemas.microsoft.com/office/drawing/2014/main" id="{3E5293D8-A54E-436F-804A-5B2B14BCE9B8}"/>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19  void set_nonblocking(int fd)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20  int flags = fcntl(fd, F_GETFL, 0);</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21  if (flags &lt; 0) {</a:t>
            </a:r>
          </a:p>
        </p:txBody>
      </p:sp>
      <p:sp>
        <p:nvSpPr>
          <p:cNvPr id="9" name="">
            <a:extLst xmlns:a="http://schemas.openxmlformats.org/drawingml/2006/main">
              <a:ext uri="{FF2B5EF4-FFF2-40B4-BE49-F238E27FC236}">
                <a16:creationId xmlns:a16="http://schemas.microsoft.com/office/drawing/2014/main" id="{454EFC4D-2D5B-4C00-9166-8A702EF7767F}"/>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src/server/poll_server.cpp:19,20,21</a:t>
            </a:r>
          </a:p>
        </p:txBody>
      </p:sp>
      <p:sp>
        <p:nvSpPr>
          <p:cNvPr id="10" name="">
            <a:extLst xmlns:a="http://schemas.openxmlformats.org/drawingml/2006/main">
              <a:ext uri="{FF2B5EF4-FFF2-40B4-BE49-F238E27FC236}">
                <a16:creationId xmlns:a16="http://schemas.microsoft.com/office/drawing/2014/main" id="{D4D62DAA-22D0-45CA-A0EE-09E74EC52C32}"/>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Чем объявление в .hpp отличается от реализации в .cpp?</a:t>
            </a:r>
          </a:p>
        </p:txBody>
      </p:sp>
      <p:sp>
        <p:nvSpPr>
          <p:cNvPr id="11" name="">
            <a:extLst xmlns:a="http://schemas.openxmlformats.org/drawingml/2006/main">
              <a:ext uri="{FF2B5EF4-FFF2-40B4-BE49-F238E27FC236}">
                <a16:creationId xmlns:a16="http://schemas.microsoft.com/office/drawing/2014/main" id="{55B0F8F8-7A13-4730-A789-EF85752CADF8}"/>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Конструкции C++</a:t>
            </a:r>
          </a:p>
        </p:txBody>
      </p:sp>
      <p:sp>
        <p:nvSpPr>
          <p:cNvPr id="12" name="">
            <a:extLst xmlns:a="http://schemas.openxmlformats.org/drawingml/2006/main">
              <a:ext uri="{FF2B5EF4-FFF2-40B4-BE49-F238E27FC236}">
                <a16:creationId xmlns:a16="http://schemas.microsoft.com/office/drawing/2014/main" id="{C756C448-A847-44AF-AF5F-6241992BBCC5}"/>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53 / 66</a:t>
            </a:r>
          </a:p>
        </p:txBody>
      </p:sp>
    </p:spTree>
    <p:extLst>
      <p:ext uri="{BB962C8B-B14F-4D97-AF65-F5344CB8AC3E}">
        <p14:creationId xmlns:p14="http://schemas.microsoft.com/office/powerpoint/2010/main" val="1005239451"/>
      </p:ext>
    </p:extLst>
  </p:cSld>
</p:sld>
</file>

<file path=ppt/slides/slide54.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4E21C5E-517B-46E3-91C5-EE097AE9F9AF}"/>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Преобразование типов и владение памятью</a:t>
            </a:r>
          </a:p>
        </p:txBody>
      </p:sp>
      <p:sp>
        <p:nvSpPr>
          <p:cNvPr id="2" name="">
            <a:extLst xmlns:a="http://schemas.openxmlformats.org/drawingml/2006/main">
              <a:ext uri="{FF2B5EF4-FFF2-40B4-BE49-F238E27FC236}">
                <a16:creationId xmlns:a16="http://schemas.microsoft.com/office/drawing/2014/main" id="{D07886DD-25BE-4005-9FD9-E625F461D41D}"/>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означает static_cast&lt;size_t&gt;(count) после count &gt; 0?</a:t>
            </a:r>
          </a:p>
        </p:txBody>
      </p:sp>
      <p:sp>
        <p:nvSpPr>
          <p:cNvPr id="3" name="">
            <a:extLst xmlns:a="http://schemas.openxmlformats.org/drawingml/2006/main">
              <a:ext uri="{FF2B5EF4-FFF2-40B4-BE49-F238E27FC236}">
                <a16:creationId xmlns:a16="http://schemas.microsoft.com/office/drawing/2014/main" id="{B0CA1F3B-EAA9-41B3-BDE0-890BE5DFDA24}"/>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Явное преобразование уже проверенного положительного счетчика к типу размера.</a:t>
            </a:r>
          </a:p>
        </p:txBody>
      </p:sp>
      <p:sp>
        <p:nvSpPr>
          <p:cNvPr id="4" name="">
            <a:extLst xmlns:a="http://schemas.openxmlformats.org/drawingml/2006/main">
              <a:ext uri="{FF2B5EF4-FFF2-40B4-BE49-F238E27FC236}">
                <a16:creationId xmlns:a16="http://schemas.microsoft.com/office/drawing/2014/main" id="{C93F81A0-D376-4D4E-A80B-CC2279BC9737}"/>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141  if (count &gt; 0)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142  client.input.append(buffer, static_cast&lt;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std::size_t&gt;(count));</a:t>
            </a:r>
          </a:p>
        </p:txBody>
      </p:sp>
      <p:sp>
        <p:nvSpPr>
          <p:cNvPr id="5" name="">
            <a:extLst xmlns:a="http://schemas.openxmlformats.org/drawingml/2006/main">
              <a:ext uri="{FF2B5EF4-FFF2-40B4-BE49-F238E27FC236}">
                <a16:creationId xmlns:a16="http://schemas.microsoft.com/office/drawing/2014/main" id="{060774D2-0CB8-4C80-9B7C-7F989804DF79}"/>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src/server/poll_server.cpp:141,142</a:t>
            </a:r>
          </a:p>
        </p:txBody>
      </p:sp>
      <p:sp>
        <p:nvSpPr>
          <p:cNvPr id="6" name="">
            <a:extLst xmlns:a="http://schemas.openxmlformats.org/drawingml/2006/main">
              <a:ext uri="{FF2B5EF4-FFF2-40B4-BE49-F238E27FC236}">
                <a16:creationId xmlns:a16="http://schemas.microsoft.com/office/drawing/2014/main" id="{9B1DE408-1D74-4CC5-93AF-E90C40C9C4E1}"/>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Почему std::string и vector удобнее ручного управления char* для накопления?</a:t>
            </a:r>
          </a:p>
        </p:txBody>
      </p:sp>
      <p:sp>
        <p:nvSpPr>
          <p:cNvPr id="7" name="">
            <a:extLst xmlns:a="http://schemas.openxmlformats.org/drawingml/2006/main">
              <a:ext uri="{FF2B5EF4-FFF2-40B4-BE49-F238E27FC236}">
                <a16:creationId xmlns:a16="http://schemas.microsoft.com/office/drawing/2014/main" id="{E6E56AAA-17EE-4EB7-94E4-491A853E7816}"/>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Они владеют памятью и автоматически управляют ее размером в рамках своего интерфейса.</a:t>
            </a:r>
          </a:p>
        </p:txBody>
      </p:sp>
      <p:sp>
        <p:nvSpPr>
          <p:cNvPr id="8" name="">
            <a:extLst xmlns:a="http://schemas.openxmlformats.org/drawingml/2006/main">
              <a:ext uri="{FF2B5EF4-FFF2-40B4-BE49-F238E27FC236}">
                <a16:creationId xmlns:a16="http://schemas.microsoft.com/office/drawing/2014/main" id="{ED98A98D-AF13-4C45-8343-527DF37ACE0E}"/>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32  std::string input;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33  std::string output;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34  std::string user;</a:t>
            </a:r>
          </a:p>
        </p:txBody>
      </p:sp>
      <p:sp>
        <p:nvSpPr>
          <p:cNvPr id="9" name="">
            <a:extLst xmlns:a="http://schemas.openxmlformats.org/drawingml/2006/main">
              <a:ext uri="{FF2B5EF4-FFF2-40B4-BE49-F238E27FC236}">
                <a16:creationId xmlns:a16="http://schemas.microsoft.com/office/drawing/2014/main" id="{EAAB135E-99D2-40C4-8972-7920E406D759}"/>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src/server/poll_server.hpp:32,33,34</a:t>
            </a:r>
          </a:p>
        </p:txBody>
      </p:sp>
      <p:sp>
        <p:nvSpPr>
          <p:cNvPr id="10" name="">
            <a:extLst xmlns:a="http://schemas.openxmlformats.org/drawingml/2006/main">
              <a:ext uri="{FF2B5EF4-FFF2-40B4-BE49-F238E27FC236}">
                <a16:creationId xmlns:a16="http://schemas.microsoft.com/office/drawing/2014/main" id="{8B12C559-58B9-4169-A122-5CC44CE9CB86}"/>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Почему важен порядок проверки и преобразования?</a:t>
            </a:r>
          </a:p>
        </p:txBody>
      </p:sp>
      <p:sp>
        <p:nvSpPr>
          <p:cNvPr id="11" name="">
            <a:extLst xmlns:a="http://schemas.openxmlformats.org/drawingml/2006/main">
              <a:ext uri="{FF2B5EF4-FFF2-40B4-BE49-F238E27FC236}">
                <a16:creationId xmlns:a16="http://schemas.microsoft.com/office/drawing/2014/main" id="{EF9DC253-B294-43E6-8CE5-0AA10B17A978}"/>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Конструкции C++</a:t>
            </a:r>
          </a:p>
        </p:txBody>
      </p:sp>
      <p:sp>
        <p:nvSpPr>
          <p:cNvPr id="12" name="">
            <a:extLst xmlns:a="http://schemas.openxmlformats.org/drawingml/2006/main">
              <a:ext uri="{FF2B5EF4-FFF2-40B4-BE49-F238E27FC236}">
                <a16:creationId xmlns:a16="http://schemas.microsoft.com/office/drawing/2014/main" id="{43415F0A-1395-4E94-B3D0-7C8A02E822D2}"/>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54 / 66</a:t>
            </a:r>
          </a:p>
        </p:txBody>
      </p:sp>
    </p:spTree>
    <p:extLst>
      <p:ext uri="{BB962C8B-B14F-4D97-AF65-F5344CB8AC3E}">
        <p14:creationId xmlns:p14="http://schemas.microsoft.com/office/powerpoint/2010/main" val="742060936"/>
      </p:ext>
    </p:extLst>
  </p:cSld>
</p:sld>
</file>

<file path=ppt/slides/slide55.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A88978E-7C36-4577-B9CF-0FD17290A311}"/>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Подтвержденная ошибка после accept</a:t>
            </a:r>
          </a:p>
        </p:txBody>
      </p:sp>
      <p:sp>
        <p:nvSpPr>
          <p:cNvPr id="2" name="">
            <a:extLst xmlns:a="http://schemas.openxmlformats.org/drawingml/2006/main">
              <a:ext uri="{FF2B5EF4-FFF2-40B4-BE49-F238E27FC236}">
                <a16:creationId xmlns:a16="http://schemas.microsoft.com/office/drawing/2014/main" id="{E230B050-2364-4253-8039-2FD3BBBE8FAC}"/>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Какой дефект возникает после первого accept в текущем run?</a:t>
            </a:r>
          </a:p>
        </p:txBody>
      </p:sp>
      <p:sp>
        <p:nvSpPr>
          <p:cNvPr id="3" name="">
            <a:extLst xmlns:a="http://schemas.openxmlformats.org/drawingml/2006/main">
              <a:ext uri="{FF2B5EF4-FFF2-40B4-BE49-F238E27FC236}">
                <a16:creationId xmlns:a16="http://schemas.microsoft.com/office/drawing/2014/main" id="{538590ED-6DED-4C30-899C-44062B37CAD5}"/>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Размер _clients увеличивается раньше, чем перестраивается _poll_fds, и цикл читает вне массива событий.</a:t>
            </a:r>
          </a:p>
        </p:txBody>
      </p:sp>
      <p:sp>
        <p:nvSpPr>
          <p:cNvPr id="4" name="">
            <a:extLst xmlns:a="http://schemas.openxmlformats.org/drawingml/2006/main">
              <a:ext uri="{FF2B5EF4-FFF2-40B4-BE49-F238E27FC236}">
                <a16:creationId xmlns:a16="http://schemas.microsoft.com/office/drawing/2014/main" id="{81031159-76ED-43A2-BF41-9F915ACC13FE}"/>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93  accept_clients();</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96  for (std::size_t i = _clients.size(); i &gt; 0u; --i)</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98  short events = _poll_fds[index + 1u].revents;</a:t>
            </a:r>
          </a:p>
        </p:txBody>
      </p:sp>
      <p:sp>
        <p:nvSpPr>
          <p:cNvPr id="5" name="">
            <a:extLst xmlns:a="http://schemas.openxmlformats.org/drawingml/2006/main">
              <a:ext uri="{FF2B5EF4-FFF2-40B4-BE49-F238E27FC236}">
                <a16:creationId xmlns:a16="http://schemas.microsoft.com/office/drawing/2014/main" id="{D1D2D744-778B-4D02-8E37-D8548EF9C0C1}"/>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src/server/poll_server.cpp:93,96,98</a:t>
            </a:r>
          </a:p>
        </p:txBody>
      </p:sp>
      <p:sp>
        <p:nvSpPr>
          <p:cNvPr id="6" name="">
            <a:extLst xmlns:a="http://schemas.openxmlformats.org/drawingml/2006/main">
              <a:ext uri="{FF2B5EF4-FFF2-40B4-BE49-F238E27FC236}">
                <a16:creationId xmlns:a16="http://schemas.microsoft.com/office/drawing/2014/main" id="{4894E603-A001-4B4F-BF63-F9DD16FFBB56}"/>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Почему нельзя просто вызвать rebuild_events сразу после poll и перед обработкой?</a:t>
            </a:r>
          </a:p>
        </p:txBody>
      </p:sp>
      <p:sp>
        <p:nvSpPr>
          <p:cNvPr id="7" name="">
            <a:extLst xmlns:a="http://schemas.openxmlformats.org/drawingml/2006/main">
              <a:ext uri="{FF2B5EF4-FFF2-40B4-BE49-F238E27FC236}">
                <a16:creationId xmlns:a16="http://schemas.microsoft.com/office/drawing/2014/main" id="{37975D80-09CA-4BED-A9F2-299D162CD9A6}"/>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Перестроение обнулит revents и потеряет только что полученный снимок событий.</a:t>
            </a:r>
          </a:p>
        </p:txBody>
      </p:sp>
      <p:sp>
        <p:nvSpPr>
          <p:cNvPr id="8" name="">
            <a:extLst xmlns:a="http://schemas.openxmlformats.org/drawingml/2006/main">
              <a:ext uri="{FF2B5EF4-FFF2-40B4-BE49-F238E27FC236}">
                <a16:creationId xmlns:a16="http://schemas.microsoft.com/office/drawing/2014/main" id="{EEC1DEF8-B1E9-4C1B-9A9F-ACBA8E52364C}"/>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284  item.revents = 0;</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285  _poll_fds.push_back(item);</a:t>
            </a:r>
          </a:p>
        </p:txBody>
      </p:sp>
      <p:sp>
        <p:nvSpPr>
          <p:cNvPr id="9" name="">
            <a:extLst xmlns:a="http://schemas.openxmlformats.org/drawingml/2006/main">
              <a:ext uri="{FF2B5EF4-FFF2-40B4-BE49-F238E27FC236}">
                <a16:creationId xmlns:a16="http://schemas.microsoft.com/office/drawing/2014/main" id="{360930C1-D28F-4341-8CF8-30D7E5EDBDE9}"/>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src/server/poll_server.cpp:284,285</a:t>
            </a:r>
          </a:p>
        </p:txBody>
      </p:sp>
      <p:sp>
        <p:nvSpPr>
          <p:cNvPr id="10" name="">
            <a:extLst xmlns:a="http://schemas.openxmlformats.org/drawingml/2006/main">
              <a:ext uri="{FF2B5EF4-FFF2-40B4-BE49-F238E27FC236}">
                <a16:creationId xmlns:a16="http://schemas.microsoft.com/office/drawing/2014/main" id="{F3DA3F47-9D24-4131-A08E-2D8862359E32}"/>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Как сохранить соответствие снимка событий и списка клиентов?</a:t>
            </a:r>
          </a:p>
        </p:txBody>
      </p:sp>
      <p:sp>
        <p:nvSpPr>
          <p:cNvPr id="11" name="">
            <a:extLst xmlns:a="http://schemas.openxmlformats.org/drawingml/2006/main">
              <a:ext uri="{FF2B5EF4-FFF2-40B4-BE49-F238E27FC236}">
                <a16:creationId xmlns:a16="http://schemas.microsoft.com/office/drawing/2014/main" id="{13653821-51F7-4E2E-A7F0-79ED62582310}"/>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Ошибки и ограничения</a:t>
            </a:r>
          </a:p>
        </p:txBody>
      </p:sp>
      <p:sp>
        <p:nvSpPr>
          <p:cNvPr id="12" name="">
            <a:extLst xmlns:a="http://schemas.openxmlformats.org/drawingml/2006/main">
              <a:ext uri="{FF2B5EF4-FFF2-40B4-BE49-F238E27FC236}">
                <a16:creationId xmlns:a16="http://schemas.microsoft.com/office/drawing/2014/main" id="{F7340153-B182-470E-8706-BE6E54E2798B}"/>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55 / 66</a:t>
            </a:r>
          </a:p>
        </p:txBody>
      </p:sp>
    </p:spTree>
    <p:extLst>
      <p:ext uri="{BB962C8B-B14F-4D97-AF65-F5344CB8AC3E}">
        <p14:creationId xmlns:p14="http://schemas.microsoft.com/office/powerpoint/2010/main" val="420468253"/>
      </p:ext>
    </p:extLst>
  </p:cSld>
</p:sld>
</file>

<file path=ppt/slides/slide56.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ED099DD-1CDF-4288-A50B-E2B24DCAF281}"/>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Завершение соединения и потеря ответа</a:t>
            </a:r>
          </a:p>
        </p:txBody>
      </p:sp>
      <p:sp>
        <p:nvSpPr>
          <p:cNvPr id="2" name="">
            <a:extLst xmlns:a="http://schemas.openxmlformats.org/drawingml/2006/main">
              <a:ext uri="{FF2B5EF4-FFF2-40B4-BE49-F238E27FC236}">
                <a16:creationId xmlns:a16="http://schemas.microsoft.com/office/drawing/2014/main" id="{4A907F09-1F8E-4E39-BD80-1180A65EFF3B}"/>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опасного в закрытии по POLLHUP до чтения POLLIN?</a:t>
            </a:r>
          </a:p>
        </p:txBody>
      </p:sp>
      <p:sp>
        <p:nvSpPr>
          <p:cNvPr id="3" name="">
            <a:extLst xmlns:a="http://schemas.openxmlformats.org/drawingml/2006/main">
              <a:ext uri="{FF2B5EF4-FFF2-40B4-BE49-F238E27FC236}">
                <a16:creationId xmlns:a16="http://schemas.microsoft.com/office/drawing/2014/main" id="{86C6BA77-D5C1-4CC3-AB15-C4E5F228971E}"/>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В сокете могут оставаться непрочитанные данные, которые будут потеряны.</a:t>
            </a:r>
          </a:p>
        </p:txBody>
      </p:sp>
      <p:sp>
        <p:nvSpPr>
          <p:cNvPr id="4" name="">
            <a:extLst xmlns:a="http://schemas.openxmlformats.org/drawingml/2006/main">
              <a:ext uri="{FF2B5EF4-FFF2-40B4-BE49-F238E27FC236}">
                <a16:creationId xmlns:a16="http://schemas.microsoft.com/office/drawing/2014/main" id="{83D52242-E646-45CD-8238-F43A86D63608}"/>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99  if (events &amp; (POLLERR | POLLHUP | POLLNVAL))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100  close_client(index);</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101  continue;</a:t>
            </a:r>
          </a:p>
        </p:txBody>
      </p:sp>
      <p:sp>
        <p:nvSpPr>
          <p:cNvPr id="5" name="">
            <a:extLst xmlns:a="http://schemas.openxmlformats.org/drawingml/2006/main">
              <a:ext uri="{FF2B5EF4-FFF2-40B4-BE49-F238E27FC236}">
                <a16:creationId xmlns:a16="http://schemas.microsoft.com/office/drawing/2014/main" id="{4D8C0167-4249-4935-9452-5AEEA08C46CA}"/>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src/server/poll_server.cpp:99,100,101</a:t>
            </a:r>
          </a:p>
        </p:txBody>
      </p:sp>
      <p:sp>
        <p:nvSpPr>
          <p:cNvPr id="6" name="">
            <a:extLst xmlns:a="http://schemas.openxmlformats.org/drawingml/2006/main">
              <a:ext uri="{FF2B5EF4-FFF2-40B4-BE49-F238E27FC236}">
                <a16:creationId xmlns:a16="http://schemas.microsoft.com/office/drawing/2014/main" id="{9A8A0CF3-16C4-4F3B-A035-554C1B8F9419}"/>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Будет ли доставлен ERR о слишком длинной команде в текущем read_client?</a:t>
            </a:r>
          </a:p>
        </p:txBody>
      </p:sp>
      <p:sp>
        <p:nvSpPr>
          <p:cNvPr id="7" name="">
            <a:extLst xmlns:a="http://schemas.openxmlformats.org/drawingml/2006/main">
              <a:ext uri="{FF2B5EF4-FFF2-40B4-BE49-F238E27FC236}">
                <a16:creationId xmlns:a16="http://schemas.microsoft.com/office/drawing/2014/main" id="{358B917D-75F5-4AAD-A07E-745A65FE29C3}"/>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Не гарантировано: ответ добавляется в output, затем соединение сразу закрывается.</a:t>
            </a:r>
          </a:p>
        </p:txBody>
      </p:sp>
      <p:sp>
        <p:nvSpPr>
          <p:cNvPr id="8" name="">
            <a:extLst xmlns:a="http://schemas.openxmlformats.org/drawingml/2006/main">
              <a:ext uri="{FF2B5EF4-FFF2-40B4-BE49-F238E27FC236}">
                <a16:creationId xmlns:a16="http://schemas.microsoft.com/office/drawing/2014/main" id="{8D03D5A5-174E-452A-9FB9-7D6596A4D1A0}"/>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144  client.output += protocol::response("ERR",</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"слишком длинная команда");</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145  close_client(index);</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146  return;</a:t>
            </a:r>
          </a:p>
        </p:txBody>
      </p:sp>
      <p:sp>
        <p:nvSpPr>
          <p:cNvPr id="9" name="">
            <a:extLst xmlns:a="http://schemas.openxmlformats.org/drawingml/2006/main">
              <a:ext uri="{FF2B5EF4-FFF2-40B4-BE49-F238E27FC236}">
                <a16:creationId xmlns:a16="http://schemas.microsoft.com/office/drawing/2014/main" id="{E31FD1DF-0C41-45F6-81A4-AC24D351E96D}"/>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src/server/poll_server.cpp:144,145,146</a:t>
            </a:r>
          </a:p>
        </p:txBody>
      </p:sp>
      <p:sp>
        <p:nvSpPr>
          <p:cNvPr id="10" name="">
            <a:extLst xmlns:a="http://schemas.openxmlformats.org/drawingml/2006/main">
              <a:ext uri="{FF2B5EF4-FFF2-40B4-BE49-F238E27FC236}">
                <a16:creationId xmlns:a16="http://schemas.microsoft.com/office/drawing/2014/main" id="{BFF9F744-7BFC-4922-8565-B97D1EA23B04}"/>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Как проверить запрос, после которого клиент закрыл направление записи?</a:t>
            </a:r>
          </a:p>
        </p:txBody>
      </p:sp>
      <p:sp>
        <p:nvSpPr>
          <p:cNvPr id="11" name="">
            <a:extLst xmlns:a="http://schemas.openxmlformats.org/drawingml/2006/main">
              <a:ext uri="{FF2B5EF4-FFF2-40B4-BE49-F238E27FC236}">
                <a16:creationId xmlns:a16="http://schemas.microsoft.com/office/drawing/2014/main" id="{5B54EDE3-A770-4A0E-B66E-D736AA182031}"/>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Ошибки и ограничения</a:t>
            </a:r>
          </a:p>
        </p:txBody>
      </p:sp>
      <p:sp>
        <p:nvSpPr>
          <p:cNvPr id="12" name="">
            <a:extLst xmlns:a="http://schemas.openxmlformats.org/drawingml/2006/main">
              <a:ext uri="{FF2B5EF4-FFF2-40B4-BE49-F238E27FC236}">
                <a16:creationId xmlns:a16="http://schemas.microsoft.com/office/drawing/2014/main" id="{B5F7CDD5-7904-4572-BEEB-BAF7C768A053}"/>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56 / 66</a:t>
            </a:r>
          </a:p>
        </p:txBody>
      </p:sp>
    </p:spTree>
    <p:extLst>
      <p:ext uri="{BB962C8B-B14F-4D97-AF65-F5344CB8AC3E}">
        <p14:creationId xmlns:p14="http://schemas.microsoft.com/office/powerpoint/2010/main" val="1158307295"/>
      </p:ext>
    </p:extLst>
  </p:cSld>
</p:sld>
</file>

<file path=ppt/slides/slide57.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4AB8697-049E-4FA1-B848-B4F19A81B85E}"/>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Переполнение и надежность сохранения</a:t>
            </a:r>
          </a:p>
        </p:txBody>
      </p:sp>
      <p:sp>
        <p:nvSpPr>
          <p:cNvPr id="2" name="">
            <a:extLst xmlns:a="http://schemas.openxmlformats.org/drawingml/2006/main">
              <a:ext uri="{FF2B5EF4-FFF2-40B4-BE49-F238E27FC236}">
                <a16:creationId xmlns:a16="http://schemas.microsoft.com/office/drawing/2014/main" id="{2456DD9C-0DAB-459C-8180-0C92536556BE}"/>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Гарантирует ли long long отсутствие переполнений?</a:t>
            </a:r>
          </a:p>
        </p:txBody>
      </p:sp>
      <p:sp>
        <p:nvSpPr>
          <p:cNvPr id="3" name="">
            <a:extLst xmlns:a="http://schemas.openxmlformats.org/drawingml/2006/main">
              <a:ext uri="{FF2B5EF4-FFF2-40B4-BE49-F238E27FC236}">
                <a16:creationId xmlns:a16="http://schemas.microsoft.com/office/drawing/2014/main" id="{AD5AFC05-5252-4361-A9D9-8E91EBD0CD80}"/>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Нет, у него конечный диапазон, а знаковое переполнение арифметики недопустимо.</a:t>
            </a:r>
          </a:p>
        </p:txBody>
      </p:sp>
      <p:sp>
        <p:nvSpPr>
          <p:cNvPr id="4" name="">
            <a:extLst xmlns:a="http://schemas.openxmlformats.org/drawingml/2006/main">
              <a:ext uri="{FF2B5EF4-FFF2-40B4-BE49-F238E27FC236}">
                <a16:creationId xmlns:a16="http://schemas.microsoft.com/office/drawing/2014/main" id="{35877E7B-36DB-42EB-A5C0-7548D22A4D8F}"/>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115  value = value * 10 + static_cast&lt;long long&gt;(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_input[_pos] - '0');</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116  ++_pos;</a:t>
            </a:r>
          </a:p>
        </p:txBody>
      </p:sp>
      <p:sp>
        <p:nvSpPr>
          <p:cNvPr id="5" name="">
            <a:extLst xmlns:a="http://schemas.openxmlformats.org/drawingml/2006/main">
              <a:ext uri="{FF2B5EF4-FFF2-40B4-BE49-F238E27FC236}">
                <a16:creationId xmlns:a16="http://schemas.microsoft.com/office/drawing/2014/main" id="{A145940C-FA78-44D2-A038-A9BE979FFB41}"/>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src/model/calculator.cpp:115,116</a:t>
            </a:r>
          </a:p>
        </p:txBody>
      </p:sp>
      <p:sp>
        <p:nvSpPr>
          <p:cNvPr id="6" name="">
            <a:extLst xmlns:a="http://schemas.openxmlformats.org/drawingml/2006/main">
              <a:ext uri="{FF2B5EF4-FFF2-40B4-BE49-F238E27FC236}">
                <a16:creationId xmlns:a16="http://schemas.microsoft.com/office/drawing/2014/main" id="{7AF93089-5F83-4938-AF4C-88D1E0EC3F2A}"/>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Гарантирует ли текущий save надежность при заполненном диске?</a:t>
            </a:r>
          </a:p>
        </p:txBody>
      </p:sp>
      <p:sp>
        <p:nvSpPr>
          <p:cNvPr id="7" name="">
            <a:extLst xmlns:a="http://schemas.openxmlformats.org/drawingml/2006/main">
              <a:ext uri="{FF2B5EF4-FFF2-40B4-BE49-F238E27FC236}">
                <a16:creationId xmlns:a16="http://schemas.microsoft.com/office/drawing/2014/main" id="{F5D12D23-E9BF-44EE-A0B5-1E373A678055}"/>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Нет, после записи не проверяются все состояния потока, а файл открывается с trunc.</a:t>
            </a:r>
          </a:p>
        </p:txBody>
      </p:sp>
      <p:sp>
        <p:nvSpPr>
          <p:cNvPr id="8" name="">
            <a:extLst xmlns:a="http://schemas.openxmlformats.org/drawingml/2006/main">
              <a:ext uri="{FF2B5EF4-FFF2-40B4-BE49-F238E27FC236}">
                <a16:creationId xmlns:a16="http://schemas.microsoft.com/office/drawing/2014/main" id="{3C736206-18A0-4450-B38A-5A31107A2B36}"/>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295  std::ofstream output(_storage_file.c_str(),</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std::ios::trunc);</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296  if (!output)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297  throw CalculatorError(</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"не удалось сохранить значения переменных");</a:t>
            </a:r>
          </a:p>
        </p:txBody>
      </p:sp>
      <p:sp>
        <p:nvSpPr>
          <p:cNvPr id="9" name="">
            <a:extLst xmlns:a="http://schemas.openxmlformats.org/drawingml/2006/main">
              <a:ext uri="{FF2B5EF4-FFF2-40B4-BE49-F238E27FC236}">
                <a16:creationId xmlns:a16="http://schemas.microsoft.com/office/drawing/2014/main" id="{4E630651-BE70-4A02-A68F-56EB54A0DE77}"/>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src/model/calculator.cpp:295,296,297</a:t>
            </a:r>
          </a:p>
        </p:txBody>
      </p:sp>
      <p:sp>
        <p:nvSpPr>
          <p:cNvPr id="10" name="">
            <a:extLst xmlns:a="http://schemas.openxmlformats.org/drawingml/2006/main">
              <a:ext uri="{FF2B5EF4-FFF2-40B4-BE49-F238E27FC236}">
                <a16:creationId xmlns:a16="http://schemas.microsoft.com/office/drawing/2014/main" id="{C89092EA-1346-48BA-BD7C-915FB7D8F663}"/>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Почему try/catch не ловит обычное знаковое переполнение автоматически?</a:t>
            </a:r>
          </a:p>
        </p:txBody>
      </p:sp>
      <p:sp>
        <p:nvSpPr>
          <p:cNvPr id="11" name="">
            <a:extLst xmlns:a="http://schemas.openxmlformats.org/drawingml/2006/main">
              <a:ext uri="{FF2B5EF4-FFF2-40B4-BE49-F238E27FC236}">
                <a16:creationId xmlns:a16="http://schemas.microsoft.com/office/drawing/2014/main" id="{58A40FFF-9281-43B8-9121-4BD624D04C83}"/>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Ошибки и ограничения</a:t>
            </a:r>
          </a:p>
        </p:txBody>
      </p:sp>
      <p:sp>
        <p:nvSpPr>
          <p:cNvPr id="12" name="">
            <a:extLst xmlns:a="http://schemas.openxmlformats.org/drawingml/2006/main">
              <a:ext uri="{FF2B5EF4-FFF2-40B4-BE49-F238E27FC236}">
                <a16:creationId xmlns:a16="http://schemas.microsoft.com/office/drawing/2014/main" id="{68B89D09-1FFE-4B4B-9281-2FA55B382A77}"/>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57 / 66</a:t>
            </a:r>
          </a:p>
        </p:txBody>
      </p:sp>
    </p:spTree>
    <p:extLst>
      <p:ext uri="{BB962C8B-B14F-4D97-AF65-F5344CB8AC3E}">
        <p14:creationId xmlns:p14="http://schemas.microsoft.com/office/powerpoint/2010/main" val="1054320069"/>
      </p:ext>
    </p:extLst>
  </p:cSld>
</p:sld>
</file>

<file path=ppt/slides/slide58.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2837C6C-7C7D-4538-93F6-64CFAB5CF02E}"/>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Медленный клиент и пределы ресурсов</a:t>
            </a:r>
          </a:p>
        </p:txBody>
      </p:sp>
      <p:sp>
        <p:nvSpPr>
          <p:cNvPr id="2" name="">
            <a:extLst xmlns:a="http://schemas.openxmlformats.org/drawingml/2006/main">
              <a:ext uri="{FF2B5EF4-FFF2-40B4-BE49-F238E27FC236}">
                <a16:creationId xmlns:a16="http://schemas.microsoft.com/office/drawing/2014/main" id="{9CCB0161-DDDF-4EBB-B70B-8F68F80C116D}"/>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Может ли выходной буфер расти при медленно читающем клиенте?</a:t>
            </a:r>
          </a:p>
        </p:txBody>
      </p:sp>
      <p:sp>
        <p:nvSpPr>
          <p:cNvPr id="3" name="">
            <a:extLst xmlns:a="http://schemas.openxmlformats.org/drawingml/2006/main">
              <a:ext uri="{FF2B5EF4-FFF2-40B4-BE49-F238E27FC236}">
                <a16:creationId xmlns:a16="http://schemas.microsoft.com/office/drawing/2014/main" id="{EEFF4B0B-B6E8-4F99-9451-BC4E76DA1028}"/>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Да, если клиент присылает команды быстрее, чем забирает ответы.</a:t>
            </a:r>
          </a:p>
        </p:txBody>
      </p:sp>
      <p:sp>
        <p:nvSpPr>
          <p:cNvPr id="4" name="">
            <a:extLst xmlns:a="http://schemas.openxmlformats.org/drawingml/2006/main">
              <a:ext uri="{FF2B5EF4-FFF2-40B4-BE49-F238E27FC236}">
                <a16:creationId xmlns:a16="http://schemas.microsoft.com/office/drawing/2014/main" id="{11441B8F-9962-4091-A858-90D1ED2DE7F5}"/>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260  client.output += protocol::response("OK", result)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a:t>
            </a:r>
          </a:p>
        </p:txBody>
      </p:sp>
      <p:sp>
        <p:nvSpPr>
          <p:cNvPr id="5" name="">
            <a:extLst xmlns:a="http://schemas.openxmlformats.org/drawingml/2006/main">
              <a:ext uri="{FF2B5EF4-FFF2-40B4-BE49-F238E27FC236}">
                <a16:creationId xmlns:a16="http://schemas.microsoft.com/office/drawing/2014/main" id="{EA281510-B851-4F8C-B80D-543D795F3C85}"/>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src/server/poll_server.cpp:260</a:t>
            </a:r>
          </a:p>
        </p:txBody>
      </p:sp>
      <p:sp>
        <p:nvSpPr>
          <p:cNvPr id="6" name="">
            <a:extLst xmlns:a="http://schemas.openxmlformats.org/drawingml/2006/main">
              <a:ext uri="{FF2B5EF4-FFF2-40B4-BE49-F238E27FC236}">
                <a16:creationId xmlns:a16="http://schemas.microsoft.com/office/drawing/2014/main" id="{275B1B76-F34A-4AD5-8C16-DFD367CBE5E1}"/>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означает требование обслуживать неограниченное число клиентов?</a:t>
            </a:r>
          </a:p>
        </p:txBody>
      </p:sp>
      <p:sp>
        <p:nvSpPr>
          <p:cNvPr id="7" name="">
            <a:extLst xmlns:a="http://schemas.openxmlformats.org/drawingml/2006/main">
              <a:ext uri="{FF2B5EF4-FFF2-40B4-BE49-F238E27FC236}">
                <a16:creationId xmlns:a16="http://schemas.microsoft.com/office/drawing/2014/main" id="{D4AD273C-5D33-4F0A-8DFB-190B28BEC1F6}"/>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В учебном условии нет малого фиксированного лимита, но реальные ресурсы ОС конечны.</a:t>
            </a:r>
          </a:p>
        </p:txBody>
      </p:sp>
      <p:sp>
        <p:nvSpPr>
          <p:cNvPr id="8" name="">
            <a:extLst xmlns:a="http://schemas.openxmlformats.org/drawingml/2006/main">
              <a:ext uri="{FF2B5EF4-FFF2-40B4-BE49-F238E27FC236}">
                <a16:creationId xmlns:a16="http://schemas.microsoft.com/office/drawing/2014/main" id="{D2FD18A5-FBF8-4F48-B476-E360D68AC1A8}"/>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277  for (const Client&amp; client : _clients)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278  pollfd item;</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279  item.fd = client.fd;</a:t>
            </a:r>
          </a:p>
        </p:txBody>
      </p:sp>
      <p:sp>
        <p:nvSpPr>
          <p:cNvPr id="9" name="">
            <a:extLst xmlns:a="http://schemas.openxmlformats.org/drawingml/2006/main">
              <a:ext uri="{FF2B5EF4-FFF2-40B4-BE49-F238E27FC236}">
                <a16:creationId xmlns:a16="http://schemas.microsoft.com/office/drawing/2014/main" id="{0DB7F755-E0C1-4BED-AA88-861E5FEB7FD8}"/>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src/server/poll_server.cpp:277,278,279</a:t>
            </a:r>
          </a:p>
        </p:txBody>
      </p:sp>
      <p:sp>
        <p:nvSpPr>
          <p:cNvPr id="10" name="">
            <a:extLst xmlns:a="http://schemas.openxmlformats.org/drawingml/2006/main">
              <a:ext uri="{FF2B5EF4-FFF2-40B4-BE49-F238E27FC236}">
                <a16:creationId xmlns:a16="http://schemas.microsoft.com/office/drawing/2014/main" id="{2EF3A9E3-C599-44AD-A7D0-4CE6D1D265AE}"/>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Когда стоит перестать читать новые команды клиента?</a:t>
            </a:r>
          </a:p>
        </p:txBody>
      </p:sp>
      <p:sp>
        <p:nvSpPr>
          <p:cNvPr id="11" name="">
            <a:extLst xmlns:a="http://schemas.openxmlformats.org/drawingml/2006/main">
              <a:ext uri="{FF2B5EF4-FFF2-40B4-BE49-F238E27FC236}">
                <a16:creationId xmlns:a16="http://schemas.microsoft.com/office/drawing/2014/main" id="{203F5299-C32E-4197-898B-8E41012FCBF3}"/>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Ошибки и ограничения</a:t>
            </a:r>
          </a:p>
        </p:txBody>
      </p:sp>
      <p:sp>
        <p:nvSpPr>
          <p:cNvPr id="12" name="">
            <a:extLst xmlns:a="http://schemas.openxmlformats.org/drawingml/2006/main">
              <a:ext uri="{FF2B5EF4-FFF2-40B4-BE49-F238E27FC236}">
                <a16:creationId xmlns:a16="http://schemas.microsoft.com/office/drawing/2014/main" id="{91C14681-C8F2-47A5-9B11-5F8EA909847C}"/>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58 / 66</a:t>
            </a:r>
          </a:p>
        </p:txBody>
      </p:sp>
    </p:spTree>
    <p:extLst>
      <p:ext uri="{BB962C8B-B14F-4D97-AF65-F5344CB8AC3E}">
        <p14:creationId xmlns:p14="http://schemas.microsoft.com/office/powerpoint/2010/main" val="897147548"/>
      </p:ext>
    </p:extLst>
  </p:cSld>
</p:sld>
</file>

<file path=ppt/slides/slide59.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CE6C73B-22BC-4344-8196-52E2A89FB623}"/>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Конфиденциальность и границы реализации</a:t>
            </a:r>
          </a:p>
        </p:txBody>
      </p:sp>
      <p:sp>
        <p:nvSpPr>
          <p:cNvPr id="2" name="">
            <a:extLst xmlns:a="http://schemas.openxmlformats.org/drawingml/2006/main">
              <a:ext uri="{FF2B5EF4-FFF2-40B4-BE49-F238E27FC236}">
                <a16:creationId xmlns:a16="http://schemas.microsoft.com/office/drawing/2014/main" id="{D6409D5A-E843-4329-BF05-547B0D2AD3D8}"/>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Есть ли шифрование данных в текущем приложении?</a:t>
            </a:r>
          </a:p>
        </p:txBody>
      </p:sp>
      <p:sp>
        <p:nvSpPr>
          <p:cNvPr id="3" name="">
            <a:extLst xmlns:a="http://schemas.openxmlformats.org/drawingml/2006/main">
              <a:ext uri="{FF2B5EF4-FFF2-40B4-BE49-F238E27FC236}">
                <a16:creationId xmlns:a16="http://schemas.microsoft.com/office/drawing/2014/main" id="{5EDCC3E2-AA9F-4700-AC65-DE00F2D49CAB}"/>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Нет, поверх обычного TCP передаются текстовые строки без TLS.</a:t>
            </a:r>
          </a:p>
        </p:txBody>
      </p:sp>
      <p:sp>
        <p:nvSpPr>
          <p:cNvPr id="4" name="">
            <a:extLst xmlns:a="http://schemas.openxmlformats.org/drawingml/2006/main">
              <a:ext uri="{FF2B5EF4-FFF2-40B4-BE49-F238E27FC236}">
                <a16:creationId xmlns:a16="http://schemas.microsoft.com/office/drawing/2014/main" id="{A20E1E52-88C7-476B-B016-D32AD25E02A3}"/>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56  _listen_fd = socket(AF_INET, SOCK_STREAM, 0);</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57  if (_listen_fd &lt; 0) {</a:t>
            </a:r>
          </a:p>
        </p:txBody>
      </p:sp>
      <p:sp>
        <p:nvSpPr>
          <p:cNvPr id="5" name="">
            <a:extLst xmlns:a="http://schemas.openxmlformats.org/drawingml/2006/main">
              <a:ext uri="{FF2B5EF4-FFF2-40B4-BE49-F238E27FC236}">
                <a16:creationId xmlns:a16="http://schemas.microsoft.com/office/drawing/2014/main" id="{CD224EEF-E0CB-4CBB-B051-E13BD13AD8DB}"/>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src/server/poll_server.cpp:56,57</a:t>
            </a:r>
          </a:p>
        </p:txBody>
      </p:sp>
      <p:sp>
        <p:nvSpPr>
          <p:cNvPr id="6" name="">
            <a:extLst xmlns:a="http://schemas.openxmlformats.org/drawingml/2006/main">
              <a:ext uri="{FF2B5EF4-FFF2-40B4-BE49-F238E27FC236}">
                <a16:creationId xmlns:a16="http://schemas.microsoft.com/office/drawing/2014/main" id="{32892A4C-A929-481B-B945-6E3E613ACA2E}"/>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Как честно описать обнаруженный дефект на защите?</a:t>
            </a:r>
          </a:p>
        </p:txBody>
      </p:sp>
      <p:sp>
        <p:nvSpPr>
          <p:cNvPr id="7" name="">
            <a:extLst xmlns:a="http://schemas.openxmlformats.org/drawingml/2006/main">
              <a:ext uri="{FF2B5EF4-FFF2-40B4-BE49-F238E27FC236}">
                <a16:creationId xmlns:a16="http://schemas.microsoft.com/office/drawing/2014/main" id="{6BD9F9CC-BD7B-4435-92D7-7A7E2E83438D}"/>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Назвать условие, проблемную строку, последствия и способ исправления, не приписывая коду уже выполненную правку.</a:t>
            </a:r>
          </a:p>
        </p:txBody>
      </p:sp>
      <p:sp>
        <p:nvSpPr>
          <p:cNvPr id="8" name="">
            <a:extLst xmlns:a="http://schemas.openxmlformats.org/drawingml/2006/main">
              <a:ext uri="{FF2B5EF4-FFF2-40B4-BE49-F238E27FC236}">
                <a16:creationId xmlns:a16="http://schemas.microsoft.com/office/drawing/2014/main" id="{F96FC84C-BC21-4EA9-A419-BAE112BBC1B5}"/>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98  short events = _poll_fds[index + 1u].revents;</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99  if (events &amp; (POLLERR | POLLHUP | POLLNVAL))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100  close_client(index);</a:t>
            </a:r>
          </a:p>
        </p:txBody>
      </p:sp>
      <p:sp>
        <p:nvSpPr>
          <p:cNvPr id="9" name="">
            <a:extLst xmlns:a="http://schemas.openxmlformats.org/drawingml/2006/main">
              <a:ext uri="{FF2B5EF4-FFF2-40B4-BE49-F238E27FC236}">
                <a16:creationId xmlns:a16="http://schemas.microsoft.com/office/drawing/2014/main" id="{76B2878D-B54A-4F16-AD7A-F8D826F8BE12}"/>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src/server/poll_server.cpp:98,99,100</a:t>
            </a:r>
          </a:p>
        </p:txBody>
      </p:sp>
      <p:sp>
        <p:nvSpPr>
          <p:cNvPr id="10" name="">
            <a:extLst xmlns:a="http://schemas.openxmlformats.org/drawingml/2006/main">
              <a:ext uri="{FF2B5EF4-FFF2-40B4-BE49-F238E27FC236}">
                <a16:creationId xmlns:a16="http://schemas.microsoft.com/office/drawing/2014/main" id="{602618DC-532A-43E5-A5A4-3AE6250E0529}"/>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Почему надежность доставки и конфиденциальность - разные свойства?</a:t>
            </a:r>
          </a:p>
        </p:txBody>
      </p:sp>
      <p:sp>
        <p:nvSpPr>
          <p:cNvPr id="11" name="">
            <a:extLst xmlns:a="http://schemas.openxmlformats.org/drawingml/2006/main">
              <a:ext uri="{FF2B5EF4-FFF2-40B4-BE49-F238E27FC236}">
                <a16:creationId xmlns:a16="http://schemas.microsoft.com/office/drawing/2014/main" id="{7B234AFB-9419-4696-9340-8E4F5E1A1CED}"/>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Ошибки и ограничения</a:t>
            </a:r>
          </a:p>
        </p:txBody>
      </p:sp>
      <p:sp>
        <p:nvSpPr>
          <p:cNvPr id="12" name="">
            <a:extLst xmlns:a="http://schemas.openxmlformats.org/drawingml/2006/main">
              <a:ext uri="{FF2B5EF4-FFF2-40B4-BE49-F238E27FC236}">
                <a16:creationId xmlns:a16="http://schemas.microsoft.com/office/drawing/2014/main" id="{44DB1F38-C06F-455A-941A-2C80B96267A4}"/>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59 / 66</a:t>
            </a:r>
          </a:p>
        </p:txBody>
      </p:sp>
    </p:spTree>
    <p:extLst>
      <p:ext uri="{BB962C8B-B14F-4D97-AF65-F5344CB8AC3E}">
        <p14:creationId xmlns:p14="http://schemas.microsoft.com/office/powerpoint/2010/main" val="4262167"/>
      </p:ext>
    </p:extLst>
  </p:cSld>
</p:sld>
</file>

<file path=ppt/slides/slide60.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E017EC2-9FBC-4635-BA4E-ED0E33D29B2F}"/>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Сценарий демонстрации и диагностика</a:t>
            </a:r>
          </a:p>
        </p:txBody>
      </p:sp>
      <p:sp>
        <p:nvSpPr>
          <p:cNvPr id="2" name="">
            <a:extLst xmlns:a="http://schemas.openxmlformats.org/drawingml/2006/main">
              <a:ext uri="{FF2B5EF4-FFF2-40B4-BE49-F238E27FC236}">
                <a16:creationId xmlns:a16="http://schemas.microsoft.com/office/drawing/2014/main" id="{5FECCB90-9EEF-4DF5-B9F5-A9EA8799709F}"/>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Какая последовательность демонстрации наиболее показательна?</a:t>
            </a:r>
          </a:p>
        </p:txBody>
      </p:sp>
      <p:sp>
        <p:nvSpPr>
          <p:cNvPr id="3" name="">
            <a:extLst xmlns:a="http://schemas.openxmlformats.org/drawingml/2006/main">
              <a:ext uri="{FF2B5EF4-FFF2-40B4-BE49-F238E27FC236}">
                <a16:creationId xmlns:a16="http://schemas.microsoft.com/office/drawing/2014/main" id="{0E0B579F-047E-4937-AE26-A6731FFD3150}"/>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Запуск сервера, подключение клиента, присваивание, расчет, ошибка, повторный вход и проверка сохранения.</a:t>
            </a:r>
          </a:p>
        </p:txBody>
      </p:sp>
      <p:sp>
        <p:nvSpPr>
          <p:cNvPr id="4" name="">
            <a:extLst xmlns:a="http://schemas.openxmlformats.org/drawingml/2006/main">
              <a:ext uri="{FF2B5EF4-FFF2-40B4-BE49-F238E27FC236}">
                <a16:creationId xmlns:a16="http://schemas.microsoft.com/office/drawing/2014/main" id="{108C5E36-CB23-4776-960F-F6C89448552E}"/>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25  PollServer server(port, storage);</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26  std::cout &lt;&lt; "&gt; TCP port: " &lt;&lt; port &lt;&lt; std::endl;</a:t>
            </a:r>
          </a:p>
        </p:txBody>
      </p:sp>
      <p:sp>
        <p:nvSpPr>
          <p:cNvPr id="5" name="">
            <a:extLst xmlns:a="http://schemas.openxmlformats.org/drawingml/2006/main">
              <a:ext uri="{FF2B5EF4-FFF2-40B4-BE49-F238E27FC236}">
                <a16:creationId xmlns:a16="http://schemas.microsoft.com/office/drawing/2014/main" id="{6F1C11BE-5693-42AD-9DA0-B7FF4481CE8A}"/>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src/server_main.cpp:25,26</a:t>
            </a:r>
          </a:p>
        </p:txBody>
      </p:sp>
      <p:sp>
        <p:nvSpPr>
          <p:cNvPr id="6" name="">
            <a:extLst xmlns:a="http://schemas.openxmlformats.org/drawingml/2006/main">
              <a:ext uri="{FF2B5EF4-FFF2-40B4-BE49-F238E27FC236}">
                <a16:creationId xmlns:a16="http://schemas.microsoft.com/office/drawing/2014/main" id="{CCF87993-7DDF-437C-B2D6-1B471BDEB4CE}"/>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Достаточно ли ping, чтобы доказать работу TCP-порта 4040?</a:t>
            </a:r>
          </a:p>
        </p:txBody>
      </p:sp>
      <p:sp>
        <p:nvSpPr>
          <p:cNvPr id="7" name="">
            <a:extLst xmlns:a="http://schemas.openxmlformats.org/drawingml/2006/main">
              <a:ext uri="{FF2B5EF4-FFF2-40B4-BE49-F238E27FC236}">
                <a16:creationId xmlns:a16="http://schemas.microsoft.com/office/drawing/2014/main" id="{B7E0AAF1-7862-45BA-8621-6292AA120789}"/>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Нет, отдельно нужно проверить подключение к порту или запустить клиент.</a:t>
            </a:r>
          </a:p>
        </p:txBody>
      </p:sp>
      <p:sp>
        <p:nvSpPr>
          <p:cNvPr id="8" name="">
            <a:extLst xmlns:a="http://schemas.openxmlformats.org/drawingml/2006/main">
              <a:ext uri="{FF2B5EF4-FFF2-40B4-BE49-F238E27FC236}">
                <a16:creationId xmlns:a16="http://schemas.microsoft.com/office/drawing/2014/main" id="{57A0EA6D-65DC-422D-8D17-7C64F94A4986}"/>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63  if (connect(_socket, item-&gt;ai_addr, item-&gt;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ai_addrlen) == 0)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64  break;</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65  }</a:t>
            </a:r>
          </a:p>
        </p:txBody>
      </p:sp>
      <p:sp>
        <p:nvSpPr>
          <p:cNvPr id="9" name="">
            <a:extLst xmlns:a="http://schemas.openxmlformats.org/drawingml/2006/main">
              <a:ext uri="{FF2B5EF4-FFF2-40B4-BE49-F238E27FC236}">
                <a16:creationId xmlns:a16="http://schemas.microsoft.com/office/drawing/2014/main" id="{EFEF8C54-70C8-4207-85D1-8569E8859EE9}"/>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src/client/console_client.cpp:63,64,65</a:t>
            </a:r>
          </a:p>
        </p:txBody>
      </p:sp>
      <p:sp>
        <p:nvSpPr>
          <p:cNvPr id="10" name="">
            <a:extLst xmlns:a="http://schemas.openxmlformats.org/drawingml/2006/main">
              <a:ext uri="{FF2B5EF4-FFF2-40B4-BE49-F238E27FC236}">
                <a16:creationId xmlns:a16="http://schemas.microsoft.com/office/drawing/2014/main" id="{AFE8F66D-096F-4212-B278-E86C498BFF00}"/>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Какие ожидаемые ответы должны быть у команд демонстрации?</a:t>
            </a:r>
          </a:p>
        </p:txBody>
      </p:sp>
      <p:sp>
        <p:nvSpPr>
          <p:cNvPr id="11" name="">
            <a:extLst xmlns:a="http://schemas.openxmlformats.org/drawingml/2006/main">
              <a:ext uri="{FF2B5EF4-FFF2-40B4-BE49-F238E27FC236}">
                <a16:creationId xmlns:a16="http://schemas.microsoft.com/office/drawing/2014/main" id="{86A8B457-FCED-4D4A-B2F5-CBC372FEB136}"/>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Практическая защита</a:t>
            </a:r>
          </a:p>
        </p:txBody>
      </p:sp>
      <p:sp>
        <p:nvSpPr>
          <p:cNvPr id="12" name="">
            <a:extLst xmlns:a="http://schemas.openxmlformats.org/drawingml/2006/main">
              <a:ext uri="{FF2B5EF4-FFF2-40B4-BE49-F238E27FC236}">
                <a16:creationId xmlns:a16="http://schemas.microsoft.com/office/drawing/2014/main" id="{E2756802-74F0-4117-93F1-02F2D63A70F5}"/>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60 / 66</a:t>
            </a:r>
          </a:p>
        </p:txBody>
      </p:sp>
    </p:spTree>
    <p:extLst>
      <p:ext uri="{BB962C8B-B14F-4D97-AF65-F5344CB8AC3E}">
        <p14:creationId xmlns:p14="http://schemas.microsoft.com/office/powerpoint/2010/main" val="515651926"/>
      </p:ext>
    </p:extLst>
  </p:cSld>
</p:sld>
</file>

<file path=ppt/slides/slide61.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1059B5F-030F-48FC-8F97-9D05904B5F9D}"/>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Две машины и два пользователя</a:t>
            </a:r>
          </a:p>
        </p:txBody>
      </p:sp>
      <p:sp>
        <p:nvSpPr>
          <p:cNvPr id="2" name="">
            <a:extLst xmlns:a="http://schemas.openxmlformats.org/drawingml/2006/main">
              <a:ext uri="{FF2B5EF4-FFF2-40B4-BE49-F238E27FC236}">
                <a16:creationId xmlns:a16="http://schemas.microsoft.com/office/drawing/2014/main" id="{62F1A3A5-CFB2-4CEE-8221-C91170521637}"/>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Почему клиент с другого компьютера должен использовать IP сервера?</a:t>
            </a:r>
          </a:p>
        </p:txBody>
      </p:sp>
      <p:sp>
        <p:nvSpPr>
          <p:cNvPr id="3" name="">
            <a:extLst xmlns:a="http://schemas.openxmlformats.org/drawingml/2006/main">
              <a:ext uri="{FF2B5EF4-FFF2-40B4-BE49-F238E27FC236}">
                <a16:creationId xmlns:a16="http://schemas.microsoft.com/office/drawing/2014/main" id="{EDFC1FEE-1A32-466D-B289-922976C447E2}"/>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Потому что loopback клиента указывает на сам клиентский компьютер.</a:t>
            </a:r>
          </a:p>
        </p:txBody>
      </p:sp>
      <p:sp>
        <p:nvSpPr>
          <p:cNvPr id="4" name="">
            <a:extLst xmlns:a="http://schemas.openxmlformats.org/drawingml/2006/main">
              <a:ext uri="{FF2B5EF4-FFF2-40B4-BE49-F238E27FC236}">
                <a16:creationId xmlns:a16="http://schemas.microsoft.com/office/drawing/2014/main" id="{8D4CE051-35E2-4679-B5E5-C98EDCFF78AD}"/>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53  int code = getaddrinfo(host.c_str(), port.c_str(),</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&amp;hints, &amp;result);</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54  if (code != 0) {</a:t>
            </a:r>
          </a:p>
        </p:txBody>
      </p:sp>
      <p:sp>
        <p:nvSpPr>
          <p:cNvPr id="5" name="">
            <a:extLst xmlns:a="http://schemas.openxmlformats.org/drawingml/2006/main">
              <a:ext uri="{FF2B5EF4-FFF2-40B4-BE49-F238E27FC236}">
                <a16:creationId xmlns:a16="http://schemas.microsoft.com/office/drawing/2014/main" id="{B87E8E3C-6CED-48D0-B20A-5A41BEB9AEB8}"/>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src/client/console_client.cpp:53,54</a:t>
            </a:r>
          </a:p>
        </p:txBody>
      </p:sp>
      <p:sp>
        <p:nvSpPr>
          <p:cNvPr id="6" name="">
            <a:extLst xmlns:a="http://schemas.openxmlformats.org/drawingml/2006/main">
              <a:ext uri="{FF2B5EF4-FFF2-40B4-BE49-F238E27FC236}">
                <a16:creationId xmlns:a16="http://schemas.microsoft.com/office/drawing/2014/main" id="{35EF9D49-F0C6-4151-BFFC-DD46B65C9720}"/>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Как показать независимость разных пользователей?</a:t>
            </a:r>
          </a:p>
        </p:txBody>
      </p:sp>
      <p:sp>
        <p:nvSpPr>
          <p:cNvPr id="7" name="">
            <a:extLst xmlns:a="http://schemas.openxmlformats.org/drawingml/2006/main">
              <a:ext uri="{FF2B5EF4-FFF2-40B4-BE49-F238E27FC236}">
                <a16:creationId xmlns:a16="http://schemas.microsoft.com/office/drawing/2014/main" id="{B8C24571-CA79-47FD-AD30-FBAAB34E46B4}"/>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Подключить два имени, изменить X у одного и прочитать X у другого.</a:t>
            </a:r>
          </a:p>
        </p:txBody>
      </p:sp>
      <p:sp>
        <p:nvSpPr>
          <p:cNvPr id="8" name="">
            <a:extLst xmlns:a="http://schemas.openxmlformats.org/drawingml/2006/main">
              <a:ext uri="{FF2B5EF4-FFF2-40B4-BE49-F238E27FC236}">
                <a16:creationId xmlns:a16="http://schemas.microsoft.com/office/drawing/2014/main" id="{AC37D9BC-EB49-4BBD-A30E-74D16DE6581A}"/>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220  return _vars[user];</a:t>
            </a:r>
          </a:p>
        </p:txBody>
      </p:sp>
      <p:sp>
        <p:nvSpPr>
          <p:cNvPr id="9" name="">
            <a:extLst xmlns:a="http://schemas.openxmlformats.org/drawingml/2006/main">
              <a:ext uri="{FF2B5EF4-FFF2-40B4-BE49-F238E27FC236}">
                <a16:creationId xmlns:a16="http://schemas.microsoft.com/office/drawing/2014/main" id="{CDA7AFDD-2D38-49AE-A02E-5CF4C7B55220}"/>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src/model/calculator.cpp:220</a:t>
            </a:r>
          </a:p>
        </p:txBody>
      </p:sp>
      <p:sp>
        <p:nvSpPr>
          <p:cNvPr id="10" name="">
            <a:extLst xmlns:a="http://schemas.openxmlformats.org/drawingml/2006/main">
              <a:ext uri="{FF2B5EF4-FFF2-40B4-BE49-F238E27FC236}">
                <a16:creationId xmlns:a16="http://schemas.microsoft.com/office/drawing/2014/main" id="{7F8E5231-A3E0-4BAC-BF21-136CFA522C2C}"/>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Покажи пример команд запуска с условными адресами.</a:t>
            </a:r>
          </a:p>
        </p:txBody>
      </p:sp>
      <p:sp>
        <p:nvSpPr>
          <p:cNvPr id="11" name="">
            <a:extLst xmlns:a="http://schemas.openxmlformats.org/drawingml/2006/main">
              <a:ext uri="{FF2B5EF4-FFF2-40B4-BE49-F238E27FC236}">
                <a16:creationId xmlns:a16="http://schemas.microsoft.com/office/drawing/2014/main" id="{345098DF-DDEA-4BA0-A388-9614FC7B8565}"/>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Практическая защита</a:t>
            </a:r>
          </a:p>
        </p:txBody>
      </p:sp>
      <p:sp>
        <p:nvSpPr>
          <p:cNvPr id="12" name="">
            <a:extLst xmlns:a="http://schemas.openxmlformats.org/drawingml/2006/main">
              <a:ext uri="{FF2B5EF4-FFF2-40B4-BE49-F238E27FC236}">
                <a16:creationId xmlns:a16="http://schemas.microsoft.com/office/drawing/2014/main" id="{70CD2127-B764-4296-A0D7-7ED17D50DD85}"/>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61 / 66</a:t>
            </a:r>
          </a:p>
        </p:txBody>
      </p:sp>
    </p:spTree>
    <p:extLst>
      <p:ext uri="{BB962C8B-B14F-4D97-AF65-F5344CB8AC3E}">
        <p14:creationId xmlns:p14="http://schemas.microsoft.com/office/powerpoint/2010/main" val="1104246205"/>
      </p:ext>
    </p:extLst>
  </p:cSld>
</p:sld>
</file>

<file path=ppt/slides/slide62.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1076F74-3D30-447A-BDCC-009536C218FE}"/>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Потоки процесса и аргументы recv</a:t>
            </a:r>
          </a:p>
        </p:txBody>
      </p:sp>
      <p:sp>
        <p:nvSpPr>
          <p:cNvPr id="2" name="">
            <a:extLst xmlns:a="http://schemas.openxmlformats.org/drawingml/2006/main">
              <a:ext uri="{FF2B5EF4-FFF2-40B4-BE49-F238E27FC236}">
                <a16:creationId xmlns:a16="http://schemas.microsoft.com/office/drawing/2014/main" id="{184A01EB-DEF5-4A5B-B5C8-2DD47DDD727E}"/>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Как убедиться, что сервер действительно однопоточный?</a:t>
            </a:r>
          </a:p>
        </p:txBody>
      </p:sp>
      <p:sp>
        <p:nvSpPr>
          <p:cNvPr id="3" name="">
            <a:extLst xmlns:a="http://schemas.openxmlformats.org/drawingml/2006/main">
              <a:ext uri="{FF2B5EF4-FFF2-40B4-BE49-F238E27FC236}">
                <a16:creationId xmlns:a16="http://schemas.microsoft.com/office/drawing/2014/main" id="{8BBC57BF-B000-405E-852C-9E62E7B1686D}"/>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Посмотреть код создания исполнителей и список потоков работающего процесса.</a:t>
            </a:r>
          </a:p>
        </p:txBody>
      </p:sp>
      <p:sp>
        <p:nvSpPr>
          <p:cNvPr id="4" name="">
            <a:extLst xmlns:a="http://schemas.openxmlformats.org/drawingml/2006/main">
              <a:ext uri="{FF2B5EF4-FFF2-40B4-BE49-F238E27FC236}">
                <a16:creationId xmlns:a16="http://schemas.microsoft.com/office/drawing/2014/main" id="{E10E10BB-1B8E-45EE-92BA-024F4E5C577D}"/>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84  int ready = poll(_poll_fds.data(), _poll_fds.size(</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 -1);</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85  if (ready &lt; 0) {</a:t>
            </a:r>
          </a:p>
        </p:txBody>
      </p:sp>
      <p:sp>
        <p:nvSpPr>
          <p:cNvPr id="5" name="">
            <a:extLst xmlns:a="http://schemas.openxmlformats.org/drawingml/2006/main">
              <a:ext uri="{FF2B5EF4-FFF2-40B4-BE49-F238E27FC236}">
                <a16:creationId xmlns:a16="http://schemas.microsoft.com/office/drawing/2014/main" id="{82098A4C-DDD9-464E-A159-4821E7FC81B9}"/>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src/server/poll_server.cpp:84,85</a:t>
            </a:r>
          </a:p>
        </p:txBody>
      </p:sp>
      <p:sp>
        <p:nvSpPr>
          <p:cNvPr id="6" name="">
            <a:extLst xmlns:a="http://schemas.openxmlformats.org/drawingml/2006/main">
              <a:ext uri="{FF2B5EF4-FFF2-40B4-BE49-F238E27FC236}">
                <a16:creationId xmlns:a16="http://schemas.microsoft.com/office/drawing/2014/main" id="{94C96869-2E00-42EE-951E-EB7B416F7672}"/>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ответить на вопрос «почему char*, а не int* для recv»?</a:t>
            </a:r>
          </a:p>
        </p:txBody>
      </p:sp>
      <p:sp>
        <p:nvSpPr>
          <p:cNvPr id="7" name="">
            <a:extLst xmlns:a="http://schemas.openxmlformats.org/drawingml/2006/main">
              <a:ext uri="{FF2B5EF4-FFF2-40B4-BE49-F238E27FC236}">
                <a16:creationId xmlns:a16="http://schemas.microsoft.com/office/drawing/2014/main" id="{997B18B4-DFCB-4C05-81EC-2FC229469242}"/>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Принимается последовательность байтов; char-буфер удобен, а фактический API допускает void*.</a:t>
            </a:r>
          </a:p>
        </p:txBody>
      </p:sp>
      <p:sp>
        <p:nvSpPr>
          <p:cNvPr id="8" name="">
            <a:extLst xmlns:a="http://schemas.openxmlformats.org/drawingml/2006/main">
              <a:ext uri="{FF2B5EF4-FFF2-40B4-BE49-F238E27FC236}">
                <a16:creationId xmlns:a16="http://schemas.microsoft.com/office/drawing/2014/main" id="{EA7FFEFD-0BF8-45E9-A2AB-1170313B7F7F}"/>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138  char buffer[4096];</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139  while (true) {</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140  ssize_t count = recv(client.fd, buffer, sizeof(</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buffer), 0);</a:t>
            </a:r>
          </a:p>
        </p:txBody>
      </p:sp>
      <p:sp>
        <p:nvSpPr>
          <p:cNvPr id="9" name="">
            <a:extLst xmlns:a="http://schemas.openxmlformats.org/drawingml/2006/main">
              <a:ext uri="{FF2B5EF4-FFF2-40B4-BE49-F238E27FC236}">
                <a16:creationId xmlns:a16="http://schemas.microsoft.com/office/drawing/2014/main" id="{1D928837-4B75-438C-B987-1749AEEEF8F4}"/>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src/server/poll_server.cpp:138,139,140</a:t>
            </a:r>
          </a:p>
        </p:txBody>
      </p:sp>
      <p:sp>
        <p:nvSpPr>
          <p:cNvPr id="10" name="">
            <a:extLst xmlns:a="http://schemas.openxmlformats.org/drawingml/2006/main">
              <a:ext uri="{FF2B5EF4-FFF2-40B4-BE49-F238E27FC236}">
                <a16:creationId xmlns:a16="http://schemas.microsoft.com/office/drawing/2014/main" id="{21FCD678-F62B-468A-895F-E70E35CC7D05}"/>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Почему несколько клиентских процессов не нарушают условие об одном серверном потоке?</a:t>
            </a:r>
          </a:p>
        </p:txBody>
      </p:sp>
      <p:sp>
        <p:nvSpPr>
          <p:cNvPr id="11" name="">
            <a:extLst xmlns:a="http://schemas.openxmlformats.org/drawingml/2006/main">
              <a:ext uri="{FF2B5EF4-FFF2-40B4-BE49-F238E27FC236}">
                <a16:creationId xmlns:a16="http://schemas.microsoft.com/office/drawing/2014/main" id="{A098AF7F-218D-455E-A5D7-F9474FA3FE48}"/>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Практическая защита</a:t>
            </a:r>
          </a:p>
        </p:txBody>
      </p:sp>
      <p:sp>
        <p:nvSpPr>
          <p:cNvPr id="12" name="">
            <a:extLst xmlns:a="http://schemas.openxmlformats.org/drawingml/2006/main">
              <a:ext uri="{FF2B5EF4-FFF2-40B4-BE49-F238E27FC236}">
                <a16:creationId xmlns:a16="http://schemas.microsoft.com/office/drawing/2014/main" id="{5CA72C1F-3E6E-4B31-9249-F53CAC4C153F}"/>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62 / 66</a:t>
            </a:r>
          </a:p>
        </p:txBody>
      </p:sp>
    </p:spTree>
    <p:extLst>
      <p:ext uri="{BB962C8B-B14F-4D97-AF65-F5344CB8AC3E}">
        <p14:creationId xmlns:p14="http://schemas.microsoft.com/office/powerpoint/2010/main" val="855194842"/>
      </p:ext>
    </p:extLst>
  </p:cSld>
</p:sld>
</file>

<file path=ppt/slides/slide63.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CF7A81E-953D-4BC7-BEF7-E1E0244E1096}"/>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Обоснование seq и готовность чтения</a:t>
            </a:r>
          </a:p>
        </p:txBody>
      </p:sp>
      <p:sp>
        <p:nvSpPr>
          <p:cNvPr id="2" name="">
            <a:extLst xmlns:a="http://schemas.openxmlformats.org/drawingml/2006/main">
              <a:ext uri="{FF2B5EF4-FFF2-40B4-BE49-F238E27FC236}">
                <a16:creationId xmlns:a16="http://schemas.microsoft.com/office/drawing/2014/main" id="{A91A5781-5256-40B1-B73C-6ECB32ACF1C2}"/>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Каким ответом лучше объяснить отсутствие seq?</a:t>
            </a:r>
          </a:p>
        </p:txBody>
      </p:sp>
      <p:sp>
        <p:nvSpPr>
          <p:cNvPr id="3" name="">
            <a:extLst xmlns:a="http://schemas.openxmlformats.org/drawingml/2006/main">
              <a:ext uri="{FF2B5EF4-FFF2-40B4-BE49-F238E27FC236}">
                <a16:creationId xmlns:a16="http://schemas.microsoft.com/office/drawing/2014/main" id="{84C5D178-BD26-4DCF-8326-8035DB349F00}"/>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Один незавершенный запрос плюс последовательный ответ позволяют обойтись без прикладного ID в этой версии.</a:t>
            </a:r>
          </a:p>
        </p:txBody>
      </p:sp>
      <p:sp>
        <p:nvSpPr>
          <p:cNvPr id="4" name="">
            <a:extLst xmlns:a="http://schemas.openxmlformats.org/drawingml/2006/main">
              <a:ext uri="{FF2B5EF4-FFF2-40B4-BE49-F238E27FC236}">
                <a16:creationId xmlns:a16="http://schemas.microsoft.com/office/drawing/2014/main" id="{812101F7-685B-4ED4-8469-7FB5BC5BB954}"/>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115  send_line(line);</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116  return receive_line();</a:t>
            </a:r>
          </a:p>
        </p:txBody>
      </p:sp>
      <p:sp>
        <p:nvSpPr>
          <p:cNvPr id="5" name="">
            <a:extLst xmlns:a="http://schemas.openxmlformats.org/drawingml/2006/main">
              <a:ext uri="{FF2B5EF4-FFF2-40B4-BE49-F238E27FC236}">
                <a16:creationId xmlns:a16="http://schemas.microsoft.com/office/drawing/2014/main" id="{1B492D0D-7863-4E92-AD47-52DFB1052F4B}"/>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src/client/console_client.cpp:115,116</a:t>
            </a:r>
          </a:p>
        </p:txBody>
      </p:sp>
      <p:sp>
        <p:nvSpPr>
          <p:cNvPr id="6" name="">
            <a:extLst xmlns:a="http://schemas.openxmlformats.org/drawingml/2006/main">
              <a:ext uri="{FF2B5EF4-FFF2-40B4-BE49-F238E27FC236}">
                <a16:creationId xmlns:a16="http://schemas.microsoft.com/office/drawing/2014/main" id="{B5DCF1A8-302E-42F1-AD5B-F23230D53867}"/>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Что означает «готовность к чтению» в терминах poll?</a:t>
            </a:r>
          </a:p>
        </p:txBody>
      </p:sp>
      <p:sp>
        <p:nvSpPr>
          <p:cNvPr id="7" name="">
            <a:extLst xmlns:a="http://schemas.openxmlformats.org/drawingml/2006/main">
              <a:ext uri="{FF2B5EF4-FFF2-40B4-BE49-F238E27FC236}">
                <a16:creationId xmlns:a16="http://schemas.microsoft.com/office/drawing/2014/main" id="{D7026BD7-55C3-45CC-803C-F06FF18D1C25}"/>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Операция может продвинуться без обычного ожидания, в том числе вернуть данные или EOF.</a:t>
            </a:r>
          </a:p>
        </p:txBody>
      </p:sp>
      <p:sp>
        <p:nvSpPr>
          <p:cNvPr id="8" name="">
            <a:extLst xmlns:a="http://schemas.openxmlformats.org/drawingml/2006/main">
              <a:ext uri="{FF2B5EF4-FFF2-40B4-BE49-F238E27FC236}">
                <a16:creationId xmlns:a16="http://schemas.microsoft.com/office/drawing/2014/main" id="{B3D01FD0-D5B1-4C22-A8EE-23004C01ECF2}"/>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140  ssize_t count = recv(client.fd, buffer, sizeof(</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     buffer), 0);</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141  if (count &gt; 0) {</a:t>
            </a:r>
          </a:p>
        </p:txBody>
      </p:sp>
      <p:sp>
        <p:nvSpPr>
          <p:cNvPr id="9" name="">
            <a:extLst xmlns:a="http://schemas.openxmlformats.org/drawingml/2006/main">
              <a:ext uri="{FF2B5EF4-FFF2-40B4-BE49-F238E27FC236}">
                <a16:creationId xmlns:a16="http://schemas.microsoft.com/office/drawing/2014/main" id="{5BF19F06-3476-4EF3-802C-7B3A23C96C73}"/>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src/server/poll_server.cpp:140,141</a:t>
            </a:r>
          </a:p>
        </p:txBody>
      </p:sp>
      <p:sp>
        <p:nvSpPr>
          <p:cNvPr id="10" name="">
            <a:extLst xmlns:a="http://schemas.openxmlformats.org/drawingml/2006/main">
              <a:ext uri="{FF2B5EF4-FFF2-40B4-BE49-F238E27FC236}">
                <a16:creationId xmlns:a16="http://schemas.microsoft.com/office/drawing/2014/main" id="{E310328F-67B3-4D5B-B184-48939C440EF7}"/>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Как изменится ответ при добавлении нескольких одновременно ожидающих команд?</a:t>
            </a:r>
          </a:p>
        </p:txBody>
      </p:sp>
      <p:sp>
        <p:nvSpPr>
          <p:cNvPr id="11" name="">
            <a:extLst xmlns:a="http://schemas.openxmlformats.org/drawingml/2006/main">
              <a:ext uri="{FF2B5EF4-FFF2-40B4-BE49-F238E27FC236}">
                <a16:creationId xmlns:a16="http://schemas.microsoft.com/office/drawing/2014/main" id="{8CCD43F5-E1B3-4467-B238-0E42AB8E71A4}"/>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Практическая защита</a:t>
            </a:r>
          </a:p>
        </p:txBody>
      </p:sp>
      <p:sp>
        <p:nvSpPr>
          <p:cNvPr id="12" name="">
            <a:extLst xmlns:a="http://schemas.openxmlformats.org/drawingml/2006/main">
              <a:ext uri="{FF2B5EF4-FFF2-40B4-BE49-F238E27FC236}">
                <a16:creationId xmlns:a16="http://schemas.microsoft.com/office/drawing/2014/main" id="{7B22A812-CA6E-4BFE-8BB1-69249FC700D4}"/>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63 / 66</a:t>
            </a:r>
          </a:p>
        </p:txBody>
      </p:sp>
    </p:spTree>
    <p:extLst>
      <p:ext uri="{BB962C8B-B14F-4D97-AF65-F5344CB8AC3E}">
        <p14:creationId xmlns:p14="http://schemas.microsoft.com/office/powerpoint/2010/main" val="1998830855"/>
      </p:ext>
    </p:extLst>
  </p:cSld>
</p:sld>
</file>

<file path=ppt/slides/slide64.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00585A4-4E41-4BA0-8DCC-F7BE125C7E1E}"/>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Устное объяснение всей программы</a:t>
            </a:r>
          </a:p>
        </p:txBody>
      </p:sp>
      <p:sp>
        <p:nvSpPr>
          <p:cNvPr id="2" name="">
            <a:extLst xmlns:a="http://schemas.openxmlformats.org/drawingml/2006/main">
              <a:ext uri="{FF2B5EF4-FFF2-40B4-BE49-F238E27FC236}">
                <a16:creationId xmlns:a16="http://schemas.microsoft.com/office/drawing/2014/main" id="{A7BB4108-0B16-429B-836C-565E1810DA99}"/>
              </a:ext>
            </a:extLst>
          </p:cNvPr>
          <p:cNvSpPr>
            <a:spLocks xmlns:a="http://schemas.openxmlformats.org/drawingml/2006/main" noGrp="1"/>
          </p:cNvSpPr>
          <p:nvPr/>
        </p:nvSpPr>
        <p:spPr>
          <a:xfrm xmlns:a="http://schemas.openxmlformats.org/drawingml/2006/main">
            <a:off x="609600" y="15811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Как различить программу, процесс и поток на примере работы?</a:t>
            </a:r>
          </a:p>
        </p:txBody>
      </p:sp>
      <p:sp>
        <p:nvSpPr>
          <p:cNvPr id="3" name="">
            <a:extLst xmlns:a="http://schemas.openxmlformats.org/drawingml/2006/main">
              <a:ext uri="{FF2B5EF4-FFF2-40B4-BE49-F238E27FC236}">
                <a16:creationId xmlns:a16="http://schemas.microsoft.com/office/drawing/2014/main" id="{C3F502AB-B8D6-402A-BA47-C4F43FE66786}"/>
              </a:ext>
            </a:extLst>
          </p:cNvPr>
          <p:cNvSpPr>
            <a:spLocks xmlns:a="http://schemas.openxmlformats.org/drawingml/2006/main" noGrp="1"/>
          </p:cNvSpPr>
          <p:nvPr/>
        </p:nvSpPr>
        <p:spPr>
          <a:xfrm xmlns:a="http://schemas.openxmlformats.org/drawingml/2006/main">
            <a:off x="609600" y="22479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Программа - исполняемый код, процесс - запущенный экземпляр с ресурсами, поток - последовательность исполнения внутри него.</a:t>
            </a:r>
          </a:p>
        </p:txBody>
      </p:sp>
      <p:sp>
        <p:nvSpPr>
          <p:cNvPr id="4" name="">
            <a:extLst xmlns:a="http://schemas.openxmlformats.org/drawingml/2006/main">
              <a:ext uri="{FF2B5EF4-FFF2-40B4-BE49-F238E27FC236}">
                <a16:creationId xmlns:a16="http://schemas.microsoft.com/office/drawing/2014/main" id="{38831EC2-D8B1-4840-B36F-B9634CE25C35}"/>
              </a:ext>
            </a:extLst>
          </p:cNvPr>
          <p:cNvSpPr>
            <a:spLocks xmlns:a="http://schemas.openxmlformats.org/drawingml/2006/main" noGrp="1"/>
          </p:cNvSpPr>
          <p:nvPr/>
        </p:nvSpPr>
        <p:spPr>
          <a:xfrm xmlns:a="http://schemas.openxmlformats.org/drawingml/2006/main">
            <a:off x="6057900" y="16192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17  add_executable(calculator_server</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18  src/server/poll_server.cpp</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19  src/server_main.cpp</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20  )</a:t>
            </a:r>
          </a:p>
        </p:txBody>
      </p:sp>
      <p:sp>
        <p:nvSpPr>
          <p:cNvPr id="5" name="">
            <a:extLst xmlns:a="http://schemas.openxmlformats.org/drawingml/2006/main">
              <a:ext uri="{FF2B5EF4-FFF2-40B4-BE49-F238E27FC236}">
                <a16:creationId xmlns:a16="http://schemas.microsoft.com/office/drawing/2014/main" id="{7DDA93A4-2EFE-41CE-BA5E-D2D6B7C41C76}"/>
              </a:ext>
            </a:extLst>
          </p:cNvPr>
          <p:cNvSpPr>
            <a:spLocks xmlns:a="http://schemas.openxmlformats.org/drawingml/2006/main" noGrp="1"/>
          </p:cNvSpPr>
          <p:nvPr/>
        </p:nvSpPr>
        <p:spPr>
          <a:xfrm xmlns:a="http://schemas.openxmlformats.org/drawingml/2006/main">
            <a:off x="6057900" y="32575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CMakeLists.txt:17,18,19,20</a:t>
            </a:r>
          </a:p>
        </p:txBody>
      </p:sp>
      <p:sp>
        <p:nvSpPr>
          <p:cNvPr id="6" name="">
            <a:extLst xmlns:a="http://schemas.openxmlformats.org/drawingml/2006/main">
              <a:ext uri="{FF2B5EF4-FFF2-40B4-BE49-F238E27FC236}">
                <a16:creationId xmlns:a16="http://schemas.microsoft.com/office/drawing/2014/main" id="{34FF3F50-7227-4E62-9815-3CEF3924896D}"/>
              </a:ext>
            </a:extLst>
          </p:cNvPr>
          <p:cNvSpPr>
            <a:spLocks xmlns:a="http://schemas.openxmlformats.org/drawingml/2006/main" noGrp="1"/>
          </p:cNvSpPr>
          <p:nvPr/>
        </p:nvSpPr>
        <p:spPr>
          <a:xfrm xmlns:a="http://schemas.openxmlformats.org/drawingml/2006/main">
            <a:off x="609600" y="3638550"/>
            <a:ext cx="5010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16625A"/>
                </a:solidFill>
                <a:latin typeface="Arial"/>
                <a:ea typeface="Arial"/>
                <a:cs typeface="Arial"/>
              </a:defRPr>
            </a:defPPr>
          </a:lstStyle>
          <a:p xmlns:a="http://schemas.openxmlformats.org/drawingml/2006/main">
            <a:pPr>
              <a:defRPr sz="1425" b="1">
                <a:solidFill>
                  <a:srgbClr val="16625A"/>
                </a:solidFill>
                <a:latin typeface="Arial"/>
                <a:ea typeface="Arial"/>
                <a:cs typeface="Arial"/>
              </a:defRPr>
            </a:pPr>
            <a:r>
              <a:rPr sz="1425" b="1">
                <a:solidFill>
                  <a:srgbClr val="16625A"/>
                </a:solidFill>
                <a:latin typeface="Arial"/>
                <a:ea typeface="Arial"/>
                <a:cs typeface="Arial"/>
              </a:rPr>
              <a:t>Как проверить понимание после всех карточек?</a:t>
            </a:r>
          </a:p>
        </p:txBody>
      </p:sp>
      <p:sp>
        <p:nvSpPr>
          <p:cNvPr id="7" name="">
            <a:extLst xmlns:a="http://schemas.openxmlformats.org/drawingml/2006/main">
              <a:ext uri="{FF2B5EF4-FFF2-40B4-BE49-F238E27FC236}">
                <a16:creationId xmlns:a16="http://schemas.microsoft.com/office/drawing/2014/main" id="{E0C184AB-4009-4CC1-AB13-70B841C83FD0}"/>
              </a:ext>
            </a:extLst>
          </p:cNvPr>
          <p:cNvSpPr>
            <a:spLocks xmlns:a="http://schemas.openxmlformats.org/drawingml/2006/main" noGrp="1"/>
          </p:cNvSpPr>
          <p:nvPr/>
        </p:nvSpPr>
        <p:spPr>
          <a:xfrm xmlns:a="http://schemas.openxmlformats.org/drawingml/2006/main">
            <a:off x="609600" y="4305300"/>
            <a:ext cx="50101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82E30"/>
                </a:solidFill>
                <a:latin typeface="Arial"/>
                <a:ea typeface="Arial"/>
                <a:cs typeface="Arial"/>
              </a:defRPr>
            </a:defPPr>
          </a:lstStyle>
          <a:p xmlns:a="http://schemas.openxmlformats.org/drawingml/2006/main">
            <a:pPr>
              <a:defRPr sz="1800" b="0">
                <a:solidFill>
                  <a:srgbClr val="182E30"/>
                </a:solidFill>
                <a:latin typeface="Arial"/>
                <a:ea typeface="Arial"/>
                <a:cs typeface="Arial"/>
              </a:defRPr>
            </a:pPr>
            <a:r>
              <a:rPr sz="1800" b="0">
                <a:solidFill>
                  <a:srgbClr val="182E30"/>
                </a:solidFill>
                <a:latin typeface="Arial"/>
                <a:ea typeface="Arial"/>
                <a:cs typeface="Arial"/>
              </a:rPr>
              <a:t>Без вариантов ответа объяснить путь команды, найти функции и предсказать поведение при изменении условия.</a:t>
            </a:r>
          </a:p>
        </p:txBody>
      </p:sp>
      <p:sp>
        <p:nvSpPr>
          <p:cNvPr id="8" name="">
            <a:extLst xmlns:a="http://schemas.openxmlformats.org/drawingml/2006/main">
              <a:ext uri="{FF2B5EF4-FFF2-40B4-BE49-F238E27FC236}">
                <a16:creationId xmlns:a16="http://schemas.microsoft.com/office/drawing/2014/main" id="{FB298B4A-824B-4D41-985B-2A9329201137}"/>
              </a:ext>
            </a:extLst>
          </p:cNvPr>
          <p:cNvSpPr>
            <a:spLocks xmlns:a="http://schemas.openxmlformats.org/drawingml/2006/main" noGrp="1"/>
          </p:cNvSpPr>
          <p:nvPr/>
        </p:nvSpPr>
        <p:spPr>
          <a:xfrm xmlns:a="http://schemas.openxmlformats.org/drawingml/2006/main">
            <a:off x="6057900" y="3676650"/>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182E30"/>
                </a:solidFill>
                <a:latin typeface="Consolas"/>
                <a:ea typeface="Consolas"/>
                <a:cs typeface="Consolas"/>
              </a:defRPr>
            </a:defPPr>
          </a:lstStyle>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115  send_line(line);</a:t>
            </a:r>
          </a:p>
          <a:p xmlns:a="http://schemas.openxmlformats.org/drawingml/2006/main">
            <a:pPr>
              <a:defRPr sz="1275" b="0">
                <a:solidFill>
                  <a:srgbClr val="182E30"/>
                </a:solidFill>
                <a:latin typeface="Consolas"/>
                <a:ea typeface="Consolas"/>
                <a:cs typeface="Consolas"/>
              </a:defRPr>
            </a:pPr>
            <a:r>
              <a:rPr sz="1275" b="0">
                <a:solidFill>
                  <a:srgbClr val="182E30"/>
                </a:solidFill>
                <a:latin typeface="Consolas"/>
                <a:ea typeface="Consolas"/>
                <a:cs typeface="Consolas"/>
              </a:rPr>
              <a:t>116  return receive_line();</a:t>
            </a:r>
          </a:p>
        </p:txBody>
      </p:sp>
      <p:sp>
        <p:nvSpPr>
          <p:cNvPr id="9" name="">
            <a:extLst xmlns:a="http://schemas.openxmlformats.org/drawingml/2006/main">
              <a:ext uri="{FF2B5EF4-FFF2-40B4-BE49-F238E27FC236}">
                <a16:creationId xmlns:a16="http://schemas.microsoft.com/office/drawing/2014/main" id="{548DF6A0-0CB2-4701-A541-DD0E2231D0FB}"/>
              </a:ext>
            </a:extLst>
          </p:cNvPr>
          <p:cNvSpPr>
            <a:spLocks xmlns:a="http://schemas.openxmlformats.org/drawingml/2006/main" noGrp="1"/>
          </p:cNvSpPr>
          <p:nvPr/>
        </p:nvSpPr>
        <p:spPr>
          <a:xfrm xmlns:a="http://schemas.openxmlformats.org/drawingml/2006/main">
            <a:off x="6057900" y="5314950"/>
            <a:ext cx="552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975" b="0">
                <a:solidFill>
                  <a:srgbClr val="506667"/>
                </a:solidFill>
                <a:latin typeface="Consolas"/>
                <a:ea typeface="Consolas"/>
                <a:cs typeface="Consolas"/>
              </a:defRPr>
            </a:defPPr>
          </a:lstStyle>
          <a:p xmlns:a="http://schemas.openxmlformats.org/drawingml/2006/main">
            <a:pPr>
              <a:defRPr sz="975" b="0">
                <a:solidFill>
                  <a:srgbClr val="506667"/>
                </a:solidFill>
                <a:latin typeface="Consolas"/>
                <a:ea typeface="Consolas"/>
                <a:cs typeface="Consolas"/>
              </a:defRPr>
            </a:pPr>
            <a:r>
              <a:rPr sz="975" b="0">
                <a:solidFill>
                  <a:srgbClr val="506667"/>
                </a:solidFill>
                <a:latin typeface="Consolas"/>
                <a:ea typeface="Consolas"/>
                <a:cs typeface="Consolas"/>
              </a:rPr>
              <a:t>src/client/console_client.cpp:115,116</a:t>
            </a:r>
          </a:p>
        </p:txBody>
      </p:sp>
      <p:sp>
        <p:nvSpPr>
          <p:cNvPr id="10" name="">
            <a:extLst xmlns:a="http://schemas.openxmlformats.org/drawingml/2006/main">
              <a:ext uri="{FF2B5EF4-FFF2-40B4-BE49-F238E27FC236}">
                <a16:creationId xmlns:a16="http://schemas.microsoft.com/office/drawing/2014/main" id="{E3960273-532D-406E-A5B4-7B7929458E12}"/>
              </a:ext>
            </a:extLst>
          </p:cNvPr>
          <p:cNvSpPr>
            <a:spLocks xmlns:a="http://schemas.openxmlformats.org/drawingml/2006/main" noGrp="1"/>
          </p:cNvSpPr>
          <p:nvPr/>
        </p:nvSpPr>
        <p:spPr>
          <a:xfrm xmlns:a="http://schemas.openxmlformats.org/drawingml/2006/main">
            <a:off x="609600" y="58007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6625A"/>
                </a:solidFill>
                <a:latin typeface="Arial"/>
                <a:ea typeface="Arial"/>
                <a:cs typeface="Arial"/>
              </a:defRPr>
            </a:defPPr>
          </a:lstStyle>
          <a:p xmlns:a="http://schemas.openxmlformats.org/drawingml/2006/main">
            <a:pPr>
              <a:defRPr sz="1500" b="0">
                <a:solidFill>
                  <a:srgbClr val="16625A"/>
                </a:solidFill>
                <a:latin typeface="Arial"/>
                <a:ea typeface="Arial"/>
                <a:cs typeface="Arial"/>
              </a:defRPr>
            </a:pPr>
            <a:r>
              <a:rPr sz="1500" b="0">
                <a:solidFill>
                  <a:srgbClr val="16625A"/>
                </a:solidFill>
                <a:latin typeface="Arial"/>
                <a:ea typeface="Arial"/>
                <a:cs typeface="Arial"/>
              </a:rPr>
              <a:t>Устно: Что изменится при запуске трех клиентов?</a:t>
            </a:r>
          </a:p>
        </p:txBody>
      </p:sp>
      <p:sp>
        <p:nvSpPr>
          <p:cNvPr id="11" name="">
            <a:extLst xmlns:a="http://schemas.openxmlformats.org/drawingml/2006/main">
              <a:ext uri="{FF2B5EF4-FFF2-40B4-BE49-F238E27FC236}">
                <a16:creationId xmlns:a16="http://schemas.microsoft.com/office/drawing/2014/main" id="{5852BA6F-22CE-4520-831B-418821C7A537}"/>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Практическая защита</a:t>
            </a:r>
          </a:p>
        </p:txBody>
      </p:sp>
      <p:sp>
        <p:nvSpPr>
          <p:cNvPr id="12" name="">
            <a:extLst xmlns:a="http://schemas.openxmlformats.org/drawingml/2006/main">
              <a:ext uri="{FF2B5EF4-FFF2-40B4-BE49-F238E27FC236}">
                <a16:creationId xmlns:a16="http://schemas.microsoft.com/office/drawing/2014/main" id="{3E01D429-B819-4E4A-BE2A-F7A8A79A0DC5}"/>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64 / 66</a:t>
            </a:r>
          </a:p>
        </p:txBody>
      </p:sp>
    </p:spTree>
    <p:extLst>
      <p:ext uri="{BB962C8B-B14F-4D97-AF65-F5344CB8AC3E}">
        <p14:creationId xmlns:p14="http://schemas.microsoft.com/office/powerpoint/2010/main" val="1089326601"/>
      </p:ext>
    </p:extLst>
  </p:cSld>
</p:sld>
</file>

<file path=ppt/slides/slide65.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B6A6348-9E17-4B14-A5C0-B530CC5FCF0B}"/>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Проверка перед демонстрацией</a:t>
            </a:r>
          </a:p>
        </p:txBody>
      </p:sp>
      <p:sp>
        <p:nvSpPr>
          <p:cNvPr id="2" name="">
            <a:extLst xmlns:a="http://schemas.openxmlformats.org/drawingml/2006/main">
              <a:ext uri="{FF2B5EF4-FFF2-40B4-BE49-F238E27FC236}">
                <a16:creationId xmlns:a16="http://schemas.microsoft.com/office/drawing/2014/main" id="{D8B0EDC2-C709-49DB-99C1-D2BC223FBE5A}"/>
              </a:ext>
            </a:extLst>
          </p:cNvPr>
          <p:cNvSpPr>
            <a:spLocks xmlns:a="http://schemas.openxmlformats.org/drawingml/2006/main" noGrp="1"/>
          </p:cNvSpPr>
          <p:nvPr/>
        </p:nvSpPr>
        <p:spPr>
          <a:xfrm xmlns:a="http://schemas.openxmlformats.org/drawingml/2006/main">
            <a:off x="723900" y="18192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E30"/>
                </a:solidFill>
                <a:latin typeface="Arial"/>
                <a:ea typeface="Arial"/>
                <a:cs typeface="Arial"/>
              </a:defRPr>
            </a:defPPr>
          </a:lstStyle>
          <a:p xmlns:a="http://schemas.openxmlformats.org/drawingml/2006/main">
            <a:pPr>
              <a:defRPr sz="2175" b="0">
                <a:solidFill>
                  <a:srgbClr val="182E30"/>
                </a:solidFill>
                <a:latin typeface="Arial"/>
                <a:ea typeface="Arial"/>
                <a:cs typeface="Arial"/>
              </a:defRPr>
            </a:pPr>
            <a:r>
              <a:rPr sz="2175" b="0">
                <a:solidFill>
                  <a:srgbClr val="182E30"/>
                </a:solidFill>
                <a:latin typeface="Arial"/>
                <a:ea typeface="Arial"/>
                <a:cs typeface="Arial"/>
              </a:rPr>
              <a:t>После исправления ошибки из слайда 55: cmake -S . -B build, затем cmake --build build.</a:t>
            </a:r>
          </a:p>
        </p:txBody>
      </p:sp>
      <p:sp>
        <p:nvSpPr>
          <p:cNvPr id="3" name="">
            <a:extLst xmlns:a="http://schemas.openxmlformats.org/drawingml/2006/main">
              <a:ext uri="{FF2B5EF4-FFF2-40B4-BE49-F238E27FC236}">
                <a16:creationId xmlns:a16="http://schemas.microsoft.com/office/drawing/2014/main" id="{C8F818B8-D2CD-46E9-B3C1-CCA644227313}"/>
              </a:ext>
            </a:extLst>
          </p:cNvPr>
          <p:cNvSpPr>
            <a:spLocks xmlns:a="http://schemas.openxmlformats.org/drawingml/2006/main" noGrp="1"/>
          </p:cNvSpPr>
          <p:nvPr/>
        </p:nvSpPr>
        <p:spPr>
          <a:xfrm xmlns:a="http://schemas.openxmlformats.org/drawingml/2006/main">
            <a:off x="723900" y="27908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E30"/>
                </a:solidFill>
                <a:latin typeface="Arial"/>
                <a:ea typeface="Arial"/>
                <a:cs typeface="Arial"/>
              </a:defRPr>
            </a:defPPr>
          </a:lstStyle>
          <a:p xmlns:a="http://schemas.openxmlformats.org/drawingml/2006/main">
            <a:pPr>
              <a:defRPr sz="2175" b="0">
                <a:solidFill>
                  <a:srgbClr val="182E30"/>
                </a:solidFill>
                <a:latin typeface="Arial"/>
                <a:ea typeface="Arial"/>
                <a:cs typeface="Arial"/>
              </a:defRPr>
            </a:pPr>
            <a:r>
              <a:rPr sz="2175" b="0">
                <a:solidFill>
                  <a:srgbClr val="182E30"/>
                </a:solidFill>
                <a:latin typeface="Arial"/>
                <a:ea typeface="Arial"/>
                <a:cs typeface="Arial"/>
              </a:rPr>
              <a:t>./build/calculator_server 4040 data/users.db</a:t>
            </a:r>
          </a:p>
          <a:p xmlns:a="http://schemas.openxmlformats.org/drawingml/2006/main">
            <a:pPr>
              <a:defRPr sz="2175" b="0">
                <a:solidFill>
                  <a:srgbClr val="182E30"/>
                </a:solidFill>
                <a:latin typeface="Arial"/>
                <a:ea typeface="Arial"/>
                <a:cs typeface="Arial"/>
              </a:defRPr>
            </a:pPr>
            <a:r>
              <a:rPr sz="2175" b="0">
                <a:solidFill>
                  <a:srgbClr val="182E30"/>
                </a:solidFill>
                <a:latin typeface="Arial"/>
                <a:ea typeface="Arial"/>
                <a:cs typeface="Arial"/>
              </a:rPr>
              <a:t>./build/calculator_client 127.0.0.1 4040 alexey</a:t>
            </a:r>
          </a:p>
        </p:txBody>
      </p:sp>
      <p:sp>
        <p:nvSpPr>
          <p:cNvPr id="4" name="">
            <a:extLst xmlns:a="http://schemas.openxmlformats.org/drawingml/2006/main">
              <a:ext uri="{FF2B5EF4-FFF2-40B4-BE49-F238E27FC236}">
                <a16:creationId xmlns:a16="http://schemas.microsoft.com/office/drawing/2014/main" id="{8D7BB232-D651-4DC8-B54E-AFBB9B9A49DF}"/>
              </a:ext>
            </a:extLst>
          </p:cNvPr>
          <p:cNvSpPr>
            <a:spLocks xmlns:a="http://schemas.openxmlformats.org/drawingml/2006/main" noGrp="1"/>
          </p:cNvSpPr>
          <p:nvPr/>
        </p:nvSpPr>
        <p:spPr>
          <a:xfrm xmlns:a="http://schemas.openxmlformats.org/drawingml/2006/main">
            <a:off x="723900" y="3762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E30"/>
                </a:solidFill>
                <a:latin typeface="Arial"/>
                <a:ea typeface="Arial"/>
                <a:cs typeface="Arial"/>
              </a:defRPr>
            </a:defPPr>
          </a:lstStyle>
          <a:p xmlns:a="http://schemas.openxmlformats.org/drawingml/2006/main">
            <a:pPr>
              <a:defRPr sz="2175" b="0">
                <a:solidFill>
                  <a:srgbClr val="182E30"/>
                </a:solidFill>
                <a:latin typeface="Arial"/>
                <a:ea typeface="Arial"/>
                <a:cs typeface="Arial"/>
              </a:defRPr>
            </a:pPr>
            <a:r>
              <a:rPr sz="2175" b="0">
                <a:solidFill>
                  <a:srgbClr val="182E30"/>
                </a:solidFill>
                <a:latin typeface="Arial"/>
                <a:ea typeface="Arial"/>
                <a:cs typeface="Arial"/>
              </a:rPr>
              <a:t>Ввод: X = 2 + 3 * 4, вычислить X, вычислить 7 / 2, вычислить 1 / 0.</a:t>
            </a:r>
          </a:p>
        </p:txBody>
      </p:sp>
      <p:sp>
        <p:nvSpPr>
          <p:cNvPr id="5" name="">
            <a:extLst xmlns:a="http://schemas.openxmlformats.org/drawingml/2006/main">
              <a:ext uri="{FF2B5EF4-FFF2-40B4-BE49-F238E27FC236}">
                <a16:creationId xmlns:a16="http://schemas.microsoft.com/office/drawing/2014/main" id="{26787559-50F5-4172-B29B-1D44CAF16407}"/>
              </a:ext>
            </a:extLst>
          </p:cNvPr>
          <p:cNvSpPr>
            <a:spLocks xmlns:a="http://schemas.openxmlformats.org/drawingml/2006/main" noGrp="1"/>
          </p:cNvSpPr>
          <p:nvPr/>
        </p:nvSpPr>
        <p:spPr>
          <a:xfrm xmlns:a="http://schemas.openxmlformats.org/drawingml/2006/main">
            <a:off x="723900" y="47339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E30"/>
                </a:solidFill>
                <a:latin typeface="Arial"/>
                <a:ea typeface="Arial"/>
                <a:cs typeface="Arial"/>
              </a:defRPr>
            </a:defPPr>
          </a:lstStyle>
          <a:p xmlns:a="http://schemas.openxmlformats.org/drawingml/2006/main">
            <a:pPr>
              <a:defRPr sz="2175" b="0">
                <a:solidFill>
                  <a:srgbClr val="182E30"/>
                </a:solidFill>
                <a:latin typeface="Arial"/>
                <a:ea typeface="Arial"/>
                <a:cs typeface="Arial"/>
              </a:defRPr>
            </a:pPr>
            <a:r>
              <a:rPr sz="2175" b="0">
                <a:solidFill>
                  <a:srgbClr val="182E30"/>
                </a:solidFill>
                <a:latin typeface="Arial"/>
                <a:ea typeface="Arial"/>
                <a:cs typeface="Arial"/>
              </a:rPr>
              <a:t>Ожидаемые ответы проверенной версии: OK X=14, OK 14, OK 3 и ERR с описанием деления на ноль.</a:t>
            </a:r>
          </a:p>
        </p:txBody>
      </p:sp>
      <p:sp>
        <p:nvSpPr>
          <p:cNvPr id="6" name="">
            <a:extLst xmlns:a="http://schemas.openxmlformats.org/drawingml/2006/main">
              <a:ext uri="{FF2B5EF4-FFF2-40B4-BE49-F238E27FC236}">
                <a16:creationId xmlns:a16="http://schemas.microsoft.com/office/drawing/2014/main" id="{89A0A7CB-31A0-4AEB-B390-73E1160403B1}"/>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Практика</a:t>
            </a:r>
          </a:p>
        </p:txBody>
      </p:sp>
      <p:sp>
        <p:nvSpPr>
          <p:cNvPr id="7" name="">
            <a:extLst xmlns:a="http://schemas.openxmlformats.org/drawingml/2006/main">
              <a:ext uri="{FF2B5EF4-FFF2-40B4-BE49-F238E27FC236}">
                <a16:creationId xmlns:a16="http://schemas.microsoft.com/office/drawing/2014/main" id="{69578057-163F-4302-B3E1-6289283A3702}"/>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65 / 66</a:t>
            </a:r>
          </a:p>
        </p:txBody>
      </p:sp>
    </p:spTree>
    <p:extLst>
      <p:ext uri="{BB962C8B-B14F-4D97-AF65-F5344CB8AC3E}">
        <p14:creationId xmlns:p14="http://schemas.microsoft.com/office/powerpoint/2010/main" val="1829645492"/>
      </p:ext>
    </p:extLst>
  </p:cSld>
</p:sld>
</file>

<file path=ppt/slides/slide66.xml><?xml version="1.0" encoding="utf-8"?>
<p:sld xmlns:p="http://schemas.openxmlformats.org/presentationml/2006/main">
  <p:cSld>
    <p:bg>
      <p:bgPr>
        <a:solidFill xmlns:a="http://schemas.openxmlformats.org/drawingml/2006/main">
          <a:srgbClr val="F6F7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ED1271D-61AF-489B-B21D-C3AFE5F28E52}"/>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82E30"/>
                </a:solidFill>
                <a:latin typeface="Arial"/>
                <a:ea typeface="Arial"/>
                <a:cs typeface="Arial"/>
              </a:defRPr>
            </a:defPPr>
          </a:lstStyle>
          <a:p xmlns:a="http://schemas.openxmlformats.org/drawingml/2006/main">
            <a:pPr>
              <a:defRPr sz="3150" b="1">
                <a:solidFill>
                  <a:srgbClr val="182E30"/>
                </a:solidFill>
                <a:latin typeface="Arial"/>
                <a:ea typeface="Arial"/>
                <a:cs typeface="Arial"/>
              </a:defRPr>
            </a:pPr>
            <a:r>
              <a:rPr sz="3150" b="1">
                <a:solidFill>
                  <a:srgbClr val="182E30"/>
                </a:solidFill>
                <a:latin typeface="Arial"/>
                <a:ea typeface="Arial"/>
                <a:cs typeface="Arial"/>
              </a:rPr>
              <a:t>Репетиция без вариантов ответа</a:t>
            </a:r>
          </a:p>
        </p:txBody>
      </p:sp>
      <p:sp>
        <p:nvSpPr>
          <p:cNvPr id="2" name="">
            <a:extLst xmlns:a="http://schemas.openxmlformats.org/drawingml/2006/main">
              <a:ext uri="{FF2B5EF4-FFF2-40B4-BE49-F238E27FC236}">
                <a16:creationId xmlns:a16="http://schemas.microsoft.com/office/drawing/2014/main" id="{39BCECD7-4226-428B-B271-F3F3BDFD9B87}"/>
              </a:ext>
            </a:extLst>
          </p:cNvPr>
          <p:cNvSpPr>
            <a:spLocks xmlns:a="http://schemas.openxmlformats.org/drawingml/2006/main" noGrp="1"/>
          </p:cNvSpPr>
          <p:nvPr/>
        </p:nvSpPr>
        <p:spPr>
          <a:xfrm xmlns:a="http://schemas.openxmlformats.org/drawingml/2006/main">
            <a:off x="723900" y="18192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E30"/>
                </a:solidFill>
                <a:latin typeface="Arial"/>
                <a:ea typeface="Arial"/>
                <a:cs typeface="Arial"/>
              </a:defRPr>
            </a:defPPr>
          </a:lstStyle>
          <a:p xmlns:a="http://schemas.openxmlformats.org/drawingml/2006/main">
            <a:pPr>
              <a:defRPr sz="2175" b="0">
                <a:solidFill>
                  <a:srgbClr val="182E30"/>
                </a:solidFill>
                <a:latin typeface="Arial"/>
                <a:ea typeface="Arial"/>
                <a:cs typeface="Arial"/>
              </a:defRPr>
            </a:pPr>
            <a:r>
              <a:rPr sz="2175" b="0">
                <a:solidFill>
                  <a:srgbClr val="182E30"/>
                </a:solidFill>
                <a:latin typeface="Arial"/>
                <a:ea typeface="Arial"/>
                <a:cs typeface="Arial"/>
              </a:rPr>
              <a:t>За две минуты: путь CMD X = 2 + 3 * 4 от клавиатуры до ответа.</a:t>
            </a:r>
          </a:p>
        </p:txBody>
      </p:sp>
      <p:sp>
        <p:nvSpPr>
          <p:cNvPr id="3" name="">
            <a:extLst xmlns:a="http://schemas.openxmlformats.org/drawingml/2006/main">
              <a:ext uri="{FF2B5EF4-FFF2-40B4-BE49-F238E27FC236}">
                <a16:creationId xmlns:a16="http://schemas.microsoft.com/office/drawing/2014/main" id="{30F3F943-A001-46E2-A009-F4F49D493710}"/>
              </a:ext>
            </a:extLst>
          </p:cNvPr>
          <p:cNvSpPr>
            <a:spLocks xmlns:a="http://schemas.openxmlformats.org/drawingml/2006/main" noGrp="1"/>
          </p:cNvSpPr>
          <p:nvPr/>
        </p:nvSpPr>
        <p:spPr>
          <a:xfrm xmlns:a="http://schemas.openxmlformats.org/drawingml/2006/main">
            <a:off x="723900" y="27908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E30"/>
                </a:solidFill>
                <a:latin typeface="Arial"/>
                <a:ea typeface="Arial"/>
                <a:cs typeface="Arial"/>
              </a:defRPr>
            </a:defPPr>
          </a:lstStyle>
          <a:p xmlns:a="http://schemas.openxmlformats.org/drawingml/2006/main">
            <a:pPr>
              <a:defRPr sz="2175" b="0">
                <a:solidFill>
                  <a:srgbClr val="182E30"/>
                </a:solidFill>
                <a:latin typeface="Arial"/>
                <a:ea typeface="Arial"/>
                <a:cs typeface="Arial"/>
              </a:defRPr>
            </a:pPr>
            <a:r>
              <a:rPr sz="2175" b="0">
                <a:solidFill>
                  <a:srgbClr val="182E30"/>
                </a:solidFill>
                <a:latin typeface="Arial"/>
                <a:ea typeface="Arial"/>
                <a:cs typeface="Arial"/>
              </a:rPr>
              <a:t>На исходнике: аргументы recv, буфер, count, перевод строки и EAGAIN.</a:t>
            </a:r>
          </a:p>
        </p:txBody>
      </p:sp>
      <p:sp>
        <p:nvSpPr>
          <p:cNvPr id="4" name="">
            <a:extLst xmlns:a="http://schemas.openxmlformats.org/drawingml/2006/main">
              <a:ext uri="{FF2B5EF4-FFF2-40B4-BE49-F238E27FC236}">
                <a16:creationId xmlns:a16="http://schemas.microsoft.com/office/drawing/2014/main" id="{6603F5DA-910C-4C8A-803F-44C7DB34042C}"/>
              </a:ext>
            </a:extLst>
          </p:cNvPr>
          <p:cNvSpPr>
            <a:spLocks xmlns:a="http://schemas.openxmlformats.org/drawingml/2006/main" noGrp="1"/>
          </p:cNvSpPr>
          <p:nvPr/>
        </p:nvSpPr>
        <p:spPr>
          <a:xfrm xmlns:a="http://schemas.openxmlformats.org/drawingml/2006/main">
            <a:off x="723900" y="37623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E30"/>
                </a:solidFill>
                <a:latin typeface="Arial"/>
                <a:ea typeface="Arial"/>
                <a:cs typeface="Arial"/>
              </a:defRPr>
            </a:defPPr>
          </a:lstStyle>
          <a:p xmlns:a="http://schemas.openxmlformats.org/drawingml/2006/main">
            <a:pPr>
              <a:defRPr sz="2175" b="0">
                <a:solidFill>
                  <a:srgbClr val="182E30"/>
                </a:solidFill>
                <a:latin typeface="Arial"/>
                <a:ea typeface="Arial"/>
                <a:cs typeface="Arial"/>
              </a:defRPr>
            </a:pPr>
            <a:r>
              <a:rPr sz="2175" b="0">
                <a:solidFill>
                  <a:srgbClr val="182E30"/>
                </a:solidFill>
                <a:latin typeface="Arial"/>
                <a:ea typeface="Arial"/>
                <a:cs typeface="Arial"/>
              </a:rPr>
              <a:t>На измененном условии: медленный клиент, обрыв связи, два запроса сразу.</a:t>
            </a:r>
          </a:p>
        </p:txBody>
      </p:sp>
      <p:sp>
        <p:nvSpPr>
          <p:cNvPr id="5" name="">
            <a:extLst xmlns:a="http://schemas.openxmlformats.org/drawingml/2006/main">
              <a:ext uri="{FF2B5EF4-FFF2-40B4-BE49-F238E27FC236}">
                <a16:creationId xmlns:a16="http://schemas.microsoft.com/office/drawing/2014/main" id="{88BD64A4-966A-4C64-B9E5-B31022EF0A3B}"/>
              </a:ext>
            </a:extLst>
          </p:cNvPr>
          <p:cNvSpPr>
            <a:spLocks xmlns:a="http://schemas.openxmlformats.org/drawingml/2006/main" noGrp="1"/>
          </p:cNvSpPr>
          <p:nvPr/>
        </p:nvSpPr>
        <p:spPr>
          <a:xfrm xmlns:a="http://schemas.openxmlformats.org/drawingml/2006/main">
            <a:off x="723900" y="47339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E30"/>
                </a:solidFill>
                <a:latin typeface="Arial"/>
                <a:ea typeface="Arial"/>
                <a:cs typeface="Arial"/>
              </a:defRPr>
            </a:defPPr>
          </a:lstStyle>
          <a:p xmlns:a="http://schemas.openxmlformats.org/drawingml/2006/main">
            <a:pPr>
              <a:defRPr sz="2175" b="0">
                <a:solidFill>
                  <a:srgbClr val="182E30"/>
                </a:solidFill>
                <a:latin typeface="Arial"/>
                <a:ea typeface="Arial"/>
                <a:cs typeface="Arial"/>
              </a:defRPr>
            </a:pPr>
            <a:r>
              <a:rPr sz="2175" b="0">
                <a:solidFill>
                  <a:srgbClr val="182E30"/>
                </a:solidFill>
                <a:latin typeface="Arial"/>
                <a:ea typeface="Arial"/>
                <a:cs typeface="Arial"/>
              </a:rPr>
              <a:t>По ограничениям: ошибка индексов, переполнение, запись файла и отсутствие проверки личности.</a:t>
            </a:r>
          </a:p>
        </p:txBody>
      </p:sp>
      <p:sp>
        <p:nvSpPr>
          <p:cNvPr id="6" name="">
            <a:extLst xmlns:a="http://schemas.openxmlformats.org/drawingml/2006/main">
              <a:ext uri="{FF2B5EF4-FFF2-40B4-BE49-F238E27FC236}">
                <a16:creationId xmlns:a16="http://schemas.microsoft.com/office/drawing/2014/main" id="{C7EC6799-986C-49A7-BCF4-8DDFF8692D0B}"/>
              </a:ext>
            </a:extLst>
          </p:cNvPr>
          <p:cNvSpPr>
            <a:spLocks xmlns:a="http://schemas.openxmlformats.org/drawingml/2006/main" noGrp="1"/>
          </p:cNvSpPr>
          <p:nvPr/>
        </p:nvSpPr>
        <p:spPr>
          <a:xfrm xmlns:a="http://schemas.openxmlformats.org/drawingml/2006/main">
            <a:off x="609600" y="6372225"/>
            <a:ext cx="1000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Завершение подготовки</a:t>
            </a:r>
          </a:p>
        </p:txBody>
      </p:sp>
      <p:sp>
        <p:nvSpPr>
          <p:cNvPr id="7" name="">
            <a:extLst xmlns:a="http://schemas.openxmlformats.org/drawingml/2006/main">
              <a:ext uri="{FF2B5EF4-FFF2-40B4-BE49-F238E27FC236}">
                <a16:creationId xmlns:a16="http://schemas.microsoft.com/office/drawing/2014/main" id="{3E1EEE30-4B43-4F3B-ADFB-4E014AD8A213}"/>
              </a:ext>
            </a:extLst>
          </p:cNvPr>
          <p:cNvSpPr>
            <a:spLocks xmlns:a="http://schemas.openxmlformats.org/drawingml/2006/main" noGrp="1"/>
          </p:cNvSpPr>
          <p:nvPr/>
        </p:nvSpPr>
        <p:spPr>
          <a:xfrm xmlns:a="http://schemas.openxmlformats.org/drawingml/2006/main">
            <a:off x="10572750" y="63722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06667"/>
                </a:solidFill>
                <a:latin typeface="Arial"/>
                <a:ea typeface="Arial"/>
                <a:cs typeface="Arial"/>
              </a:defRPr>
            </a:defPPr>
          </a:lstStyle>
          <a:p xmlns:a="http://schemas.openxmlformats.org/drawingml/2006/main">
            <a:pPr>
              <a:defRPr sz="1350" b="0">
                <a:solidFill>
                  <a:srgbClr val="506667"/>
                </a:solidFill>
                <a:latin typeface="Arial"/>
                <a:ea typeface="Arial"/>
                <a:cs typeface="Arial"/>
              </a:defRPr>
            </a:pPr>
            <a:r>
              <a:rPr sz="1350" b="0">
                <a:solidFill>
                  <a:srgbClr val="506667"/>
                </a:solidFill>
                <a:latin typeface="Arial"/>
                <a:ea typeface="Arial"/>
                <a:cs typeface="Arial"/>
              </a:rPr>
              <a:t>66 / 66</a:t>
            </a:r>
          </a:p>
        </p:txBody>
      </p:sp>
    </p:spTree>
    <p:extLst>
      <p:ext uri="{BB962C8B-B14F-4D97-AF65-F5344CB8AC3E}">
        <p14:creationId xmlns:p14="http://schemas.microsoft.com/office/powerpoint/2010/main" val="13831572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2026-09-30T20:24:49.2780000Z</dcterms:created>
  <dcterms:modified xsi:type="dcterms:W3CDTF">2026-09-30T20:24:49.2780000Z</dcterms:modified>
</coreProperties>
</file>